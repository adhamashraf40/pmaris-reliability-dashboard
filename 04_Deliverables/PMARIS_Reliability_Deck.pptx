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varyColors val="0"/>
        <c:ser>
          <c:idx val="0"/>
          <c:order val="0"/>
          <c:tx>
            <c:strRef>
              <c:f>Sheet1!$B$1</c:f>
              <c:strCache>
                <c:ptCount val="1"/>
                <c:pt idx="0">
                  <c:v>s</c:v>
                </c:pt>
              </c:strCache>
            </c:strRef>
          </c:tx>
          <c:dPt>
            <c:idx val="0"/>
            <c:spPr>
              <a:solidFill>
                <a:srgbClr val="256ABF"/>
              </a:solidFill>
            </c:spPr>
          </c:dPt>
          <c:dPt>
            <c:idx val="1"/>
            <c:spPr>
              <a:solidFill>
                <a:srgbClr val="256ABF"/>
              </a:solidFill>
            </c:spPr>
          </c:dPt>
          <c:dPt>
            <c:idx val="2"/>
            <c:spPr>
              <a:solidFill>
                <a:srgbClr val="256ABF"/>
              </a:solidFill>
            </c:spPr>
          </c:dPt>
          <c:dPt>
            <c:idx val="3"/>
            <c:spPr>
              <a:solidFill>
                <a:srgbClr val="256ABF"/>
              </a:solidFill>
            </c:spPr>
          </c:dPt>
          <c:dPt>
            <c:idx val="4"/>
            <c:spPr>
              <a:solidFill>
                <a:srgbClr val="256ABF"/>
              </a:solidFill>
            </c:spPr>
          </c:dPt>
          <c:dPt>
            <c:idx val="5"/>
            <c:spPr>
              <a:solidFill>
                <a:srgbClr val="256ABF"/>
              </a:solidFill>
            </c:spPr>
          </c:dPt>
          <c:cat>
            <c:strRef>
              <c:f>Sheet1!$A$2:$A$7</c:f>
              <c:strCache>
                <c:ptCount val="6"/>
                <c:pt idx="0">
                  <c:v>Cement Plant A</c:v>
                </c:pt>
                <c:pt idx="1">
                  <c:v>Drilling Site East</c:v>
                </c:pt>
                <c:pt idx="2">
                  <c:v>Cement Plant B</c:v>
                </c:pt>
                <c:pt idx="3">
                  <c:v>Lab Equipment Facility</c:v>
                </c:pt>
                <c:pt idx="4">
                  <c:v>Diagnostics Service Center</c:v>
                </c:pt>
                <c:pt idx="5">
                  <c:v>Drilling Site West</c:v>
                </c:pt>
              </c:strCache>
            </c:strRef>
          </c:cat>
          <c:val>
            <c:numRef>
              <c:f>Sheet1!$B$2:$B$7</c:f>
              <c:numCache>
                <c:formatCode>General</c:formatCode>
                <c:ptCount val="6"/>
                <c:pt idx="0">
                  <c:v>1009</c:v>
                </c:pt>
                <c:pt idx="1">
                  <c:v>877</c:v>
                </c:pt>
                <c:pt idx="2">
                  <c:v>830</c:v>
                </c:pt>
                <c:pt idx="3">
                  <c:v>807</c:v>
                </c:pt>
                <c:pt idx="4">
                  <c:v>756</c:v>
                </c:pt>
                <c:pt idx="5">
                  <c:v>721</c:v>
                </c:pt>
              </c:numCache>
            </c:numRef>
          </c:val>
        </c:ser>
        <c:dLbls>
          <c:numFmt formatCode="#,##0" sourceLinked="0"/>
          <c:txPr>
            <a:bodyPr/>
            <a:lstStyle/>
            <a:p>
              <a:pPr>
                <a:defRPr sz="1200" b="1">
                  <a:solidFill>
                    <a:srgbClr val="1B1F2A"/>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E1E0D9"/>
            </a:solidFill>
          </a:ln>
        </c:spPr>
        <c:txPr>
          <a:bodyPr/>
          <a:lstStyle/>
          <a:p>
            <a:pPr>
              <a:defRPr sz="1300">
                <a:solidFill>
                  <a:srgbClr val="4A4F5C"/>
                </a:solidFill>
              </a:defRPr>
            </a:pPr>
          </a:p>
        </c:txPr>
        <c:crossAx val="-2113994440"/>
        <c:crosses val="autoZero"/>
        <c:auto val="1"/>
        <c:lblAlgn val="ctr"/>
        <c:lblOffset val="100"/>
        <c:noMultiLvlLbl val="0"/>
      </c:catAx>
      <c:valAx>
        <c:axId val="-2113994440"/>
        <c:scaling>
          <c:max val="1230.98"/>
          <c:min val="0.0"/>
        </c:scaling>
        <c:delete/>
        <c:axPos val="b"/>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200">
          <a:solidFill>
            <a:srgbClr val="4A4F5C"/>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varyColors val="0"/>
        <c:ser>
          <c:idx val="0"/>
          <c:order val="0"/>
          <c:tx>
            <c:strRef>
              <c:f>Sheet1!$B$1</c:f>
              <c:strCache>
                <c:ptCount val="1"/>
                <c:pt idx="0">
                  <c:v>s</c:v>
                </c:pt>
              </c:strCache>
            </c:strRef>
          </c:tx>
          <c:dPt>
            <c:idx val="0"/>
            <c:spPr>
              <a:solidFill>
                <a:srgbClr val="256ABF"/>
              </a:solidFill>
            </c:spPr>
          </c:dPt>
          <c:dPt>
            <c:idx val="1"/>
            <c:spPr>
              <a:solidFill>
                <a:srgbClr val="256ABF"/>
              </a:solidFill>
            </c:spPr>
          </c:dPt>
          <c:dPt>
            <c:idx val="2"/>
            <c:spPr>
              <a:solidFill>
                <a:srgbClr val="256ABF"/>
              </a:solidFill>
            </c:spPr>
          </c:dPt>
          <c:dPt>
            <c:idx val="3"/>
            <c:spPr>
              <a:solidFill>
                <a:srgbClr val="256ABF"/>
              </a:solidFill>
            </c:spPr>
          </c:dPt>
          <c:dPt>
            <c:idx val="4"/>
            <c:spPr>
              <a:solidFill>
                <a:srgbClr val="256ABF"/>
              </a:solidFill>
            </c:spPr>
          </c:dPt>
          <c:dPt>
            <c:idx val="5"/>
            <c:spPr>
              <a:solidFill>
                <a:srgbClr val="256ABF"/>
              </a:solidFill>
            </c:spPr>
          </c:dPt>
          <c:dPt>
            <c:idx val="6"/>
            <c:spPr>
              <a:solidFill>
                <a:srgbClr val="256ABF"/>
              </a:solidFill>
            </c:spPr>
          </c:dPt>
          <c:dPt>
            <c:idx val="7"/>
            <c:spPr>
              <a:solidFill>
                <a:srgbClr val="256ABF"/>
              </a:solidFill>
            </c:spPr>
          </c:dPt>
          <c:dPt>
            <c:idx val="8"/>
            <c:spPr>
              <a:solidFill>
                <a:srgbClr val="C3C2B7"/>
              </a:solidFill>
            </c:spPr>
          </c:dPt>
          <c:dPt>
            <c:idx val="9"/>
            <c:spPr>
              <a:solidFill>
                <a:srgbClr val="C3C2B7"/>
              </a:solidFill>
            </c:spPr>
          </c:dPt>
          <c:dPt>
            <c:idx val="10"/>
            <c:spPr>
              <a:solidFill>
                <a:srgbClr val="C3C2B7"/>
              </a:solidFill>
            </c:spPr>
          </c:dPt>
          <c:cat>
            <c:strRef>
              <c:f>Sheet1!$A$2:$A$12</c:f>
              <c:strCache>
                <c:ptCount val="11"/>
                <c:pt idx="0">
                  <c:v>Failure Mode Group</c:v>
                </c:pt>
                <c:pt idx="1">
                  <c:v>Spare Parts Status</c:v>
                </c:pt>
                <c:pt idx="2">
                  <c:v>Maintenance Strategy</c:v>
                </c:pt>
                <c:pt idx="3">
                  <c:v>Technician Skill Level</c:v>
                </c:pt>
                <c:pt idx="4">
                  <c:v>Environment Severity</c:v>
                </c:pt>
                <c:pt idx="5">
                  <c:v>Site</c:v>
                </c:pt>
                <c:pt idx="6">
                  <c:v>Industry Context</c:v>
                </c:pt>
                <c:pt idx="7">
                  <c:v>Asset Class</c:v>
                </c:pt>
                <c:pt idx="8">
                  <c:v>Criticality Class</c:v>
                </c:pt>
                <c:pt idx="9">
                  <c:v>Manufacturer Group</c:v>
                </c:pt>
                <c:pt idx="10">
                  <c:v>Operating Shift</c:v>
                </c:pt>
              </c:strCache>
            </c:strRef>
          </c:cat>
          <c:val>
            <c:numRef>
              <c:f>Sheet1!$B$2:$B$12</c:f>
              <c:numCache>
                <c:formatCode>General</c:formatCode>
                <c:ptCount val="11"/>
                <c:pt idx="0">
                  <c:v>11.22053333617349</c:v>
                </c:pt>
                <c:pt idx="1">
                  <c:v>9.07594759719303</c:v>
                </c:pt>
                <c:pt idx="2">
                  <c:v>7.58406426750387</c:v>
                </c:pt>
                <c:pt idx="3">
                  <c:v>2.4254402488216495</c:v>
                </c:pt>
                <c:pt idx="4">
                  <c:v>1.8833784242281073</c:v>
                </c:pt>
                <c:pt idx="5">
                  <c:v>1.5011300721130372</c:v>
                </c:pt>
                <c:pt idx="6">
                  <c:v>1.4848622231842532</c:v>
                </c:pt>
                <c:pt idx="7">
                  <c:v>1.191756979949284</c:v>
                </c:pt>
                <c:pt idx="8">
                  <c:v>0.20873129960059417</c:v>
                </c:pt>
                <c:pt idx="9">
                  <c:v>0.07762981591998468</c:v>
                </c:pt>
                <c:pt idx="10">
                  <c:v>0.028897771605258728</c:v>
                </c:pt>
              </c:numCache>
            </c:numRef>
          </c:val>
        </c:ser>
        <c:dLbls>
          <c:numFmt formatCode="0.0&quot;%&quot;" sourceLinked="0"/>
          <c:txPr>
            <a:bodyPr/>
            <a:lstStyle/>
            <a:p>
              <a:pPr>
                <a:defRPr sz="1200" b="1">
                  <a:solidFill>
                    <a:srgbClr val="1B1F2A"/>
                  </a:solidFill>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axMin"/>
        </c:scaling>
        <c:delete val="0"/>
        <c:axPos val="l"/>
        <c:majorTickMark val="out"/>
        <c:minorTickMark val="none"/>
        <c:tickLblPos val="nextTo"/>
        <c:spPr>
          <a:ln>
            <a:solidFill>
              <a:srgbClr val="E1E0D9"/>
            </a:solidFill>
          </a:ln>
        </c:spPr>
        <c:txPr>
          <a:bodyPr/>
          <a:lstStyle/>
          <a:p>
            <a:pPr>
              <a:defRPr sz="1300">
                <a:solidFill>
                  <a:srgbClr val="4A4F5C"/>
                </a:solidFill>
              </a:defRPr>
            </a:pPr>
          </a:p>
        </c:txPr>
        <c:crossAx val="-2113994440"/>
        <c:crosses val="autoZero"/>
        <c:auto val="1"/>
        <c:lblAlgn val="ctr"/>
        <c:lblOffset val="100"/>
        <c:noMultiLvlLbl val="0"/>
      </c:catAx>
      <c:valAx>
        <c:axId val="-2113994440"/>
        <c:scaling>
          <c:max val="13.689050670131659"/>
          <c:min val="0.0"/>
        </c:scaling>
        <c:delete/>
        <c:axPos val="b"/>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200">
          <a:solidFill>
            <a:srgbClr val="4A4F5C"/>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doughnutChart>
        <c:varyColors val="1"/>
        <c:ser>
          <c:idx val="0"/>
          <c:order val="0"/>
          <c:tx>
            <c:strRef>
              <c:f>Sheet1!$B$1</c:f>
              <c:strCache>
                <c:ptCount val="1"/>
                <c:pt idx="0">
                  <c:v>s</c:v>
                </c:pt>
              </c:strCache>
            </c:strRef>
          </c:tx>
          <c:dPt>
            <c:idx val="0"/>
            <c:spPr>
              <a:solidFill>
                <a:srgbClr val="E8762C"/>
              </a:solidFill>
              <a:ln>
                <a:solidFill>
                  <a:srgbClr val="FFFFFF"/>
                </a:solidFill>
              </a:ln>
            </c:spPr>
          </c:dPt>
          <c:dPt>
            <c:idx val="1"/>
            <c:spPr>
              <a:solidFill>
                <a:srgbClr val="C3C2B7"/>
              </a:solidFill>
              <a:ln>
                <a:solidFill>
                  <a:srgbClr val="FFFFFF"/>
                </a:solidFill>
              </a:ln>
            </c:spPr>
          </c:dPt>
          <c:cat>
            <c:strRef>
              <c:f>Sheet1!$A$2:$A$3</c:f>
              <c:strCache>
                <c:ptCount val="2"/>
                <c:pt idx="0">
                  <c:v>High-risk windows</c:v>
                </c:pt>
                <c:pt idx="1">
                  <c:v>All other windows</c:v>
                </c:pt>
              </c:strCache>
            </c:strRef>
          </c:cat>
          <c:val>
            <c:numRef>
              <c:f>Sheet1!$B$2:$B$3</c:f>
              <c:numCache>
                <c:formatCode>General</c:formatCode>
                <c:ptCount val="2"/>
                <c:pt idx="0">
                  <c:v>0.4667822782110091</c:v>
                </c:pt>
                <c:pt idx="1">
                  <c:v>0.5332177217889909</c:v>
                </c:pt>
              </c:numCache>
            </c:numRef>
          </c:val>
        </c:ser>
        <c:dLbls>
          <c:numFmt formatCode="0%" sourceLinked="0"/>
          <c:txPr>
            <a:bodyPr/>
            <a:lstStyle/>
            <a:p>
              <a:pPr>
                <a:defRPr sz="1200" b="1">
                  <a:solidFill>
                    <a:srgbClr val="FFFFFF"/>
                  </a:solidFill>
                </a:defRPr>
              </a:pPr>
            </a:p>
          </c:txPr>
          <c:showLegendKey val="0"/>
          <c:showVal val="0"/>
          <c:showCatName val="0"/>
          <c:showSerName val="0"/>
          <c:showPercent val="1"/>
          <c:showBubbleSize val="0"/>
          <c:showLeaderLines val="1"/>
        </c:dLbls>
        <c:firstSliceAng val="0"/>
        <c:holeSize val="50"/>
      </c:doughnutChart>
    </c:plotArea>
    <c:legend>
      <c:legendPos/>
      <c:overlay val="0"/>
      <c:txPr>
        <a:bodyPr/>
        <a:lstStyle/>
        <a:p>
          <a:pPr>
            <a:defRPr sz="1300"/>
          </a:pPr>
        </a:p>
      </c:txPr>
    </c:legend>
    <c:plotVisOnly val="1"/>
    <c:dispBlanksAs val="gap"/>
    <c:showDLblsOverMax val="0"/>
  </c:chart>
  <c:txPr>
    <a:bodyPr/>
    <a:lstStyle/>
    <a:p>
      <a:pPr>
        <a:defRPr sz="1200">
          <a:solidFill>
            <a:srgbClr val="4A4F5C"/>
          </a:solidFill>
          <a:latin typeface="Arial"/>
        </a:defRPr>
      </a:pPr>
      <a:endParaR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varyColors val="0"/>
        <c:ser>
          <c:idx val="0"/>
          <c:order val="0"/>
          <c:tx>
            <c:strRef>
              <c:f>Sheet1!$B$1</c:f>
              <c:strCache>
                <c:ptCount val="1"/>
                <c:pt idx="0">
                  <c:v>s</c:v>
                </c:pt>
              </c:strCache>
            </c:strRef>
          </c:tx>
          <c:dPt>
            <c:idx val="0"/>
            <c:spPr>
              <a:solidFill>
                <a:srgbClr val="0D366B"/>
              </a:solidFill>
            </c:spPr>
          </c:dPt>
          <c:dPt>
            <c:idx val="1"/>
            <c:spPr>
              <a:solidFill>
                <a:srgbClr val="256ABF"/>
              </a:solidFill>
            </c:spPr>
          </c:dPt>
          <c:dPt>
            <c:idx val="2"/>
            <c:spPr>
              <a:solidFill>
                <a:srgbClr val="3987E5"/>
              </a:solidFill>
            </c:spPr>
          </c:dPt>
          <c:dPt>
            <c:idx val="3"/>
            <c:spPr>
              <a:solidFill>
                <a:srgbClr val="86B6EF"/>
              </a:solidFill>
            </c:spPr>
          </c:dPt>
          <c:cat>
            <c:strRef>
              <c:f>Sheet1!$A$2:$A$5</c:f>
              <c:strCache>
                <c:ptCount val="4"/>
                <c:pt idx="0">
                  <c:v>Health &lt;70</c:v>
                </c:pt>
                <c:pt idx="1">
                  <c:v>Health 70-79</c:v>
                </c:pt>
                <c:pt idx="2">
                  <c:v>Health 80-89</c:v>
                </c:pt>
                <c:pt idx="3">
                  <c:v>Health 90+</c:v>
                </c:pt>
              </c:strCache>
            </c:strRef>
          </c:cat>
          <c:val>
            <c:numRef>
              <c:f>Sheet1!$B$2:$B$5</c:f>
              <c:numCache>
                <c:formatCode>General</c:formatCode>
                <c:ptCount val="4"/>
                <c:pt idx="0">
                  <c:v>1128.1837346300715</c:v>
                </c:pt>
                <c:pt idx="1">
                  <c:v>636.1455017482517</c:v>
                </c:pt>
                <c:pt idx="2">
                  <c:v>290.35778546625454</c:v>
                </c:pt>
                <c:pt idx="3">
                  <c:v>125.38983158023186</c:v>
                </c:pt>
              </c:numCache>
            </c:numRef>
          </c:val>
        </c:ser>
        <c:dLbls>
          <c:numFmt formatCode="&quot;EGP &quot;#,##0&quot;k&quot;" sourceLinked="0"/>
          <c:txPr>
            <a:bodyPr/>
            <a:lstStyle/>
            <a:p>
              <a:pPr>
                <a:defRPr sz="1400" b="1">
                  <a:solidFill>
                    <a:srgbClr val="1B1F2A"/>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E1E0D9"/>
            </a:solidFill>
          </a:ln>
        </c:spPr>
        <c:txPr>
          <a:bodyPr/>
          <a:lstStyle/>
          <a:p>
            <a:pPr>
              <a:defRPr sz="1300">
                <a:solidFill>
                  <a:srgbClr val="4A4F5C"/>
                </a:solidFill>
              </a:defRPr>
            </a:pPr>
          </a:p>
        </c:txPr>
        <c:crossAx val="-2113994440"/>
        <c:crosses val="autoZero"/>
        <c:auto val="1"/>
        <c:lblAlgn val="ctr"/>
        <c:lblOffset val="100"/>
        <c:noMultiLvlLbl val="0"/>
      </c:catAx>
      <c:valAx>
        <c:axId val="-2113994440"/>
        <c:scaling>
          <c:max val="1376.3841562486873"/>
          <c:min val="0.0"/>
        </c:scaling>
        <c:delete/>
        <c:axPos val="b"/>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200">
          <a:solidFill>
            <a:srgbClr val="4A4F5C"/>
          </a:solidFill>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Mean loss</c:v>
                </c:pt>
              </c:strCache>
            </c:strRef>
          </c:tx>
          <c:spPr>
            <a:ln w="31750">
              <a:solidFill>
                <a:srgbClr val="256ABF"/>
              </a:solidFill>
            </a:ln>
          </c:spPr>
          <c:marker>
            <c:spPr>
              <a:solidFill>
                <a:srgbClr val="256ABF"/>
              </a:solidFill>
              <a:ln>
                <a:solidFill>
                  <a:srgbClr val="FFFFFF"/>
                </a:solidFill>
              </a:ln>
            </c:spPr>
          </c:marker>
          <c:cat>
            <c:strRef>
              <c:f>Sheet1!$A$2:$A$13</c:f>
              <c:strCache>
                <c:ptCount val="12"/>
                <c:pt idx="0">
                  <c:v>Sep 25</c:v>
                </c:pt>
                <c:pt idx="1">
                  <c:v>Oct 25</c:v>
                </c:pt>
                <c:pt idx="2">
                  <c:v>Nov 25</c:v>
                </c:pt>
                <c:pt idx="3">
                  <c:v>Dec 25</c:v>
                </c:pt>
                <c:pt idx="4">
                  <c:v>Jan 26</c:v>
                </c:pt>
                <c:pt idx="5">
                  <c:v>Feb 26</c:v>
                </c:pt>
                <c:pt idx="6">
                  <c:v>Mar 26</c:v>
                </c:pt>
                <c:pt idx="7">
                  <c:v>Apr 26</c:v>
                </c:pt>
                <c:pt idx="8">
                  <c:v>May 26</c:v>
                </c:pt>
                <c:pt idx="9">
                  <c:v>Jun 26</c:v>
                </c:pt>
                <c:pt idx="10">
                  <c:v>Jul 26</c:v>
                </c:pt>
                <c:pt idx="11">
                  <c:v>Aug 26</c:v>
                </c:pt>
              </c:strCache>
            </c:strRef>
          </c:cat>
          <c:val>
            <c:numRef>
              <c:f>Sheet1!$B$2:$B$13</c:f>
              <c:numCache>
                <c:formatCode>General</c:formatCode>
                <c:ptCount val="12"/>
                <c:pt idx="0">
                  <c:v>368.4748226984127</c:v>
                </c:pt>
                <c:pt idx="1">
                  <c:v>366.9483039904988</c:v>
                </c:pt>
                <c:pt idx="2">
                  <c:v>373.16408691919196</c:v>
                </c:pt>
                <c:pt idx="3">
                  <c:v>356.7180655530474</c:v>
                </c:pt>
                <c:pt idx="4">
                  <c:v>367.7687260470588</c:v>
                </c:pt>
                <c:pt idx="5">
                  <c:v>392.9337687114846</c:v>
                </c:pt>
                <c:pt idx="6">
                  <c:v>350.29263371495324</c:v>
                </c:pt>
                <c:pt idx="7">
                  <c:v>395.29802487046635</c:v>
                </c:pt>
                <c:pt idx="8">
                  <c:v>371.5930655427251</c:v>
                </c:pt>
                <c:pt idx="9">
                  <c:v>396.17622535714287</c:v>
                </c:pt>
                <c:pt idx="10">
                  <c:v>402.546375495283</c:v>
                </c:pt>
                <c:pt idx="11">
                  <c:v>372.63964622065726</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E1E0D9"/>
            </a:solidFill>
          </a:ln>
        </c:spPr>
        <c:txPr>
          <a:bodyPr/>
          <a:lstStyle/>
          <a:p>
            <a:pPr>
              <a:defRPr sz="1100"/>
            </a:pPr>
          </a:p>
        </c:txPr>
        <c:crossAx val="2140495176"/>
        <c:crosses val="autoZero"/>
        <c:auto val="1"/>
        <c:lblAlgn val="ctr"/>
        <c:lblOffset val="100"/>
        <c:noMultiLvlLbl val="0"/>
      </c:catAx>
      <c:valAx>
        <c:axId val="2140495176"/>
        <c:scaling>
          <c:max val="523.3102881438679"/>
          <c:min val="0.0"/>
        </c:scaling>
        <c:delete val="0"/>
        <c:axPos val="l"/>
        <c:majorGridlines>
          <c:spPr>
            <a:ln>
              <a:solidFill>
                <a:srgbClr val="E1E0D9"/>
              </a:solidFill>
            </a:ln>
          </c:spPr>
        </c:majorGridlines>
        <c:numFmt formatCode="&quot;EGP &quot;#,##0&quot;k&quot;" sourceLinked="0"/>
        <c:majorTickMark val="out"/>
        <c:minorTickMark val="none"/>
        <c:tickLblPos val="nextTo"/>
        <c:spPr>
          <a:ln>
            <a:noFill/>
          </a:ln>
        </c:spPr>
        <c:txPr>
          <a:bodyPr/>
          <a:lstStyle/>
          <a:p>
            <a:pPr>
              <a:defRPr sz="1100"/>
            </a:pPr>
          </a:p>
        </c:txPr>
        <c:crossAx val="2118791784"/>
        <c:crosses val="autoZero"/>
      </c:valAx>
    </c:plotArea>
    <c:plotVisOnly val="1"/>
    <c:dispBlanksAs val="gap"/>
    <c:showDLblsOverMax val="0"/>
  </c:chart>
  <c:txPr>
    <a:bodyPr/>
    <a:lstStyle/>
    <a:p>
      <a:pPr>
        <a:defRPr sz="1200">
          <a:solidFill>
            <a:srgbClr val="4A4F5C"/>
          </a:solidFill>
          <a:latin typeface="Aria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varyColors val="0"/>
        <c:ser>
          <c:idx val="0"/>
          <c:order val="0"/>
          <c:tx>
            <c:strRef>
              <c:f>Sheet1!$B$1</c:f>
              <c:strCache>
                <c:ptCount val="1"/>
                <c:pt idx="0">
                  <c:v>s</c:v>
                </c:pt>
              </c:strCache>
            </c:strRef>
          </c:tx>
          <c:dPt>
            <c:idx val="0"/>
            <c:spPr>
              <a:solidFill>
                <a:srgbClr val="EB6834"/>
              </a:solidFill>
            </c:spPr>
          </c:dPt>
          <c:dPt>
            <c:idx val="1"/>
            <c:spPr>
              <a:solidFill>
                <a:srgbClr val="2A78D6"/>
              </a:solidFill>
            </c:spPr>
          </c:dPt>
          <c:dPt>
            <c:idx val="2"/>
            <c:spPr>
              <a:solidFill>
                <a:srgbClr val="EDA100"/>
              </a:solidFill>
            </c:spPr>
          </c:dPt>
          <c:dPt>
            <c:idx val="3"/>
            <c:spPr>
              <a:solidFill>
                <a:srgbClr val="1BAF7A"/>
              </a:solidFill>
            </c:spPr>
          </c:dPt>
          <c:cat>
            <c:strRef>
              <c:f>Sheet1!$A$2:$A$5</c:f>
              <c:strCache>
                <c:ptCount val="4"/>
                <c:pt idx="0">
                  <c:v>Reactive</c:v>
                </c:pt>
                <c:pt idx="1">
                  <c:v>Preventive</c:v>
                </c:pt>
                <c:pt idx="2">
                  <c:v>Condition-Based</c:v>
                </c:pt>
                <c:pt idx="3">
                  <c:v>Predictive</c:v>
                </c:pt>
              </c:strCache>
            </c:strRef>
          </c:cat>
          <c:val>
            <c:numRef>
              <c:f>Sheet1!$B$2:$B$5</c:f>
              <c:numCache>
                <c:formatCode>General</c:formatCode>
                <c:ptCount val="4"/>
                <c:pt idx="0">
                  <c:v>55.849889624724064</c:v>
                </c:pt>
                <c:pt idx="1">
                  <c:v>25.646026328620184</c:v>
                </c:pt>
                <c:pt idx="2">
                  <c:v>26.41509433962264</c:v>
                </c:pt>
                <c:pt idx="3">
                  <c:v>23.029772329246935</c:v>
                </c:pt>
              </c:numCache>
            </c:numRef>
          </c:val>
        </c:ser>
        <c:dLbls>
          <c:numFmt formatCode="0&quot;%&quot;" sourceLinked="0"/>
          <c:txPr>
            <a:bodyPr/>
            <a:lstStyle/>
            <a:p>
              <a:pPr>
                <a:defRPr sz="1400" b="1">
                  <a:solidFill>
                    <a:srgbClr val="1B1F2A"/>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E1E0D9"/>
            </a:solidFill>
          </a:ln>
        </c:spPr>
        <c:txPr>
          <a:bodyPr/>
          <a:lstStyle/>
          <a:p>
            <a:pPr>
              <a:defRPr sz="1300">
                <a:solidFill>
                  <a:srgbClr val="4A4F5C"/>
                </a:solidFill>
              </a:defRPr>
            </a:pPr>
          </a:p>
        </c:txPr>
        <c:crossAx val="-2113994440"/>
        <c:crosses val="autoZero"/>
        <c:auto val="1"/>
        <c:lblAlgn val="ctr"/>
        <c:lblOffset val="100"/>
        <c:noMultiLvlLbl val="0"/>
      </c:catAx>
      <c:valAx>
        <c:axId val="-2113994440"/>
        <c:scaling>
          <c:max val="68.13686534216336"/>
          <c:min val="0.0"/>
        </c:scaling>
        <c:delete/>
        <c:axPos val="b"/>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200">
          <a:solidFill>
            <a:srgbClr val="4A4F5C"/>
          </a:solidFill>
          <a:latin typeface="Arial"/>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varyColors val="0"/>
        <c:ser>
          <c:idx val="0"/>
          <c:order val="0"/>
          <c:tx>
            <c:strRef>
              <c:f>Sheet1!$B$1</c:f>
              <c:strCache>
                <c:ptCount val="1"/>
                <c:pt idx="0">
                  <c:v>s</c:v>
                </c:pt>
              </c:strCache>
            </c:strRef>
          </c:tx>
          <c:dPt>
            <c:idx val="0"/>
            <c:spPr>
              <a:solidFill>
                <a:srgbClr val="0D366B"/>
              </a:solidFill>
            </c:spPr>
          </c:dPt>
          <c:dPt>
            <c:idx val="1"/>
            <c:spPr>
              <a:solidFill>
                <a:srgbClr val="184F95"/>
              </a:solidFill>
            </c:spPr>
          </c:dPt>
          <c:dPt>
            <c:idx val="2"/>
            <c:spPr>
              <a:solidFill>
                <a:srgbClr val="184F95"/>
              </a:solidFill>
            </c:spPr>
          </c:dPt>
          <c:dPt>
            <c:idx val="3"/>
            <c:spPr>
              <a:solidFill>
                <a:srgbClr val="256ABF"/>
              </a:solidFill>
            </c:spPr>
          </c:dPt>
          <c:cat>
            <c:strRef>
              <c:f>Sheet1!$A$2:$A$5</c:f>
              <c:strCache>
                <c:ptCount val="4"/>
                <c:pt idx="0">
                  <c:v>Basic</c:v>
                </c:pt>
                <c:pt idx="1">
                  <c:v>Intermediate</c:v>
                </c:pt>
                <c:pt idx="2">
                  <c:v>Advanced</c:v>
                </c:pt>
                <c:pt idx="3">
                  <c:v>Expert</c:v>
                </c:pt>
              </c:strCache>
            </c:strRef>
          </c:cat>
          <c:val>
            <c:numRef>
              <c:f>Sheet1!$B$2:$B$5</c:f>
              <c:numCache>
                <c:formatCode>General</c:formatCode>
                <c:ptCount val="4"/>
                <c:pt idx="0">
                  <c:v>14.778293515358362</c:v>
                </c:pt>
                <c:pt idx="1">
                  <c:v>12.417602704108164</c:v>
                </c:pt>
                <c:pt idx="2">
                  <c:v>9.378982671883733</c:v>
                </c:pt>
                <c:pt idx="3">
                  <c:v>8.005982905982906</c:v>
                </c:pt>
              </c:numCache>
            </c:numRef>
          </c:val>
        </c:ser>
        <c:dLbls>
          <c:numFmt formatCode="0.0&quot; h&quot;" sourceLinked="0"/>
          <c:txPr>
            <a:bodyPr/>
            <a:lstStyle/>
            <a:p>
              <a:pPr>
                <a:defRPr sz="1400" b="1">
                  <a:solidFill>
                    <a:srgbClr val="1B1F2A"/>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E1E0D9"/>
            </a:solidFill>
          </a:ln>
        </c:spPr>
        <c:txPr>
          <a:bodyPr/>
          <a:lstStyle/>
          <a:p>
            <a:pPr>
              <a:defRPr sz="1300">
                <a:solidFill>
                  <a:srgbClr val="4A4F5C"/>
                </a:solidFill>
              </a:defRPr>
            </a:pPr>
          </a:p>
        </c:txPr>
        <c:crossAx val="-2113994440"/>
        <c:crosses val="autoZero"/>
        <c:auto val="1"/>
        <c:lblAlgn val="ctr"/>
        <c:lblOffset val="100"/>
        <c:noMultiLvlLbl val="0"/>
      </c:catAx>
      <c:valAx>
        <c:axId val="-2113994440"/>
        <c:scaling>
          <c:max val="18.029518088737202"/>
          <c:min val="0.0"/>
        </c:scaling>
        <c:delete/>
        <c:axPos val="b"/>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200">
          <a:solidFill>
            <a:srgbClr val="4A4F5C"/>
          </a:solidFill>
          <a:latin typeface="Arial"/>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varyColors val="0"/>
        <c:ser>
          <c:idx val="0"/>
          <c:order val="0"/>
          <c:tx>
            <c:strRef>
              <c:f>Sheet1!$B$1</c:f>
              <c:strCache>
                <c:ptCount val="1"/>
                <c:pt idx="0">
                  <c:v>s</c:v>
                </c:pt>
              </c:strCache>
            </c:strRef>
          </c:tx>
          <c:dPt>
            <c:idx val="0"/>
            <c:spPr>
              <a:solidFill>
                <a:srgbClr val="256ABF"/>
              </a:solidFill>
            </c:spPr>
          </c:dPt>
          <c:dPt>
            <c:idx val="1"/>
            <c:spPr>
              <a:solidFill>
                <a:srgbClr val="256ABF"/>
              </a:solidFill>
            </c:spPr>
          </c:dPt>
          <c:dPt>
            <c:idx val="2"/>
            <c:spPr>
              <a:solidFill>
                <a:srgbClr val="256ABF"/>
              </a:solidFill>
            </c:spPr>
          </c:dPt>
          <c:dPt>
            <c:idx val="3"/>
            <c:spPr>
              <a:solidFill>
                <a:srgbClr val="256ABF"/>
              </a:solidFill>
            </c:spPr>
          </c:dPt>
          <c:dPt>
            <c:idx val="4"/>
            <c:spPr>
              <a:solidFill>
                <a:srgbClr val="256ABF"/>
              </a:solidFill>
            </c:spPr>
          </c:dPt>
          <c:dPt>
            <c:idx val="5"/>
            <c:spPr>
              <a:solidFill>
                <a:srgbClr val="256ABF"/>
              </a:solidFill>
            </c:spPr>
          </c:dPt>
          <c:dPt>
            <c:idx val="6"/>
            <c:spPr>
              <a:solidFill>
                <a:srgbClr val="256ABF"/>
              </a:solidFill>
            </c:spPr>
          </c:dPt>
          <c:dPt>
            <c:idx val="7"/>
            <c:spPr>
              <a:solidFill>
                <a:srgbClr val="256ABF"/>
              </a:solidFill>
            </c:spPr>
          </c:dPt>
          <c:dPt>
            <c:idx val="8"/>
            <c:spPr>
              <a:solidFill>
                <a:srgbClr val="256ABF"/>
              </a:solidFill>
            </c:spPr>
          </c:dPt>
          <c:dPt>
            <c:idx val="9"/>
            <c:spPr>
              <a:solidFill>
                <a:srgbClr val="256ABF"/>
              </a:solidFill>
            </c:spPr>
          </c:dPt>
          <c:cat>
            <c:strRef>
              <c:f>Sheet1!$A$2:$A$11</c:f>
              <c:strCache>
                <c:ptCount val="10"/>
                <c:pt idx="0">
                  <c:v>D1 · 50%</c:v>
                </c:pt>
                <c:pt idx="1">
                  <c:v>D2 · 63%</c:v>
                </c:pt>
                <c:pt idx="2">
                  <c:v>D3 · 70%</c:v>
                </c:pt>
                <c:pt idx="3">
                  <c:v>D4 · 76%</c:v>
                </c:pt>
                <c:pt idx="4">
                  <c:v>D5 · 81%</c:v>
                </c:pt>
                <c:pt idx="5">
                  <c:v>D6 · 85%</c:v>
                </c:pt>
                <c:pt idx="6">
                  <c:v>D7 · 90%</c:v>
                </c:pt>
                <c:pt idx="7">
                  <c:v>D8 · 95%</c:v>
                </c:pt>
                <c:pt idx="8">
                  <c:v>D9 · 100%</c:v>
                </c:pt>
                <c:pt idx="9">
                  <c:v>D10 · 100%</c:v>
                </c:pt>
              </c:strCache>
            </c:strRef>
          </c:cat>
          <c:val>
            <c:numRef>
              <c:f>Sheet1!$B$2:$B$11</c:f>
              <c:numCache>
                <c:formatCode>General</c:formatCode>
                <c:ptCount val="10"/>
                <c:pt idx="0">
                  <c:v>22.83306</c:v>
                </c:pt>
                <c:pt idx="1">
                  <c:v>17.3326</c:v>
                </c:pt>
                <c:pt idx="2">
                  <c:v>13.75594</c:v>
                </c:pt>
                <c:pt idx="3">
                  <c:v>11.52946</c:v>
                </c:pt>
                <c:pt idx="4">
                  <c:v>9.3642</c:v>
                </c:pt>
                <c:pt idx="5">
                  <c:v>8.6504</c:v>
                </c:pt>
                <c:pt idx="6">
                  <c:v>7.18862</c:v>
                </c:pt>
                <c:pt idx="7">
                  <c:v>7.12294</c:v>
                </c:pt>
                <c:pt idx="8">
                  <c:v>5.5762</c:v>
                </c:pt>
                <c:pt idx="9">
                  <c:v>6.52324</c:v>
                </c:pt>
              </c:numCache>
            </c:numRef>
          </c:val>
        </c:ser>
        <c:dLbls>
          <c:numFmt formatCode="0.0" sourceLinked="0"/>
          <c:txPr>
            <a:bodyPr/>
            <a:lstStyle/>
            <a:p>
              <a:pPr>
                <a:defRPr sz="1300" b="1">
                  <a:solidFill>
                    <a:srgbClr val="1B1F2A"/>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b"/>
        <c:majorTickMark val="out"/>
        <c:minorTickMark val="none"/>
        <c:tickLblPos val="nextTo"/>
        <c:spPr>
          <a:ln>
            <a:solidFill>
              <a:srgbClr val="E1E0D9"/>
            </a:solidFill>
          </a:ln>
        </c:spPr>
        <c:txPr>
          <a:bodyPr/>
          <a:lstStyle/>
          <a:p>
            <a:pPr>
              <a:defRPr sz="1300">
                <a:solidFill>
                  <a:srgbClr val="4A4F5C"/>
                </a:solidFill>
              </a:defRPr>
            </a:pPr>
          </a:p>
        </c:txPr>
        <c:crossAx val="-2113994440"/>
        <c:crosses val="autoZero"/>
        <c:auto val="1"/>
        <c:lblAlgn val="ctr"/>
        <c:lblOffset val="100"/>
        <c:noMultiLvlLbl val="0"/>
      </c:catAx>
      <c:valAx>
        <c:axId val="-2113994440"/>
        <c:scaling>
          <c:max val="26.258018999999997"/>
          <c:min val="0.0"/>
        </c:scaling>
        <c:delete/>
        <c:axPos val="l"/>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200">
          <a:solidFill>
            <a:srgbClr val="4A4F5C"/>
          </a:solidFill>
          <a:latin typeface="Arial"/>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varyColors val="0"/>
        <c:ser>
          <c:idx val="0"/>
          <c:order val="0"/>
          <c:tx>
            <c:strRef>
              <c:f>Sheet1!$B$1</c:f>
              <c:strCache>
                <c:ptCount val="1"/>
                <c:pt idx="0">
                  <c:v>s</c:v>
                </c:pt>
              </c:strCache>
            </c:strRef>
          </c:tx>
          <c:dPt>
            <c:idx val="0"/>
            <c:spPr>
              <a:solidFill>
                <a:srgbClr val="D03B3B"/>
              </a:solidFill>
            </c:spPr>
          </c:dPt>
          <c:dPt>
            <c:idx val="1"/>
            <c:spPr>
              <a:solidFill>
                <a:srgbClr val="E8762C"/>
              </a:solidFill>
            </c:spPr>
          </c:dPt>
          <c:dPt>
            <c:idx val="2"/>
            <c:spPr>
              <a:solidFill>
                <a:srgbClr val="FAB219"/>
              </a:solidFill>
            </c:spPr>
          </c:dPt>
          <c:dPt>
            <c:idx val="3"/>
            <c:spPr>
              <a:solidFill>
                <a:srgbClr val="9A988F"/>
              </a:solidFill>
            </c:spPr>
          </c:dPt>
          <c:cat>
            <c:strRef>
              <c:f>Sheet1!$A$2:$A$5</c:f>
              <c:strCache>
                <c:ptCount val="4"/>
                <c:pt idx="0">
                  <c:v>P1 - Immediate</c:v>
                </c:pt>
                <c:pt idx="1">
                  <c:v>P2 - High</c:v>
                </c:pt>
                <c:pt idx="2">
                  <c:v>P3 - Planned</c:v>
                </c:pt>
                <c:pt idx="3">
                  <c:v>P4 - Monitor</c:v>
                </c:pt>
              </c:strCache>
            </c:strRef>
          </c:cat>
          <c:val>
            <c:numRef>
              <c:f>Sheet1!$B$2:$B$5</c:f>
              <c:numCache>
                <c:formatCode>General</c:formatCode>
                <c:ptCount val="4"/>
                <c:pt idx="0">
                  <c:v>2</c:v>
                </c:pt>
                <c:pt idx="1">
                  <c:v>97</c:v>
                </c:pt>
                <c:pt idx="2">
                  <c:v>335</c:v>
                </c:pt>
                <c:pt idx="3">
                  <c:v>66</c:v>
                </c:pt>
              </c:numCache>
            </c:numRef>
          </c:val>
        </c:ser>
        <c:dLbls>
          <c:numFmt formatCode="#,##0" sourceLinked="0"/>
          <c:txPr>
            <a:bodyPr/>
            <a:lstStyle/>
            <a:p>
              <a:pPr>
                <a:defRPr sz="1400" b="1">
                  <a:solidFill>
                    <a:srgbClr val="1B1F2A"/>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E1E0D9"/>
            </a:solidFill>
          </a:ln>
        </c:spPr>
        <c:txPr>
          <a:bodyPr/>
          <a:lstStyle/>
          <a:p>
            <a:pPr>
              <a:defRPr sz="1300">
                <a:solidFill>
                  <a:srgbClr val="4A4F5C"/>
                </a:solidFill>
              </a:defRPr>
            </a:pPr>
          </a:p>
        </c:txPr>
        <c:crossAx val="-2113994440"/>
        <c:crosses val="autoZero"/>
        <c:auto val="1"/>
        <c:lblAlgn val="ctr"/>
        <c:lblOffset val="100"/>
        <c:noMultiLvlLbl val="0"/>
      </c:catAx>
      <c:valAx>
        <c:axId val="-2113994440"/>
        <c:scaling>
          <c:max val="408.7"/>
          <c:min val="0.0"/>
        </c:scaling>
        <c:delete/>
        <c:axPos val="b"/>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200">
          <a:solidFill>
            <a:srgbClr val="4A4F5C"/>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answers one question for the Head of Reliability and Maintenance: where should the next Egyptian pound of maintenance budget go? The three numbers at the bottom are the whole story: loss is concentrated, a controllable lever doubles downtime, and the escalation flag misses most of the risk.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the answer, Pyramid style. Everything after this slide is support for these three arguments.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sections. The method section is short but it matters: every number later on survived a test.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A. Before any finding, how the file was handled, and why the findings can be trusted.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Playbook Stage 0. Path A: one flat table with a date column, so no joins were needed. Each row is one 30-day window of one asset.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AIB902 Playbook v4.0. The two gates are the scope brief, approved by the stakeholder before the build, and the timed live-refresh test.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Nothing was imputed or removed. The heavy tail in revenue loss is real, not error, so it stays 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limit. Because the ID changes site, type and criticality, we treat every row as an independent window. No per-asset history, replacement or remaining-life plan can be built from this export.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ANOVA confirmed by Kruskal-Wallis, Bonferroni threshold 0.0015. With 5,000 rows almost anything is detectable, so the bar shows effect size: the share of downtime variance each dimension explains. Grey bars are not significant.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B. Before levers, where the money actually sits.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four KPIs agreed in the scope brief. Totals add overlapping 30-day windows, so compare means per window, not totals.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Gini 0.63. The playbook calls this the most decision-relevant number. Effort spread evenly across the fleet is mostly spent where little is lost.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Health index bands. The steepness is the case for acting early: each band down roughly doubles the loss.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Fitted slope +0.60% of the monthly mean per month; lag-1 autocorrelation -0.17. A bad month does not predict the next one, so timing is not a lever.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C. The core of the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Bootstrap 95% intervals. The three planned strategies overlap each other: the step that matters is leaving reactive, not choosing among the planned ones.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Share of work orders that are corrective emergency, by strategy. Emergencies cost labour, parts at premium and production.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clean staircase with no interval touching the next. Spares status explains 6.5% of revenue-loss variance, five times what site explains.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Mean downtime by strategy and spares status, with counts. Reactive plus shortage is the cell to empty first; predictive plus available is the target state.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Mean downtime by technician skill level. Basic and intermediate sit clearly above advanced and expert; intervals do not overlap.</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PM compliance deciles, least compliant on the left, median compliance under each bar. A dose-response shape is stronger evidence than a single split.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lever split at a practical threshold the maintenance team can manage to. All p-values are below 1e-60.</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Correlation of each measured, non-derived input with unplanned downtime. Composite scores are excluded because they are formulas built from these inputs.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estimates, not measurements. They assume the association is fully causal, which it is not: reactive windows also start in worse health. That is why recommendation 6 is a pilot.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Executive priority is a fixed banding of an index that correlates only 0.75 with failure probability. P1/P2 cover 26.5% of the loss in the worst 10% of windows. Most of the worst windows were filed as P3 Planned.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this file the rule adds 433 windows and EGP 434M of exposure to the watched list. Escalated count goes from 134 to 567, so confirm crew capacity before switching it 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Site is real but small (η² 0.013 on loss). Manufacturer (p = 0.57) and shift (p = 0.49) show nothing at all.</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Overview, Explorer (cross-filtered), Levers, Sites &amp; Equipment, Risk Watchlist, Data &amp; Method. Standard-library Python watcher, plain HTML and SVG, no framework. Verification: 10 timed edits to the source CSV, 376 ms mean, 621 ms max from save to screen.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Ordered by size of effect and ease. Number 6 is what turns these associations into causal, budgetable estimates.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decisions, not a thank-you slide. The pilot is the most important: it converts the 2x associations into a causal number the budget can rest on. The live dashboard will measure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chart" Target="../charts/char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chart" Target="../charts/char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chart" Target="../charts/char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chart" Target="../charts/char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chart" Target="../charts/char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chart" Target="../charts/char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chart" Target="../charts/char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chart" Target="../charts/char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548640" y="502920"/>
            <a:ext cx="8229600" cy="320040"/>
          </a:xfrm>
          <a:prstGeom prst="rect">
            <a:avLst/>
          </a:prstGeom>
          <a:noFill/>
        </p:spPr>
        <p:txBody>
          <a:bodyPr wrap="square" lIns="0" rIns="0" tIns="0" bIns="0" anchor="t">
            <a:spAutoFit/>
          </a:bodyPr>
          <a:lstStyle/>
          <a:p>
            <a:pPr algn="l"/>
            <a:r>
              <a:rPr sz="1300" b="1" i="0">
                <a:solidFill>
                  <a:srgbClr val="E8762C"/>
                </a:solidFill>
                <a:latin typeface="Arial"/>
              </a:rPr>
              <a:t>AIB902 · AGENTIC ANALYTICS · GROUP 9230 TEAM 1</a:t>
            </a:r>
          </a:p>
        </p:txBody>
      </p:sp>
      <p:sp>
        <p:nvSpPr>
          <p:cNvPr id="3" name="TextBox 2"/>
          <p:cNvSpPr txBox="1"/>
          <p:nvPr/>
        </p:nvSpPr>
        <p:spPr>
          <a:xfrm>
            <a:off x="548640" y="1737360"/>
            <a:ext cx="10515600" cy="1828800"/>
          </a:xfrm>
          <a:prstGeom prst="rect">
            <a:avLst/>
          </a:prstGeom>
          <a:noFill/>
        </p:spPr>
        <p:txBody>
          <a:bodyPr wrap="square" lIns="0" rIns="0" tIns="0" bIns="0" anchor="t">
            <a:spAutoFit/>
          </a:bodyPr>
          <a:lstStyle/>
          <a:p>
            <a:pPr algn="l">
              <a:lnSpc>
                <a:spcPct val="100000"/>
              </a:lnSpc>
            </a:pPr>
            <a:r>
              <a:rPr sz="4800" b="1" i="0">
                <a:solidFill>
                  <a:srgbClr val="FFFFFF"/>
                </a:solidFill>
                <a:latin typeface="Arial"/>
              </a:rPr>
              <a:t>Where the next EGP of maintenance should go</a:t>
            </a:r>
          </a:p>
        </p:txBody>
      </p:sp>
      <p:sp>
        <p:nvSpPr>
          <p:cNvPr id="4" name="TextBox 3"/>
          <p:cNvSpPr txBox="1"/>
          <p:nvPr/>
        </p:nvSpPr>
        <p:spPr>
          <a:xfrm>
            <a:off x="548640" y="3611880"/>
            <a:ext cx="10058400" cy="914400"/>
          </a:xfrm>
          <a:prstGeom prst="rect">
            <a:avLst/>
          </a:prstGeom>
          <a:noFill/>
        </p:spPr>
        <p:txBody>
          <a:bodyPr wrap="square" lIns="0" rIns="0" tIns="0" bIns="0" anchor="t">
            <a:spAutoFit/>
          </a:bodyPr>
          <a:lstStyle/>
          <a:p>
            <a:pPr algn="l"/>
            <a:r>
              <a:rPr sz="2200" b="0" i="0">
                <a:solidFill>
                  <a:srgbClr val="C9D6EA"/>
                </a:solidFill>
                <a:latin typeface="Arial"/>
              </a:rPr>
              <a:t>PMARIS asset reliability: 5,000 observation windows, six sites, twelve months</a:t>
            </a:r>
          </a:p>
        </p:txBody>
      </p:sp>
      <p:sp>
        <p:nvSpPr>
          <p:cNvPr id="5" name="TextBox 4"/>
          <p:cNvSpPr txBox="1"/>
          <p:nvPr/>
        </p:nvSpPr>
        <p:spPr>
          <a:xfrm>
            <a:off x="548640" y="4800600"/>
            <a:ext cx="3474720" cy="640080"/>
          </a:xfrm>
          <a:prstGeom prst="rect">
            <a:avLst/>
          </a:prstGeom>
          <a:noFill/>
        </p:spPr>
        <p:txBody>
          <a:bodyPr wrap="square" lIns="0" rIns="0" tIns="0" bIns="0" anchor="t">
            <a:spAutoFit/>
          </a:bodyPr>
          <a:lstStyle/>
          <a:p>
            <a:pPr algn="l"/>
            <a:r>
              <a:rPr sz="3400" b="1" i="0">
                <a:solidFill>
                  <a:srgbClr val="E8762C"/>
                </a:solidFill>
                <a:latin typeface="Arial"/>
              </a:rPr>
              <a:t>45%</a:t>
            </a:r>
          </a:p>
        </p:txBody>
      </p:sp>
      <p:sp>
        <p:nvSpPr>
          <p:cNvPr id="6" name="TextBox 5"/>
          <p:cNvSpPr txBox="1"/>
          <p:nvPr/>
        </p:nvSpPr>
        <p:spPr>
          <a:xfrm>
            <a:off x="548640" y="5440680"/>
            <a:ext cx="3474720" cy="457200"/>
          </a:xfrm>
          <a:prstGeom prst="rect">
            <a:avLst/>
          </a:prstGeom>
          <a:noFill/>
        </p:spPr>
        <p:txBody>
          <a:bodyPr wrap="square" lIns="0" rIns="0" tIns="0" bIns="0" anchor="t">
            <a:spAutoFit/>
          </a:bodyPr>
          <a:lstStyle/>
          <a:p>
            <a:pPr algn="l"/>
            <a:r>
              <a:rPr sz="1400" b="0" i="0">
                <a:solidFill>
                  <a:srgbClr val="C9D6EA"/>
                </a:solidFill>
                <a:latin typeface="Arial"/>
              </a:rPr>
              <a:t>of loss in the top 10% of windows</a:t>
            </a:r>
          </a:p>
        </p:txBody>
      </p:sp>
      <p:sp>
        <p:nvSpPr>
          <p:cNvPr id="7" name="TextBox 6"/>
          <p:cNvSpPr txBox="1"/>
          <p:nvPr/>
        </p:nvSpPr>
        <p:spPr>
          <a:xfrm>
            <a:off x="4251959" y="4800600"/>
            <a:ext cx="3474720" cy="640080"/>
          </a:xfrm>
          <a:prstGeom prst="rect">
            <a:avLst/>
          </a:prstGeom>
          <a:noFill/>
        </p:spPr>
        <p:txBody>
          <a:bodyPr wrap="square" lIns="0" rIns="0" tIns="0" bIns="0" anchor="t">
            <a:spAutoFit/>
          </a:bodyPr>
          <a:lstStyle/>
          <a:p>
            <a:pPr algn="l"/>
            <a:r>
              <a:rPr sz="3400" b="1" i="0">
                <a:solidFill>
                  <a:srgbClr val="E8762C"/>
                </a:solidFill>
                <a:latin typeface="Arial"/>
              </a:rPr>
              <a:t>2.3x</a:t>
            </a:r>
          </a:p>
        </p:txBody>
      </p:sp>
      <p:sp>
        <p:nvSpPr>
          <p:cNvPr id="8" name="TextBox 7"/>
          <p:cNvSpPr txBox="1"/>
          <p:nvPr/>
        </p:nvSpPr>
        <p:spPr>
          <a:xfrm>
            <a:off x="4251959" y="5440680"/>
            <a:ext cx="3474720" cy="457200"/>
          </a:xfrm>
          <a:prstGeom prst="rect">
            <a:avLst/>
          </a:prstGeom>
          <a:noFill/>
        </p:spPr>
        <p:txBody>
          <a:bodyPr wrap="square" lIns="0" rIns="0" tIns="0" bIns="0" anchor="t">
            <a:spAutoFit/>
          </a:bodyPr>
          <a:lstStyle/>
          <a:p>
            <a:pPr algn="l"/>
            <a:r>
              <a:rPr sz="1400" b="0" i="0">
                <a:solidFill>
                  <a:srgbClr val="C9D6EA"/>
                </a:solidFill>
                <a:latin typeface="Arial"/>
              </a:rPr>
              <a:t>reactive vs predictive downtime</a:t>
            </a:r>
          </a:p>
        </p:txBody>
      </p:sp>
      <p:sp>
        <p:nvSpPr>
          <p:cNvPr id="9" name="TextBox 8"/>
          <p:cNvSpPr txBox="1"/>
          <p:nvPr/>
        </p:nvSpPr>
        <p:spPr>
          <a:xfrm>
            <a:off x="7955279" y="4800600"/>
            <a:ext cx="3474720" cy="640080"/>
          </a:xfrm>
          <a:prstGeom prst="rect">
            <a:avLst/>
          </a:prstGeom>
          <a:noFill/>
        </p:spPr>
        <p:txBody>
          <a:bodyPr wrap="square" lIns="0" rIns="0" tIns="0" bIns="0" anchor="t">
            <a:spAutoFit/>
          </a:bodyPr>
          <a:lstStyle/>
          <a:p>
            <a:pPr algn="l"/>
            <a:r>
              <a:rPr sz="3400" b="1" i="0">
                <a:solidFill>
                  <a:srgbClr val="E8762C"/>
                </a:solidFill>
                <a:latin typeface="Arial"/>
              </a:rPr>
              <a:t>829</a:t>
            </a:r>
          </a:p>
        </p:txBody>
      </p:sp>
      <p:sp>
        <p:nvSpPr>
          <p:cNvPr id="10" name="TextBox 9"/>
          <p:cNvSpPr txBox="1"/>
          <p:nvPr/>
        </p:nvSpPr>
        <p:spPr>
          <a:xfrm>
            <a:off x="7955279" y="5440680"/>
            <a:ext cx="3474720" cy="457200"/>
          </a:xfrm>
          <a:prstGeom prst="rect">
            <a:avLst/>
          </a:prstGeom>
          <a:noFill/>
        </p:spPr>
        <p:txBody>
          <a:bodyPr wrap="square" lIns="0" rIns="0" tIns="0" bIns="0" anchor="t">
            <a:spAutoFit/>
          </a:bodyPr>
          <a:lstStyle/>
          <a:p>
            <a:pPr algn="l"/>
            <a:r>
              <a:rPr sz="1400" b="0" i="0">
                <a:solidFill>
                  <a:srgbClr val="C9D6EA"/>
                </a:solidFill>
                <a:latin typeface="Arial"/>
              </a:rPr>
              <a:t>high-risk windows not escalated</a:t>
            </a:r>
          </a:p>
        </p:txBody>
      </p:sp>
      <p:sp>
        <p:nvSpPr>
          <p:cNvPr id="11" name="TextBox 10"/>
          <p:cNvSpPr txBox="1"/>
          <p:nvPr/>
        </p:nvSpPr>
        <p:spPr>
          <a:xfrm>
            <a:off x="548640" y="6473952"/>
            <a:ext cx="8229600" cy="228600"/>
          </a:xfrm>
          <a:prstGeom prst="rect">
            <a:avLst/>
          </a:prstGeom>
          <a:noFill/>
        </p:spPr>
        <p:txBody>
          <a:bodyPr wrap="square" lIns="0" rIns="0" tIns="0" bIns="0" anchor="t">
            <a:spAutoFit/>
          </a:bodyPr>
          <a:lstStyle/>
          <a:p>
            <a:pPr algn="l"/>
            <a:r>
              <a:rPr sz="1000" b="0" i="0">
                <a:solidFill>
                  <a:srgbClr val="C9D6EA"/>
                </a:solidFill>
                <a:latin typeface="Arial"/>
              </a:rPr>
              <a:t>Prepared for the Head of Reliability &amp; Maintenance · 11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8229600" cy="274320"/>
          </a:xfrm>
          <a:prstGeom prst="rect">
            <a:avLst/>
          </a:prstGeom>
          <a:noFill/>
        </p:spPr>
        <p:txBody>
          <a:bodyPr wrap="square" lIns="0" rIns="0" tIns="0" bIns="0" anchor="t">
            <a:spAutoFit/>
          </a:bodyPr>
          <a:lstStyle/>
          <a:p>
            <a:pPr algn="l"/>
            <a:r>
              <a:rPr sz="1200" b="1" i="0">
                <a:solidFill>
                  <a:srgbClr val="E8762C"/>
                </a:solidFill>
                <a:latin typeface="Arial"/>
              </a:rPr>
              <a:t>THE ANSWER</a:t>
            </a:r>
          </a:p>
        </p:txBody>
      </p:sp>
      <p:sp>
        <p:nvSpPr>
          <p:cNvPr id="3" name="TextBox 2"/>
          <p:cNvSpPr txBox="1"/>
          <p:nvPr/>
        </p:nvSpPr>
        <p:spPr>
          <a:xfrm>
            <a:off x="548640" y="521208"/>
            <a:ext cx="11094415" cy="868680"/>
          </a:xfrm>
          <a:prstGeom prst="rect">
            <a:avLst/>
          </a:prstGeom>
          <a:noFill/>
        </p:spPr>
        <p:txBody>
          <a:bodyPr wrap="square" lIns="0" rIns="0" tIns="0" bIns="0" anchor="t">
            <a:spAutoFit/>
          </a:bodyPr>
          <a:lstStyle/>
          <a:p>
            <a:pPr algn="l"/>
            <a:r>
              <a:rPr sz="3000" b="1" i="0">
                <a:solidFill>
                  <a:srgbClr val="1B1F2A"/>
                </a:solidFill>
                <a:latin typeface="Arial"/>
              </a:rPr>
              <a:t>The answer: fund four levers and widen the escalation list</a:t>
            </a:r>
          </a:p>
        </p:txBody>
      </p:sp>
      <p:sp>
        <p:nvSpPr>
          <p:cNvPr id="4" name="TextBox 3"/>
          <p:cNvSpPr txBox="1"/>
          <p:nvPr/>
        </p:nvSpPr>
        <p:spPr>
          <a:xfrm>
            <a:off x="548640" y="6473952"/>
            <a:ext cx="8229600" cy="228600"/>
          </a:xfrm>
          <a:prstGeom prst="rect">
            <a:avLst/>
          </a:prstGeom>
          <a:noFill/>
        </p:spPr>
        <p:txBody>
          <a:bodyPr wrap="square" lIns="0" rIns="0" tIns="0" bIns="0" anchor="t">
            <a:spAutoFit/>
          </a:bodyPr>
          <a:lstStyle/>
          <a:p>
            <a:pPr algn="l"/>
            <a:r>
              <a:rPr sz="1000" b="0" i="0">
                <a:solidFill>
                  <a:srgbClr val="6B707C"/>
                </a:solidFill>
                <a:latin typeface="Arial"/>
              </a:rPr>
              <a:t>Source: Group_9230_Team1_PMARIS_Enterprise_Dataset.csv, 5,000 observation windows</a:t>
            </a:r>
          </a:p>
        </p:txBody>
      </p:sp>
      <p:sp>
        <p:nvSpPr>
          <p:cNvPr id="5" name="TextBox 4"/>
          <p:cNvSpPr txBox="1"/>
          <p:nvPr/>
        </p:nvSpPr>
        <p:spPr>
          <a:xfrm>
            <a:off x="10271455" y="6473952"/>
            <a:ext cx="1371600" cy="228600"/>
          </a:xfrm>
          <a:prstGeom prst="rect">
            <a:avLst/>
          </a:prstGeom>
          <a:noFill/>
        </p:spPr>
        <p:txBody>
          <a:bodyPr wrap="square" lIns="0" rIns="0" tIns="0" bIns="0" anchor="t">
            <a:spAutoFit/>
          </a:bodyPr>
          <a:lstStyle/>
          <a:p>
            <a:pPr algn="r"/>
            <a:r>
              <a:rPr sz="1000" b="0" i="0">
                <a:solidFill>
                  <a:srgbClr val="6B707C"/>
                </a:solidFill>
                <a:latin typeface="Arial"/>
              </a:rPr>
              <a:t>2 / 30</a:t>
            </a:r>
          </a:p>
        </p:txBody>
      </p:sp>
      <p:sp>
        <p:nvSpPr>
          <p:cNvPr id="6" name="Rounded Rectangle 5"/>
          <p:cNvSpPr/>
          <p:nvPr/>
        </p:nvSpPr>
        <p:spPr>
          <a:xfrm>
            <a:off x="548640" y="1737360"/>
            <a:ext cx="3520440" cy="338328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59" y="2011680"/>
            <a:ext cx="548640" cy="548640"/>
          </a:xfrm>
          <a:prstGeom prst="ellipse">
            <a:avLst/>
          </a:prstGeom>
          <a:solidFill>
            <a:srgbClr val="E87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1</a:t>
            </a:r>
          </a:p>
        </p:txBody>
      </p:sp>
      <p:sp>
        <p:nvSpPr>
          <p:cNvPr id="8" name="TextBox 7"/>
          <p:cNvSpPr txBox="1"/>
          <p:nvPr/>
        </p:nvSpPr>
        <p:spPr>
          <a:xfrm>
            <a:off x="822959" y="2788920"/>
            <a:ext cx="3017520" cy="822960"/>
          </a:xfrm>
          <a:prstGeom prst="rect">
            <a:avLst/>
          </a:prstGeom>
          <a:noFill/>
        </p:spPr>
        <p:txBody>
          <a:bodyPr wrap="square" lIns="0" rIns="0" tIns="0" bIns="0" anchor="t">
            <a:spAutoFit/>
          </a:bodyPr>
          <a:lstStyle/>
          <a:p>
            <a:pPr algn="l"/>
            <a:r>
              <a:rPr sz="2200" b="1" i="0">
                <a:solidFill>
                  <a:srgbClr val="1B1F2A"/>
                </a:solidFill>
                <a:latin typeface="Arial"/>
              </a:rPr>
              <a:t>Loss is concentrated</a:t>
            </a:r>
          </a:p>
        </p:txBody>
      </p:sp>
      <p:sp>
        <p:nvSpPr>
          <p:cNvPr id="9" name="TextBox 8"/>
          <p:cNvSpPr txBox="1"/>
          <p:nvPr/>
        </p:nvSpPr>
        <p:spPr>
          <a:xfrm>
            <a:off x="822959" y="3703320"/>
            <a:ext cx="3017520" cy="1828800"/>
          </a:xfrm>
          <a:prstGeom prst="rect">
            <a:avLst/>
          </a:prstGeom>
          <a:noFill/>
        </p:spPr>
        <p:txBody>
          <a:bodyPr wrap="square" lIns="0" rIns="0" tIns="0" bIns="0" anchor="t">
            <a:spAutoFit/>
          </a:bodyPr>
          <a:lstStyle/>
          <a:p>
            <a:pPr algn="l">
              <a:lnSpc>
                <a:spcPct val="110000"/>
              </a:lnSpc>
            </a:pPr>
            <a:r>
              <a:rPr sz="1600" b="0" i="0">
                <a:solidFill>
                  <a:srgbClr val="4A4F5C"/>
                </a:solidFill>
                <a:latin typeface="Arial"/>
              </a:rPr>
              <a:t>Top 10% of windows carry 44.7% of revenue loss. High-risk windows carry 46.7%.</a:t>
            </a:r>
          </a:p>
        </p:txBody>
      </p:sp>
      <p:sp>
        <p:nvSpPr>
          <p:cNvPr id="10" name="Rounded Rectangle 9"/>
          <p:cNvSpPr/>
          <p:nvPr/>
        </p:nvSpPr>
        <p:spPr>
          <a:xfrm>
            <a:off x="4297679" y="1737360"/>
            <a:ext cx="3520440" cy="338328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71999" y="2011680"/>
            <a:ext cx="548640" cy="548640"/>
          </a:xfrm>
          <a:prstGeom prst="ellipse">
            <a:avLst/>
          </a:prstGeom>
          <a:solidFill>
            <a:srgbClr val="E87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2</a:t>
            </a:r>
          </a:p>
        </p:txBody>
      </p:sp>
      <p:sp>
        <p:nvSpPr>
          <p:cNvPr id="12" name="TextBox 11"/>
          <p:cNvSpPr txBox="1"/>
          <p:nvPr/>
        </p:nvSpPr>
        <p:spPr>
          <a:xfrm>
            <a:off x="4571999" y="2788920"/>
            <a:ext cx="3017520" cy="822960"/>
          </a:xfrm>
          <a:prstGeom prst="rect">
            <a:avLst/>
          </a:prstGeom>
          <a:noFill/>
        </p:spPr>
        <p:txBody>
          <a:bodyPr wrap="square" lIns="0" rIns="0" tIns="0" bIns="0" anchor="t">
            <a:spAutoFit/>
          </a:bodyPr>
          <a:lstStyle/>
          <a:p>
            <a:pPr algn="l"/>
            <a:r>
              <a:rPr sz="2200" b="1" i="0">
                <a:solidFill>
                  <a:srgbClr val="1B1F2A"/>
                </a:solidFill>
                <a:latin typeface="Arial"/>
              </a:rPr>
              <a:t>It tracks controllable levers</a:t>
            </a:r>
          </a:p>
        </p:txBody>
      </p:sp>
      <p:sp>
        <p:nvSpPr>
          <p:cNvPr id="13" name="TextBox 12"/>
          <p:cNvSpPr txBox="1"/>
          <p:nvPr/>
        </p:nvSpPr>
        <p:spPr>
          <a:xfrm>
            <a:off x="4571999" y="3703320"/>
            <a:ext cx="3017520" cy="1828800"/>
          </a:xfrm>
          <a:prstGeom prst="rect">
            <a:avLst/>
          </a:prstGeom>
          <a:noFill/>
        </p:spPr>
        <p:txBody>
          <a:bodyPr wrap="square" lIns="0" rIns="0" tIns="0" bIns="0" anchor="t">
            <a:spAutoFit/>
          </a:bodyPr>
          <a:lstStyle/>
          <a:p>
            <a:pPr algn="l">
              <a:lnSpc>
                <a:spcPct val="110000"/>
              </a:lnSpc>
            </a:pPr>
            <a:r>
              <a:rPr sz="1600" b="0" i="0">
                <a:solidFill>
                  <a:srgbClr val="4A4F5C"/>
                </a:solidFill>
                <a:latin typeface="Arial"/>
              </a:rPr>
              <a:t>Strategy, spares, crew skill and PM discipline each split downtime about 2x to 3x, all statistically real.</a:t>
            </a:r>
          </a:p>
        </p:txBody>
      </p:sp>
      <p:sp>
        <p:nvSpPr>
          <p:cNvPr id="14" name="Rounded Rectangle 13"/>
          <p:cNvSpPr/>
          <p:nvPr/>
        </p:nvSpPr>
        <p:spPr>
          <a:xfrm>
            <a:off x="8046719" y="1737360"/>
            <a:ext cx="3520440" cy="338328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321040" y="2011680"/>
            <a:ext cx="548640" cy="548640"/>
          </a:xfrm>
          <a:prstGeom prst="ellipse">
            <a:avLst/>
          </a:prstGeom>
          <a:solidFill>
            <a:srgbClr val="E87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3</a:t>
            </a:r>
          </a:p>
        </p:txBody>
      </p:sp>
      <p:sp>
        <p:nvSpPr>
          <p:cNvPr id="16" name="TextBox 15"/>
          <p:cNvSpPr txBox="1"/>
          <p:nvPr/>
        </p:nvSpPr>
        <p:spPr>
          <a:xfrm>
            <a:off x="8321040" y="2788920"/>
            <a:ext cx="3017520" cy="822960"/>
          </a:xfrm>
          <a:prstGeom prst="rect">
            <a:avLst/>
          </a:prstGeom>
          <a:noFill/>
        </p:spPr>
        <p:txBody>
          <a:bodyPr wrap="square" lIns="0" rIns="0" tIns="0" bIns="0" anchor="t">
            <a:spAutoFit/>
          </a:bodyPr>
          <a:lstStyle/>
          <a:p>
            <a:pPr algn="l"/>
            <a:r>
              <a:rPr sz="2200" b="1" i="0">
                <a:solidFill>
                  <a:srgbClr val="1B1F2A"/>
                </a:solidFill>
                <a:latin typeface="Arial"/>
              </a:rPr>
              <a:t>The escalation flag misses it</a:t>
            </a:r>
          </a:p>
        </p:txBody>
      </p:sp>
      <p:sp>
        <p:nvSpPr>
          <p:cNvPr id="17" name="TextBox 16"/>
          <p:cNvSpPr txBox="1"/>
          <p:nvPr/>
        </p:nvSpPr>
        <p:spPr>
          <a:xfrm>
            <a:off x="8321040" y="3703320"/>
            <a:ext cx="3017520" cy="1828800"/>
          </a:xfrm>
          <a:prstGeom prst="rect">
            <a:avLst/>
          </a:prstGeom>
          <a:noFill/>
        </p:spPr>
        <p:txBody>
          <a:bodyPr wrap="square" lIns="0" rIns="0" tIns="0" bIns="0" anchor="t">
            <a:spAutoFit/>
          </a:bodyPr>
          <a:lstStyle/>
          <a:p>
            <a:pPr algn="l">
              <a:lnSpc>
                <a:spcPct val="110000"/>
              </a:lnSpc>
            </a:pPr>
            <a:r>
              <a:rPr sz="1600" b="0" i="0">
                <a:solidFill>
                  <a:srgbClr val="4A4F5C"/>
                </a:solidFill>
                <a:latin typeface="Arial"/>
              </a:rPr>
              <a:t>829 of 960 high-risk windows sit at P3/P4, carrying EGP 723M of exposure.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8229600" cy="274320"/>
          </a:xfrm>
          <a:prstGeom prst="rect">
            <a:avLst/>
          </a:prstGeom>
          <a:noFill/>
        </p:spPr>
        <p:txBody>
          <a:bodyPr wrap="square" lIns="0" rIns="0" tIns="0" bIns="0" anchor="t">
            <a:spAutoFit/>
          </a:bodyPr>
          <a:lstStyle/>
          <a:p>
            <a:pPr algn="l"/>
            <a:r>
              <a:rPr sz="1200" b="1" i="0">
                <a:solidFill>
                  <a:srgbClr val="E8762C"/>
                </a:solidFill>
                <a:latin typeface="Arial"/>
              </a:rPr>
              <a:t>CONTENTS</a:t>
            </a:r>
          </a:p>
        </p:txBody>
      </p:sp>
      <p:sp>
        <p:nvSpPr>
          <p:cNvPr id="3" name="TextBox 2"/>
          <p:cNvSpPr txBox="1"/>
          <p:nvPr/>
        </p:nvSpPr>
        <p:spPr>
          <a:xfrm>
            <a:off x="548640" y="521208"/>
            <a:ext cx="11094415" cy="868680"/>
          </a:xfrm>
          <a:prstGeom prst="rect">
            <a:avLst/>
          </a:prstGeom>
          <a:noFill/>
        </p:spPr>
        <p:txBody>
          <a:bodyPr wrap="square" lIns="0" rIns="0" tIns="0" bIns="0" anchor="t">
            <a:spAutoFit/>
          </a:bodyPr>
          <a:lstStyle/>
          <a:p>
            <a:pPr algn="l"/>
            <a:r>
              <a:rPr sz="3000" b="1" i="0">
                <a:solidFill>
                  <a:srgbClr val="1B1F2A"/>
                </a:solidFill>
                <a:latin typeface="Arial"/>
              </a:rPr>
              <a:t>Agenda</a:t>
            </a:r>
          </a:p>
        </p:txBody>
      </p:sp>
      <p:sp>
        <p:nvSpPr>
          <p:cNvPr id="4" name="TextBox 3"/>
          <p:cNvSpPr txBox="1"/>
          <p:nvPr/>
        </p:nvSpPr>
        <p:spPr>
          <a:xfrm>
            <a:off x="548640" y="6473952"/>
            <a:ext cx="8229600" cy="228600"/>
          </a:xfrm>
          <a:prstGeom prst="rect">
            <a:avLst/>
          </a:prstGeom>
          <a:noFill/>
        </p:spPr>
        <p:txBody>
          <a:bodyPr wrap="square" lIns="0" rIns="0" tIns="0" bIns="0" anchor="t">
            <a:spAutoFit/>
          </a:bodyPr>
          <a:lstStyle/>
          <a:p>
            <a:pPr algn="l"/>
            <a:r>
              <a:rPr sz="1000" b="0" i="0">
                <a:solidFill>
                  <a:srgbClr val="6B707C"/>
                </a:solidFill>
                <a:latin typeface="Arial"/>
              </a:rPr>
              <a:t>Source: Group_9230_Team1_PMARIS_Enterprise_Dataset.csv, 5,000 observation windows</a:t>
            </a:r>
          </a:p>
        </p:txBody>
      </p:sp>
      <p:sp>
        <p:nvSpPr>
          <p:cNvPr id="5" name="TextBox 4"/>
          <p:cNvSpPr txBox="1"/>
          <p:nvPr/>
        </p:nvSpPr>
        <p:spPr>
          <a:xfrm>
            <a:off x="10271455" y="6473952"/>
            <a:ext cx="1371600" cy="228600"/>
          </a:xfrm>
          <a:prstGeom prst="rect">
            <a:avLst/>
          </a:prstGeom>
          <a:noFill/>
        </p:spPr>
        <p:txBody>
          <a:bodyPr wrap="square" lIns="0" rIns="0" tIns="0" bIns="0" anchor="t">
            <a:spAutoFit/>
          </a:bodyPr>
          <a:lstStyle/>
          <a:p>
            <a:pPr algn="r"/>
            <a:r>
              <a:rPr sz="1000" b="0" i="0">
                <a:solidFill>
                  <a:srgbClr val="6B707C"/>
                </a:solidFill>
                <a:latin typeface="Arial"/>
              </a:rPr>
              <a:t>3 / 30</a:t>
            </a:r>
          </a:p>
        </p:txBody>
      </p:sp>
      <p:sp>
        <p:nvSpPr>
          <p:cNvPr id="6" name="Oval 5"/>
          <p:cNvSpPr/>
          <p:nvPr/>
        </p:nvSpPr>
        <p:spPr>
          <a:xfrm>
            <a:off x="548640" y="1691640"/>
            <a:ext cx="640080" cy="64008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7" name="TextBox 6"/>
          <p:cNvSpPr txBox="1"/>
          <p:nvPr/>
        </p:nvSpPr>
        <p:spPr>
          <a:xfrm>
            <a:off x="1463040" y="1673352"/>
            <a:ext cx="9144000" cy="411480"/>
          </a:xfrm>
          <a:prstGeom prst="rect">
            <a:avLst/>
          </a:prstGeom>
          <a:noFill/>
        </p:spPr>
        <p:txBody>
          <a:bodyPr wrap="square" lIns="0" rIns="0" tIns="0" bIns="0" anchor="t">
            <a:spAutoFit/>
          </a:bodyPr>
          <a:lstStyle/>
          <a:p>
            <a:pPr algn="l"/>
            <a:r>
              <a:rPr sz="2200" b="1" i="0">
                <a:solidFill>
                  <a:srgbClr val="1B1F2A"/>
                </a:solidFill>
                <a:latin typeface="Arial"/>
              </a:rPr>
              <a:t>The data and how we read it</a:t>
            </a:r>
          </a:p>
        </p:txBody>
      </p:sp>
      <p:sp>
        <p:nvSpPr>
          <p:cNvPr id="8" name="TextBox 7"/>
          <p:cNvSpPr txBox="1"/>
          <p:nvPr/>
        </p:nvSpPr>
        <p:spPr>
          <a:xfrm>
            <a:off x="1463040" y="2103120"/>
            <a:ext cx="9144000" cy="365760"/>
          </a:xfrm>
          <a:prstGeom prst="rect">
            <a:avLst/>
          </a:prstGeom>
          <a:noFill/>
        </p:spPr>
        <p:txBody>
          <a:bodyPr wrap="square" lIns="0" rIns="0" tIns="0" bIns="0" anchor="t">
            <a:spAutoFit/>
          </a:bodyPr>
          <a:lstStyle/>
          <a:p>
            <a:pPr algn="l"/>
            <a:r>
              <a:rPr sz="1500" b="0" i="0">
                <a:solidFill>
                  <a:srgbClr val="4A4F5C"/>
                </a:solidFill>
                <a:latin typeface="Arial"/>
              </a:rPr>
              <a:t>Intake, cleaning, one broken key, the significance gate</a:t>
            </a:r>
          </a:p>
        </p:txBody>
      </p:sp>
      <p:sp>
        <p:nvSpPr>
          <p:cNvPr id="9" name="Oval 8"/>
          <p:cNvSpPr/>
          <p:nvPr/>
        </p:nvSpPr>
        <p:spPr>
          <a:xfrm>
            <a:off x="548640" y="2770632"/>
            <a:ext cx="640080" cy="64008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0" name="TextBox 9"/>
          <p:cNvSpPr txBox="1"/>
          <p:nvPr/>
        </p:nvSpPr>
        <p:spPr>
          <a:xfrm>
            <a:off x="1463040" y="2752344"/>
            <a:ext cx="9144000" cy="411480"/>
          </a:xfrm>
          <a:prstGeom prst="rect">
            <a:avLst/>
          </a:prstGeom>
          <a:noFill/>
        </p:spPr>
        <p:txBody>
          <a:bodyPr wrap="square" lIns="0" rIns="0" tIns="0" bIns="0" anchor="t">
            <a:spAutoFit/>
          </a:bodyPr>
          <a:lstStyle/>
          <a:p>
            <a:pPr algn="l"/>
            <a:r>
              <a:rPr sz="2200" b="1" i="0">
                <a:solidFill>
                  <a:srgbClr val="1B1F2A"/>
                </a:solidFill>
                <a:latin typeface="Arial"/>
              </a:rPr>
              <a:t>Where the loss is</a:t>
            </a:r>
          </a:p>
        </p:txBody>
      </p:sp>
      <p:sp>
        <p:nvSpPr>
          <p:cNvPr id="11" name="TextBox 10"/>
          <p:cNvSpPr txBox="1"/>
          <p:nvPr/>
        </p:nvSpPr>
        <p:spPr>
          <a:xfrm>
            <a:off x="1463040" y="3182112"/>
            <a:ext cx="9144000" cy="365760"/>
          </a:xfrm>
          <a:prstGeom prst="rect">
            <a:avLst/>
          </a:prstGeom>
          <a:noFill/>
        </p:spPr>
        <p:txBody>
          <a:bodyPr wrap="square" lIns="0" rIns="0" tIns="0" bIns="0" anchor="t">
            <a:spAutoFit/>
          </a:bodyPr>
          <a:lstStyle/>
          <a:p>
            <a:pPr algn="l"/>
            <a:r>
              <a:rPr sz="1500" b="0" i="0">
                <a:solidFill>
                  <a:srgbClr val="4A4F5C"/>
                </a:solidFill>
                <a:latin typeface="Arial"/>
              </a:rPr>
              <a:t>Concentration, health, and a flat year</a:t>
            </a:r>
          </a:p>
        </p:txBody>
      </p:sp>
      <p:sp>
        <p:nvSpPr>
          <p:cNvPr id="12" name="Oval 11"/>
          <p:cNvSpPr/>
          <p:nvPr/>
        </p:nvSpPr>
        <p:spPr>
          <a:xfrm>
            <a:off x="548640" y="3849624"/>
            <a:ext cx="640080" cy="64008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3" name="TextBox 12"/>
          <p:cNvSpPr txBox="1"/>
          <p:nvPr/>
        </p:nvSpPr>
        <p:spPr>
          <a:xfrm>
            <a:off x="1463040" y="3831336"/>
            <a:ext cx="9144000" cy="411480"/>
          </a:xfrm>
          <a:prstGeom prst="rect">
            <a:avLst/>
          </a:prstGeom>
          <a:noFill/>
        </p:spPr>
        <p:txBody>
          <a:bodyPr wrap="square" lIns="0" rIns="0" tIns="0" bIns="0" anchor="t">
            <a:spAutoFit/>
          </a:bodyPr>
          <a:lstStyle/>
          <a:p>
            <a:pPr algn="l"/>
            <a:r>
              <a:rPr sz="2200" b="1" i="0">
                <a:solidFill>
                  <a:srgbClr val="1B1F2A"/>
                </a:solidFill>
                <a:latin typeface="Arial"/>
              </a:rPr>
              <a:t>The levers</a:t>
            </a:r>
          </a:p>
        </p:txBody>
      </p:sp>
      <p:sp>
        <p:nvSpPr>
          <p:cNvPr id="14" name="TextBox 13"/>
          <p:cNvSpPr txBox="1"/>
          <p:nvPr/>
        </p:nvSpPr>
        <p:spPr>
          <a:xfrm>
            <a:off x="1463040" y="4261104"/>
            <a:ext cx="9144000" cy="365760"/>
          </a:xfrm>
          <a:prstGeom prst="rect">
            <a:avLst/>
          </a:prstGeom>
          <a:noFill/>
        </p:spPr>
        <p:txBody>
          <a:bodyPr wrap="square" lIns="0" rIns="0" tIns="0" bIns="0" anchor="t">
            <a:spAutoFit/>
          </a:bodyPr>
          <a:lstStyle/>
          <a:p>
            <a:pPr algn="l"/>
            <a:r>
              <a:rPr sz="1500" b="0" i="0">
                <a:solidFill>
                  <a:srgbClr val="4A4F5C"/>
                </a:solidFill>
                <a:latin typeface="Arial"/>
              </a:rPr>
              <a:t>Strategy, spares, crew skill, PM discipline</a:t>
            </a:r>
          </a:p>
        </p:txBody>
      </p:sp>
      <p:sp>
        <p:nvSpPr>
          <p:cNvPr id="15" name="Oval 14"/>
          <p:cNvSpPr/>
          <p:nvPr/>
        </p:nvSpPr>
        <p:spPr>
          <a:xfrm>
            <a:off x="548640" y="4928616"/>
            <a:ext cx="640080" cy="64008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6" name="TextBox 15"/>
          <p:cNvSpPr txBox="1"/>
          <p:nvPr/>
        </p:nvSpPr>
        <p:spPr>
          <a:xfrm>
            <a:off x="1463040" y="4910328"/>
            <a:ext cx="9144000" cy="411480"/>
          </a:xfrm>
          <a:prstGeom prst="rect">
            <a:avLst/>
          </a:prstGeom>
          <a:noFill/>
        </p:spPr>
        <p:txBody>
          <a:bodyPr wrap="square" lIns="0" rIns="0" tIns="0" bIns="0" anchor="t">
            <a:spAutoFit/>
          </a:bodyPr>
          <a:lstStyle/>
          <a:p>
            <a:pPr algn="l"/>
            <a:r>
              <a:rPr sz="2200" b="1" i="0">
                <a:solidFill>
                  <a:srgbClr val="1B1F2A"/>
                </a:solidFill>
                <a:latin typeface="Arial"/>
              </a:rPr>
              <a:t>The escalation gap, and what to do</a:t>
            </a:r>
          </a:p>
        </p:txBody>
      </p:sp>
      <p:sp>
        <p:nvSpPr>
          <p:cNvPr id="17" name="TextBox 16"/>
          <p:cNvSpPr txBox="1"/>
          <p:nvPr/>
        </p:nvSpPr>
        <p:spPr>
          <a:xfrm>
            <a:off x="1463040" y="5340096"/>
            <a:ext cx="9144000" cy="365760"/>
          </a:xfrm>
          <a:prstGeom prst="rect">
            <a:avLst/>
          </a:prstGeom>
          <a:noFill/>
        </p:spPr>
        <p:txBody>
          <a:bodyPr wrap="square" lIns="0" rIns="0" tIns="0" bIns="0" anchor="t">
            <a:spAutoFit/>
          </a:bodyPr>
          <a:lstStyle/>
          <a:p>
            <a:pPr algn="l"/>
            <a:r>
              <a:rPr sz="1500" b="0" i="0">
                <a:solidFill>
                  <a:srgbClr val="4A4F5C"/>
                </a:solidFill>
                <a:latin typeface="Arial"/>
              </a:rPr>
              <a:t>The flag, the proposed rule, the dashboard, recommendations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Oval 1"/>
          <p:cNvSpPr/>
          <p:nvPr/>
        </p:nvSpPr>
        <p:spPr>
          <a:xfrm>
            <a:off x="548640" y="2148840"/>
            <a:ext cx="822960" cy="822960"/>
          </a:xfrm>
          <a:prstGeom prst="ellipse">
            <a:avLst/>
          </a:prstGeom>
          <a:solidFill>
            <a:srgbClr val="E87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800" b="1">
                <a:solidFill>
                  <a:srgbClr val="FFFFFF"/>
                </a:solidFill>
                <a:latin typeface="Arial"/>
              </a:rPr>
              <a:t>A</a:t>
            </a:r>
          </a:p>
        </p:txBody>
      </p:sp>
      <p:sp>
        <p:nvSpPr>
          <p:cNvPr id="3" name="TextBox 2"/>
          <p:cNvSpPr txBox="1"/>
          <p:nvPr/>
        </p:nvSpPr>
        <p:spPr>
          <a:xfrm>
            <a:off x="548640" y="3200400"/>
            <a:ext cx="10058400" cy="1097280"/>
          </a:xfrm>
          <a:prstGeom prst="rect">
            <a:avLst/>
          </a:prstGeom>
          <a:noFill/>
        </p:spPr>
        <p:txBody>
          <a:bodyPr wrap="square" lIns="0" rIns="0" tIns="0" bIns="0" anchor="t">
            <a:spAutoFit/>
          </a:bodyPr>
          <a:lstStyle/>
          <a:p>
            <a:pPr algn="l"/>
            <a:r>
              <a:rPr sz="4000" b="1" i="0">
                <a:solidFill>
                  <a:srgbClr val="FFFFFF"/>
                </a:solidFill>
                <a:latin typeface="Arial"/>
              </a:rPr>
              <a:t>The data and how we read it</a:t>
            </a:r>
          </a:p>
        </p:txBody>
      </p:sp>
      <p:sp>
        <p:nvSpPr>
          <p:cNvPr id="4" name="TextBox 3"/>
          <p:cNvSpPr txBox="1"/>
          <p:nvPr/>
        </p:nvSpPr>
        <p:spPr>
          <a:xfrm>
            <a:off x="548640" y="4343400"/>
            <a:ext cx="9601200" cy="914400"/>
          </a:xfrm>
          <a:prstGeom prst="rect">
            <a:avLst/>
          </a:prstGeom>
          <a:noFill/>
        </p:spPr>
        <p:txBody>
          <a:bodyPr wrap="square" lIns="0" rIns="0" tIns="0" bIns="0" anchor="t">
            <a:spAutoFit/>
          </a:bodyPr>
          <a:lstStyle/>
          <a:p>
            <a:pPr algn="l"/>
            <a:r>
              <a:rPr sz="1800" b="0" i="0">
                <a:solidFill>
                  <a:srgbClr val="C9D6EA"/>
                </a:solidFill>
                <a:latin typeface="Arial"/>
              </a:rPr>
              <a:t>A clean file with real signal, and one key that cannot be trusted</a:t>
            </a:r>
          </a:p>
        </p:txBody>
      </p:sp>
      <p:sp>
        <p:nvSpPr>
          <p:cNvPr id="5" name="TextBox 4"/>
          <p:cNvSpPr txBox="1"/>
          <p:nvPr/>
        </p:nvSpPr>
        <p:spPr>
          <a:xfrm>
            <a:off x="548640" y="6473952"/>
            <a:ext cx="8229600" cy="228600"/>
          </a:xfrm>
          <a:prstGeom prst="rect">
            <a:avLst/>
          </a:prstGeom>
          <a:noFill/>
        </p:spPr>
        <p:txBody>
          <a:bodyPr wrap="square" lIns="0" rIns="0" tIns="0" bIns="0" anchor="t">
            <a:spAutoFit/>
          </a:bodyPr>
          <a:lstStyle/>
          <a:p>
            <a:pPr algn="l"/>
            <a:r>
              <a:rPr sz="1000" b="0" i="0">
                <a:solidFill>
                  <a:srgbClr val="C9D6EA"/>
                </a:solidFill>
                <a:latin typeface="Arial"/>
              </a:rPr>
              <a:t>Source: Group_9230_Team1_PMARIS_Enterprise_Dataset.csv, 5,000 observation windows</a:t>
            </a:r>
          </a:p>
        </p:txBody>
      </p:sp>
      <p:sp>
        <p:nvSpPr>
          <p:cNvPr id="6" name="TextBox 5"/>
          <p:cNvSpPr txBox="1"/>
          <p:nvPr/>
        </p:nvSpPr>
        <p:spPr>
          <a:xfrm>
            <a:off x="10271455" y="6473952"/>
            <a:ext cx="1371600" cy="228600"/>
          </a:xfrm>
          <a:prstGeom prst="rect">
            <a:avLst/>
          </a:prstGeom>
          <a:noFill/>
        </p:spPr>
        <p:txBody>
          <a:bodyPr wrap="square" lIns="0" rIns="0" tIns="0" bIns="0" anchor="t">
            <a:spAutoFit/>
          </a:bodyPr>
          <a:lstStyle/>
          <a:p>
            <a:pPr algn="r"/>
            <a:r>
              <a:rPr sz="1000" b="0" i="0">
                <a:solidFill>
                  <a:srgbClr val="C9D6EA"/>
                </a:solidFill>
                <a:latin typeface="Arial"/>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8229600" cy="274320"/>
          </a:xfrm>
          <a:prstGeom prst="rect">
            <a:avLst/>
          </a:prstGeom>
          <a:noFill/>
        </p:spPr>
        <p:txBody>
          <a:bodyPr wrap="square" lIns="0" rIns="0" tIns="0" bIns="0" anchor="t">
            <a:spAutoFit/>
          </a:bodyPr>
          <a:lstStyle/>
          <a:p>
            <a:pPr algn="l"/>
            <a:r>
              <a:rPr sz="1200" b="1" i="0">
                <a:solidFill>
                  <a:srgbClr val="E8762C"/>
                </a:solidFill>
                <a:latin typeface="Arial"/>
              </a:rPr>
              <a:t>THE DATA</a:t>
            </a:r>
          </a:p>
        </p:txBody>
      </p:sp>
      <p:sp>
        <p:nvSpPr>
          <p:cNvPr id="3" name="TextBox 2"/>
          <p:cNvSpPr txBox="1"/>
          <p:nvPr/>
        </p:nvSpPr>
        <p:spPr>
          <a:xfrm>
            <a:off x="548640" y="521208"/>
            <a:ext cx="11094415" cy="868680"/>
          </a:xfrm>
          <a:prstGeom prst="rect">
            <a:avLst/>
          </a:prstGeom>
          <a:noFill/>
        </p:spPr>
        <p:txBody>
          <a:bodyPr wrap="square" lIns="0" rIns="0" tIns="0" bIns="0" anchor="t">
            <a:spAutoFit/>
          </a:bodyPr>
          <a:lstStyle/>
          <a:p>
            <a:pPr algn="l"/>
            <a:r>
              <a:rPr sz="3000" b="1" i="0">
                <a:solidFill>
                  <a:srgbClr val="1B1F2A"/>
                </a:solidFill>
                <a:latin typeface="Arial"/>
              </a:rPr>
              <a:t>One flat file: 5,000 thirty-day windows across six sites</a:t>
            </a:r>
          </a:p>
        </p:txBody>
      </p:sp>
      <p:sp>
        <p:nvSpPr>
          <p:cNvPr id="4" name="TextBox 3"/>
          <p:cNvSpPr txBox="1"/>
          <p:nvPr/>
        </p:nvSpPr>
        <p:spPr>
          <a:xfrm>
            <a:off x="548640" y="6473952"/>
            <a:ext cx="8229600" cy="228600"/>
          </a:xfrm>
          <a:prstGeom prst="rect">
            <a:avLst/>
          </a:prstGeom>
          <a:noFill/>
        </p:spPr>
        <p:txBody>
          <a:bodyPr wrap="square" lIns="0" rIns="0" tIns="0" bIns="0" anchor="t">
            <a:spAutoFit/>
          </a:bodyPr>
          <a:lstStyle/>
          <a:p>
            <a:pPr algn="l"/>
            <a:r>
              <a:rPr sz="1000" b="0" i="0">
                <a:solidFill>
                  <a:srgbClr val="6B707C"/>
                </a:solidFill>
                <a:latin typeface="Arial"/>
              </a:rPr>
              <a:t>Source: Group_9230_Team1_PMARIS_Enterprise_Dataset.csv, 5,000 observation windows</a:t>
            </a:r>
          </a:p>
        </p:txBody>
      </p:sp>
      <p:sp>
        <p:nvSpPr>
          <p:cNvPr id="5" name="TextBox 4"/>
          <p:cNvSpPr txBox="1"/>
          <p:nvPr/>
        </p:nvSpPr>
        <p:spPr>
          <a:xfrm>
            <a:off x="10271455" y="6473952"/>
            <a:ext cx="1371600" cy="228600"/>
          </a:xfrm>
          <a:prstGeom prst="rect">
            <a:avLst/>
          </a:prstGeom>
          <a:noFill/>
        </p:spPr>
        <p:txBody>
          <a:bodyPr wrap="square" lIns="0" rIns="0" tIns="0" bIns="0" anchor="t">
            <a:spAutoFit/>
          </a:bodyPr>
          <a:lstStyle/>
          <a:p>
            <a:pPr algn="r"/>
            <a:r>
              <a:rPr sz="1000" b="0" i="0">
                <a:solidFill>
                  <a:srgbClr val="6B707C"/>
                </a:solidFill>
                <a:latin typeface="Arial"/>
              </a:rPr>
              <a:t>5 / 30</a:t>
            </a:r>
          </a:p>
        </p:txBody>
      </p:sp>
      <p:sp>
        <p:nvSpPr>
          <p:cNvPr id="6" name="Rounded Rectangle 5"/>
          <p:cNvSpPr/>
          <p:nvPr/>
        </p:nvSpPr>
        <p:spPr>
          <a:xfrm>
            <a:off x="548640" y="1645920"/>
            <a:ext cx="2606040" cy="173736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47088"/>
            <a:ext cx="2148840" cy="685800"/>
          </a:xfrm>
          <a:prstGeom prst="rect">
            <a:avLst/>
          </a:prstGeom>
          <a:noFill/>
        </p:spPr>
        <p:txBody>
          <a:bodyPr wrap="square" lIns="0" rIns="0" tIns="0" bIns="0" anchor="t">
            <a:spAutoFit/>
          </a:bodyPr>
          <a:lstStyle/>
          <a:p>
            <a:pPr algn="l"/>
            <a:r>
              <a:rPr sz="4000" b="1" i="0">
                <a:solidFill>
                  <a:srgbClr val="1B1F2A"/>
                </a:solidFill>
                <a:latin typeface="Arial"/>
              </a:rPr>
              <a:t>5,000</a:t>
            </a:r>
          </a:p>
        </p:txBody>
      </p:sp>
      <p:sp>
        <p:nvSpPr>
          <p:cNvPr id="8" name="TextBox 7"/>
          <p:cNvSpPr txBox="1"/>
          <p:nvPr/>
        </p:nvSpPr>
        <p:spPr>
          <a:xfrm>
            <a:off x="777240" y="2482088"/>
            <a:ext cx="2148840" cy="645159"/>
          </a:xfrm>
          <a:prstGeom prst="rect">
            <a:avLst/>
          </a:prstGeom>
          <a:noFill/>
        </p:spPr>
        <p:txBody>
          <a:bodyPr wrap="square" lIns="0" rIns="0" tIns="0" bIns="0" anchor="t">
            <a:spAutoFit/>
          </a:bodyPr>
          <a:lstStyle/>
          <a:p>
            <a:pPr algn="l"/>
            <a:r>
              <a:rPr sz="1400" b="0" i="0">
                <a:solidFill>
                  <a:srgbClr val="4A4F5C"/>
                </a:solidFill>
                <a:latin typeface="Arial"/>
              </a:rPr>
              <a:t>observation windows (rows)</a:t>
            </a:r>
          </a:p>
        </p:txBody>
      </p:sp>
      <p:sp>
        <p:nvSpPr>
          <p:cNvPr id="9" name="Rounded Rectangle 8"/>
          <p:cNvSpPr/>
          <p:nvPr/>
        </p:nvSpPr>
        <p:spPr>
          <a:xfrm>
            <a:off x="3383280" y="1645920"/>
            <a:ext cx="2606040" cy="173736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11880" y="1847088"/>
            <a:ext cx="2148840" cy="685800"/>
          </a:xfrm>
          <a:prstGeom prst="rect">
            <a:avLst/>
          </a:prstGeom>
          <a:noFill/>
        </p:spPr>
        <p:txBody>
          <a:bodyPr wrap="square" lIns="0" rIns="0" tIns="0" bIns="0" anchor="t">
            <a:spAutoFit/>
          </a:bodyPr>
          <a:lstStyle/>
          <a:p>
            <a:pPr algn="l"/>
            <a:r>
              <a:rPr sz="4000" b="1" i="0">
                <a:solidFill>
                  <a:srgbClr val="1B1F2A"/>
                </a:solidFill>
                <a:latin typeface="Arial"/>
              </a:rPr>
              <a:t>60</a:t>
            </a:r>
          </a:p>
        </p:txBody>
      </p:sp>
      <p:sp>
        <p:nvSpPr>
          <p:cNvPr id="11" name="TextBox 10"/>
          <p:cNvSpPr txBox="1"/>
          <p:nvPr/>
        </p:nvSpPr>
        <p:spPr>
          <a:xfrm>
            <a:off x="3611880" y="2482088"/>
            <a:ext cx="2148840" cy="645159"/>
          </a:xfrm>
          <a:prstGeom prst="rect">
            <a:avLst/>
          </a:prstGeom>
          <a:noFill/>
        </p:spPr>
        <p:txBody>
          <a:bodyPr wrap="square" lIns="0" rIns="0" tIns="0" bIns="0" anchor="t">
            <a:spAutoFit/>
          </a:bodyPr>
          <a:lstStyle/>
          <a:p>
            <a:pPr algn="l"/>
            <a:r>
              <a:rPr sz="1400" b="0" i="0">
                <a:solidFill>
                  <a:srgbClr val="4A4F5C"/>
                </a:solidFill>
                <a:latin typeface="Arial"/>
              </a:rPr>
              <a:t>columns: 41 numeric, 16 categorical</a:t>
            </a:r>
          </a:p>
        </p:txBody>
      </p:sp>
      <p:sp>
        <p:nvSpPr>
          <p:cNvPr id="12" name="Rounded Rectangle 11"/>
          <p:cNvSpPr/>
          <p:nvPr/>
        </p:nvSpPr>
        <p:spPr>
          <a:xfrm>
            <a:off x="6217920" y="1645920"/>
            <a:ext cx="2606040" cy="173736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847088"/>
            <a:ext cx="2148840" cy="685800"/>
          </a:xfrm>
          <a:prstGeom prst="rect">
            <a:avLst/>
          </a:prstGeom>
          <a:noFill/>
        </p:spPr>
        <p:txBody>
          <a:bodyPr wrap="square" lIns="0" rIns="0" tIns="0" bIns="0" anchor="t">
            <a:spAutoFit/>
          </a:bodyPr>
          <a:lstStyle/>
          <a:p>
            <a:pPr algn="l"/>
            <a:r>
              <a:rPr sz="4000" b="1" i="0">
                <a:solidFill>
                  <a:srgbClr val="1B1F2A"/>
                </a:solidFill>
                <a:latin typeface="Arial"/>
              </a:rPr>
              <a:t>6</a:t>
            </a:r>
          </a:p>
        </p:txBody>
      </p:sp>
      <p:sp>
        <p:nvSpPr>
          <p:cNvPr id="14" name="TextBox 13"/>
          <p:cNvSpPr txBox="1"/>
          <p:nvPr/>
        </p:nvSpPr>
        <p:spPr>
          <a:xfrm>
            <a:off x="6446520" y="2482088"/>
            <a:ext cx="2148840" cy="645159"/>
          </a:xfrm>
          <a:prstGeom prst="rect">
            <a:avLst/>
          </a:prstGeom>
          <a:noFill/>
        </p:spPr>
        <p:txBody>
          <a:bodyPr wrap="square" lIns="0" rIns="0" tIns="0" bIns="0" anchor="t">
            <a:spAutoFit/>
          </a:bodyPr>
          <a:lstStyle/>
          <a:p>
            <a:pPr algn="l"/>
            <a:r>
              <a:rPr sz="1400" b="0" i="0">
                <a:solidFill>
                  <a:srgbClr val="4A4F5C"/>
                </a:solidFill>
                <a:latin typeface="Arial"/>
              </a:rPr>
              <a:t>sites across 4 industries</a:t>
            </a:r>
          </a:p>
        </p:txBody>
      </p:sp>
      <p:sp>
        <p:nvSpPr>
          <p:cNvPr id="15" name="Rounded Rectangle 14"/>
          <p:cNvSpPr/>
          <p:nvPr/>
        </p:nvSpPr>
        <p:spPr>
          <a:xfrm>
            <a:off x="9052560" y="1645920"/>
            <a:ext cx="2606040" cy="173736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81160" y="1847088"/>
            <a:ext cx="2148840" cy="685800"/>
          </a:xfrm>
          <a:prstGeom prst="rect">
            <a:avLst/>
          </a:prstGeom>
          <a:noFill/>
        </p:spPr>
        <p:txBody>
          <a:bodyPr wrap="square" lIns="0" rIns="0" tIns="0" bIns="0" anchor="t">
            <a:spAutoFit/>
          </a:bodyPr>
          <a:lstStyle/>
          <a:p>
            <a:pPr algn="l"/>
            <a:r>
              <a:rPr sz="4000" b="1" i="0">
                <a:solidFill>
                  <a:srgbClr val="1B1F2A"/>
                </a:solidFill>
                <a:latin typeface="Arial"/>
              </a:rPr>
              <a:t>12</a:t>
            </a:r>
          </a:p>
        </p:txBody>
      </p:sp>
      <p:sp>
        <p:nvSpPr>
          <p:cNvPr id="17" name="TextBox 16"/>
          <p:cNvSpPr txBox="1"/>
          <p:nvPr/>
        </p:nvSpPr>
        <p:spPr>
          <a:xfrm>
            <a:off x="9281160" y="2482088"/>
            <a:ext cx="2148840" cy="645159"/>
          </a:xfrm>
          <a:prstGeom prst="rect">
            <a:avLst/>
          </a:prstGeom>
          <a:noFill/>
        </p:spPr>
        <p:txBody>
          <a:bodyPr wrap="square" lIns="0" rIns="0" tIns="0" bIns="0" anchor="t">
            <a:spAutoFit/>
          </a:bodyPr>
          <a:lstStyle/>
          <a:p>
            <a:pPr algn="l"/>
            <a:r>
              <a:rPr sz="1400" b="0" i="0">
                <a:solidFill>
                  <a:srgbClr val="4A4F5C"/>
                </a:solidFill>
                <a:latin typeface="Arial"/>
              </a:rPr>
              <a:t>months, Sep 2025 to Aug 2026</a:t>
            </a:r>
          </a:p>
        </p:txBody>
      </p:sp>
      <p:graphicFrame>
        <p:nvGraphicFramePr>
          <p:cNvPr id="18" name="Chart 17"/>
          <p:cNvGraphicFramePr>
            <a:graphicFrameLocks noGrp="1"/>
          </p:cNvGraphicFramePr>
          <p:nvPr/>
        </p:nvGraphicFramePr>
        <p:xfrm>
          <a:off x="548640" y="3657600"/>
          <a:ext cx="6766560" cy="2743200"/>
        </p:xfrm>
        <a:graphic>
          <a:graphicData uri="http://schemas.openxmlformats.org/drawingml/2006/chart">
            <c:chart xmlns:c="http://schemas.openxmlformats.org/drawingml/2006/chart" r:id="rId3"/>
          </a:graphicData>
        </a:graphic>
      </p:graphicFrame>
      <p:sp>
        <p:nvSpPr>
          <p:cNvPr id="19" name="TextBox 18"/>
          <p:cNvSpPr txBox="1"/>
          <p:nvPr/>
        </p:nvSpPr>
        <p:spPr>
          <a:xfrm>
            <a:off x="7680960" y="3794760"/>
            <a:ext cx="3931920" cy="365760"/>
          </a:xfrm>
          <a:prstGeom prst="rect">
            <a:avLst/>
          </a:prstGeom>
          <a:noFill/>
        </p:spPr>
        <p:txBody>
          <a:bodyPr wrap="square" lIns="0" rIns="0" tIns="0" bIns="0" anchor="t">
            <a:spAutoFit/>
          </a:bodyPr>
          <a:lstStyle/>
          <a:p>
            <a:pPr algn="l"/>
            <a:r>
              <a:rPr sz="1600" b="1" i="0">
                <a:solidFill>
                  <a:srgbClr val="1B1F2A"/>
                </a:solidFill>
                <a:latin typeface="Arial"/>
              </a:rPr>
              <a:t>Industries covered</a:t>
            </a:r>
          </a:p>
        </p:txBody>
      </p:sp>
      <p:sp>
        <p:nvSpPr>
          <p:cNvPr id="20" name="TextBox 19"/>
          <p:cNvSpPr txBox="1"/>
          <p:nvPr/>
        </p:nvSpPr>
        <p:spPr>
          <a:xfrm>
            <a:off x="7680960" y="4251960"/>
            <a:ext cx="4023360" cy="2194560"/>
          </a:xfrm>
          <a:prstGeom prst="rect">
            <a:avLst/>
          </a:prstGeom>
          <a:noFill/>
        </p:spPr>
        <p:txBody>
          <a:bodyPr wrap="square" lIns="0" rIns="0" tIns="0" bIns="0" anchor="t">
            <a:spAutoFit/>
          </a:bodyPr>
          <a:lstStyle/>
          <a:p>
            <a:pPr algn="l">
              <a:spcAft>
                <a:spcPts val="600"/>
              </a:spcAft>
            </a:pPr>
            <a:r>
              <a:rPr sz="900">
                <a:solidFill>
                  <a:srgbClr val="E8762C"/>
                </a:solidFill>
                <a:latin typeface="Arial"/>
              </a:rPr>
              <a:t>■  </a:t>
            </a:r>
            <a:r>
              <a:rPr sz="1500" b="0">
                <a:solidFill>
                  <a:srgbClr val="1B1F2A"/>
                </a:solidFill>
                <a:latin typeface="Arial"/>
              </a:rPr>
              <a:t>Cement manufacturing (2 plants)</a:t>
            </a:r>
          </a:p>
          <a:p>
            <a:pPr>
              <a:spcAft>
                <a:spcPts val="600"/>
              </a:spcAft>
            </a:pPr>
            <a:r>
              <a:rPr sz="900">
                <a:solidFill>
                  <a:srgbClr val="E8762C"/>
                </a:solidFill>
                <a:latin typeface="Arial"/>
              </a:rPr>
              <a:t>■  </a:t>
            </a:r>
            <a:r>
              <a:rPr sz="1500" b="0">
                <a:solidFill>
                  <a:srgbClr val="1B1F2A"/>
                </a:solidFill>
                <a:latin typeface="Arial"/>
              </a:rPr>
              <a:t>Oil &amp; gas drilling (2 sites)</a:t>
            </a:r>
          </a:p>
          <a:p>
            <a:pPr>
              <a:spcAft>
                <a:spcPts val="600"/>
              </a:spcAft>
            </a:pPr>
            <a:r>
              <a:rPr sz="900">
                <a:solidFill>
                  <a:srgbClr val="E8762C"/>
                </a:solidFill>
                <a:latin typeface="Arial"/>
              </a:rPr>
              <a:t>■  </a:t>
            </a:r>
            <a:r>
              <a:rPr sz="1500" b="0">
                <a:solidFill>
                  <a:srgbClr val="1B1F2A"/>
                </a:solidFill>
                <a:latin typeface="Arial"/>
              </a:rPr>
              <a:t>Lab-equipment manufacturing</a:t>
            </a:r>
          </a:p>
          <a:p>
            <a:pPr>
              <a:spcAft>
                <a:spcPts val="600"/>
              </a:spcAft>
            </a:pPr>
            <a:r>
              <a:rPr sz="900">
                <a:solidFill>
                  <a:srgbClr val="E8762C"/>
                </a:solidFill>
                <a:latin typeface="Arial"/>
              </a:rPr>
              <a:t>■  </a:t>
            </a:r>
            <a:r>
              <a:rPr sz="1500" b="0">
                <a:solidFill>
                  <a:srgbClr val="1B1F2A"/>
                </a:solidFill>
                <a:latin typeface="Arial"/>
              </a:rPr>
              <a:t>In-vitro diagnostics service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8229600" cy="274320"/>
          </a:xfrm>
          <a:prstGeom prst="rect">
            <a:avLst/>
          </a:prstGeom>
          <a:noFill/>
        </p:spPr>
        <p:txBody>
          <a:bodyPr wrap="square" lIns="0" rIns="0" tIns="0" bIns="0" anchor="t">
            <a:spAutoFit/>
          </a:bodyPr>
          <a:lstStyle/>
          <a:p>
            <a:pPr algn="l"/>
            <a:r>
              <a:rPr sz="1200" b="1" i="0">
                <a:solidFill>
                  <a:srgbClr val="E8762C"/>
                </a:solidFill>
                <a:latin typeface="Arial"/>
              </a:rPr>
              <a:t>HOW WE WORKED</a:t>
            </a:r>
          </a:p>
        </p:txBody>
      </p:sp>
      <p:sp>
        <p:nvSpPr>
          <p:cNvPr id="3" name="TextBox 2"/>
          <p:cNvSpPr txBox="1"/>
          <p:nvPr/>
        </p:nvSpPr>
        <p:spPr>
          <a:xfrm>
            <a:off x="548640" y="521208"/>
            <a:ext cx="11094415" cy="868680"/>
          </a:xfrm>
          <a:prstGeom prst="rect">
            <a:avLst/>
          </a:prstGeom>
          <a:noFill/>
        </p:spPr>
        <p:txBody>
          <a:bodyPr wrap="square" lIns="0" rIns="0" tIns="0" bIns="0" anchor="t">
            <a:spAutoFit/>
          </a:bodyPr>
          <a:lstStyle/>
          <a:p>
            <a:pPr algn="l"/>
            <a:r>
              <a:rPr sz="3000" b="1" i="0">
                <a:solidFill>
                  <a:srgbClr val="1B1F2A"/>
                </a:solidFill>
                <a:latin typeface="Arial"/>
              </a:rPr>
              <a:t>The method: seven stages, two hard gates</a:t>
            </a:r>
          </a:p>
        </p:txBody>
      </p:sp>
      <p:sp>
        <p:nvSpPr>
          <p:cNvPr id="4" name="TextBox 3"/>
          <p:cNvSpPr txBox="1"/>
          <p:nvPr/>
        </p:nvSpPr>
        <p:spPr>
          <a:xfrm>
            <a:off x="548640" y="6473952"/>
            <a:ext cx="8229600" cy="228600"/>
          </a:xfrm>
          <a:prstGeom prst="rect">
            <a:avLst/>
          </a:prstGeom>
          <a:noFill/>
        </p:spPr>
        <p:txBody>
          <a:bodyPr wrap="square" lIns="0" rIns="0" tIns="0" bIns="0" anchor="t">
            <a:spAutoFit/>
          </a:bodyPr>
          <a:lstStyle/>
          <a:p>
            <a:pPr algn="l"/>
            <a:r>
              <a:rPr sz="1000" b="0" i="0">
                <a:solidFill>
                  <a:srgbClr val="6B707C"/>
                </a:solidFill>
                <a:latin typeface="Arial"/>
              </a:rPr>
              <a:t>Source: Group_9230_Team1_PMARIS_Enterprise_Dataset.csv, 5,000 observation windows</a:t>
            </a:r>
          </a:p>
        </p:txBody>
      </p:sp>
      <p:sp>
        <p:nvSpPr>
          <p:cNvPr id="5" name="TextBox 4"/>
          <p:cNvSpPr txBox="1"/>
          <p:nvPr/>
        </p:nvSpPr>
        <p:spPr>
          <a:xfrm>
            <a:off x="10271455" y="6473952"/>
            <a:ext cx="1371600" cy="228600"/>
          </a:xfrm>
          <a:prstGeom prst="rect">
            <a:avLst/>
          </a:prstGeom>
          <a:noFill/>
        </p:spPr>
        <p:txBody>
          <a:bodyPr wrap="square" lIns="0" rIns="0" tIns="0" bIns="0" anchor="t">
            <a:spAutoFit/>
          </a:bodyPr>
          <a:lstStyle/>
          <a:p>
            <a:pPr algn="r"/>
            <a:r>
              <a:rPr sz="1000" b="0" i="0">
                <a:solidFill>
                  <a:srgbClr val="6B707C"/>
                </a:solidFill>
                <a:latin typeface="Arial"/>
              </a:rPr>
              <a:t>6 / 30</a:t>
            </a:r>
          </a:p>
        </p:txBody>
      </p:sp>
      <p:sp>
        <p:nvSpPr>
          <p:cNvPr id="6" name="Rounded Rectangle 5"/>
          <p:cNvSpPr/>
          <p:nvPr/>
        </p:nvSpPr>
        <p:spPr>
          <a:xfrm>
            <a:off x="548640" y="2011680"/>
            <a:ext cx="1417320" cy="1280160"/>
          </a:xfrm>
          <a:prstGeom prst="roundRect">
            <a:avLst>
              <a:gd name="adj" fmla="val 12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057400"/>
            <a:ext cx="1234440" cy="365760"/>
          </a:xfrm>
          <a:prstGeom prst="rect">
            <a:avLst/>
          </a:prstGeom>
          <a:noFill/>
        </p:spPr>
        <p:txBody>
          <a:bodyPr wrap="square" lIns="0" rIns="0" tIns="0" bIns="0" anchor="t">
            <a:spAutoFit/>
          </a:bodyPr>
          <a:lstStyle/>
          <a:p>
            <a:pPr algn="ctr"/>
            <a:r>
              <a:rPr sz="1300" b="1" i="0">
                <a:solidFill>
                  <a:srgbClr val="FFFFFF"/>
                </a:solidFill>
                <a:latin typeface="Arial"/>
              </a:rPr>
              <a:t>0</a:t>
            </a:r>
          </a:p>
        </p:txBody>
      </p:sp>
      <p:sp>
        <p:nvSpPr>
          <p:cNvPr id="8" name="TextBox 7"/>
          <p:cNvSpPr txBox="1"/>
          <p:nvPr/>
        </p:nvSpPr>
        <p:spPr>
          <a:xfrm>
            <a:off x="640080" y="2423160"/>
            <a:ext cx="1234440" cy="777240"/>
          </a:xfrm>
          <a:prstGeom prst="rect">
            <a:avLst/>
          </a:prstGeom>
          <a:noFill/>
        </p:spPr>
        <p:txBody>
          <a:bodyPr wrap="square" lIns="0" rIns="0" tIns="0" bIns="0" anchor="ctr">
            <a:spAutoFit/>
          </a:bodyPr>
          <a:lstStyle/>
          <a:p>
            <a:pPr algn="ctr"/>
            <a:r>
              <a:rPr sz="1500" b="1" i="0">
                <a:solidFill>
                  <a:srgbClr val="FFFFFF"/>
                </a:solidFill>
                <a:latin typeface="Arial"/>
              </a:rPr>
              <a:t>Intake</a:t>
            </a:r>
          </a:p>
        </p:txBody>
      </p:sp>
      <p:sp>
        <p:nvSpPr>
          <p:cNvPr id="9" name="Rounded Rectangle 8"/>
          <p:cNvSpPr/>
          <p:nvPr/>
        </p:nvSpPr>
        <p:spPr>
          <a:xfrm>
            <a:off x="2148840" y="2011680"/>
            <a:ext cx="1417320" cy="1280160"/>
          </a:xfrm>
          <a:prstGeom prst="roundRect">
            <a:avLst>
              <a:gd name="adj" fmla="val 12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40280" y="2057400"/>
            <a:ext cx="1234440" cy="365760"/>
          </a:xfrm>
          <a:prstGeom prst="rect">
            <a:avLst/>
          </a:prstGeom>
          <a:noFill/>
        </p:spPr>
        <p:txBody>
          <a:bodyPr wrap="square" lIns="0" rIns="0" tIns="0" bIns="0" anchor="t">
            <a:spAutoFit/>
          </a:bodyPr>
          <a:lstStyle/>
          <a:p>
            <a:pPr algn="ctr"/>
            <a:r>
              <a:rPr sz="1300" b="1" i="0">
                <a:solidFill>
                  <a:srgbClr val="FFFFFF"/>
                </a:solidFill>
                <a:latin typeface="Arial"/>
              </a:rPr>
              <a:t>1</a:t>
            </a:r>
          </a:p>
        </p:txBody>
      </p:sp>
      <p:sp>
        <p:nvSpPr>
          <p:cNvPr id="11" name="TextBox 10"/>
          <p:cNvSpPr txBox="1"/>
          <p:nvPr/>
        </p:nvSpPr>
        <p:spPr>
          <a:xfrm>
            <a:off x="2240280" y="2423160"/>
            <a:ext cx="1234440" cy="777240"/>
          </a:xfrm>
          <a:prstGeom prst="rect">
            <a:avLst/>
          </a:prstGeom>
          <a:noFill/>
        </p:spPr>
        <p:txBody>
          <a:bodyPr wrap="square" lIns="0" rIns="0" tIns="0" bIns="0" anchor="ctr">
            <a:spAutoFit/>
          </a:bodyPr>
          <a:lstStyle/>
          <a:p>
            <a:pPr algn="ctr"/>
            <a:r>
              <a:rPr sz="1500" b="1" i="0">
                <a:solidFill>
                  <a:srgbClr val="FFFFFF"/>
                </a:solidFill>
                <a:latin typeface="Arial"/>
              </a:rPr>
              <a:t>Clean</a:t>
            </a:r>
          </a:p>
        </p:txBody>
      </p:sp>
      <p:sp>
        <p:nvSpPr>
          <p:cNvPr id="12" name="Rounded Rectangle 11"/>
          <p:cNvSpPr/>
          <p:nvPr/>
        </p:nvSpPr>
        <p:spPr>
          <a:xfrm>
            <a:off x="3749039" y="2011680"/>
            <a:ext cx="1417320" cy="1280160"/>
          </a:xfrm>
          <a:prstGeom prst="roundRect">
            <a:avLst>
              <a:gd name="adj" fmla="val 12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79" y="2057400"/>
            <a:ext cx="1234440" cy="365760"/>
          </a:xfrm>
          <a:prstGeom prst="rect">
            <a:avLst/>
          </a:prstGeom>
          <a:noFill/>
        </p:spPr>
        <p:txBody>
          <a:bodyPr wrap="square" lIns="0" rIns="0" tIns="0" bIns="0" anchor="t">
            <a:spAutoFit/>
          </a:bodyPr>
          <a:lstStyle/>
          <a:p>
            <a:pPr algn="ctr"/>
            <a:r>
              <a:rPr sz="1300" b="1" i="0">
                <a:solidFill>
                  <a:srgbClr val="FFFFFF"/>
                </a:solidFill>
                <a:latin typeface="Arial"/>
              </a:rPr>
              <a:t>2</a:t>
            </a:r>
          </a:p>
        </p:txBody>
      </p:sp>
      <p:sp>
        <p:nvSpPr>
          <p:cNvPr id="14" name="TextBox 13"/>
          <p:cNvSpPr txBox="1"/>
          <p:nvPr/>
        </p:nvSpPr>
        <p:spPr>
          <a:xfrm>
            <a:off x="3840479" y="2423160"/>
            <a:ext cx="1234440" cy="777240"/>
          </a:xfrm>
          <a:prstGeom prst="rect">
            <a:avLst/>
          </a:prstGeom>
          <a:noFill/>
        </p:spPr>
        <p:txBody>
          <a:bodyPr wrap="square" lIns="0" rIns="0" tIns="0" bIns="0" anchor="ctr">
            <a:spAutoFit/>
          </a:bodyPr>
          <a:lstStyle/>
          <a:p>
            <a:pPr algn="ctr"/>
            <a:r>
              <a:rPr sz="1500" b="1" i="0">
                <a:solidFill>
                  <a:srgbClr val="FFFFFF"/>
                </a:solidFill>
                <a:latin typeface="Arial"/>
              </a:rPr>
              <a:t>Check meaning</a:t>
            </a:r>
          </a:p>
        </p:txBody>
      </p:sp>
      <p:sp>
        <p:nvSpPr>
          <p:cNvPr id="15" name="Rounded Rectangle 14"/>
          <p:cNvSpPr/>
          <p:nvPr/>
        </p:nvSpPr>
        <p:spPr>
          <a:xfrm>
            <a:off x="5349240" y="2011680"/>
            <a:ext cx="1417320" cy="1280160"/>
          </a:xfrm>
          <a:prstGeom prst="roundRect">
            <a:avLst>
              <a:gd name="adj" fmla="val 12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40679" y="2057400"/>
            <a:ext cx="1234440" cy="365760"/>
          </a:xfrm>
          <a:prstGeom prst="rect">
            <a:avLst/>
          </a:prstGeom>
          <a:noFill/>
        </p:spPr>
        <p:txBody>
          <a:bodyPr wrap="square" lIns="0" rIns="0" tIns="0" bIns="0" anchor="t">
            <a:spAutoFit/>
          </a:bodyPr>
          <a:lstStyle/>
          <a:p>
            <a:pPr algn="ctr"/>
            <a:r>
              <a:rPr sz="1300" b="1" i="0">
                <a:solidFill>
                  <a:srgbClr val="FFFFFF"/>
                </a:solidFill>
                <a:latin typeface="Arial"/>
              </a:rPr>
              <a:t>3</a:t>
            </a:r>
          </a:p>
        </p:txBody>
      </p:sp>
      <p:sp>
        <p:nvSpPr>
          <p:cNvPr id="17" name="TextBox 16"/>
          <p:cNvSpPr txBox="1"/>
          <p:nvPr/>
        </p:nvSpPr>
        <p:spPr>
          <a:xfrm>
            <a:off x="5440679" y="2423160"/>
            <a:ext cx="1234440" cy="777240"/>
          </a:xfrm>
          <a:prstGeom prst="rect">
            <a:avLst/>
          </a:prstGeom>
          <a:noFill/>
        </p:spPr>
        <p:txBody>
          <a:bodyPr wrap="square" lIns="0" rIns="0" tIns="0" bIns="0" anchor="ctr">
            <a:spAutoFit/>
          </a:bodyPr>
          <a:lstStyle/>
          <a:p>
            <a:pPr algn="ctr"/>
            <a:r>
              <a:rPr sz="1500" b="1" i="0">
                <a:solidFill>
                  <a:srgbClr val="FFFFFF"/>
                </a:solidFill>
                <a:latin typeface="Arial"/>
              </a:rPr>
              <a:t>Insights</a:t>
            </a:r>
          </a:p>
        </p:txBody>
      </p:sp>
      <p:sp>
        <p:nvSpPr>
          <p:cNvPr id="18" name="Rounded Rectangle 17"/>
          <p:cNvSpPr/>
          <p:nvPr/>
        </p:nvSpPr>
        <p:spPr>
          <a:xfrm>
            <a:off x="6949440" y="2011680"/>
            <a:ext cx="1417320" cy="1280160"/>
          </a:xfrm>
          <a:prstGeom prst="roundRect">
            <a:avLst>
              <a:gd name="adj" fmla="val 12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0879" y="2057400"/>
            <a:ext cx="1234440" cy="365760"/>
          </a:xfrm>
          <a:prstGeom prst="rect">
            <a:avLst/>
          </a:prstGeom>
          <a:noFill/>
        </p:spPr>
        <p:txBody>
          <a:bodyPr wrap="square" lIns="0" rIns="0" tIns="0" bIns="0" anchor="t">
            <a:spAutoFit/>
          </a:bodyPr>
          <a:lstStyle/>
          <a:p>
            <a:pPr algn="ctr"/>
            <a:r>
              <a:rPr sz="1300" b="1" i="0">
                <a:solidFill>
                  <a:srgbClr val="FFFFFF"/>
                </a:solidFill>
                <a:latin typeface="Arial"/>
              </a:rPr>
              <a:t>4</a:t>
            </a:r>
          </a:p>
        </p:txBody>
      </p:sp>
      <p:sp>
        <p:nvSpPr>
          <p:cNvPr id="20" name="TextBox 19"/>
          <p:cNvSpPr txBox="1"/>
          <p:nvPr/>
        </p:nvSpPr>
        <p:spPr>
          <a:xfrm>
            <a:off x="7040879" y="2423160"/>
            <a:ext cx="1234440" cy="777240"/>
          </a:xfrm>
          <a:prstGeom prst="rect">
            <a:avLst/>
          </a:prstGeom>
          <a:noFill/>
        </p:spPr>
        <p:txBody>
          <a:bodyPr wrap="square" lIns="0" rIns="0" tIns="0" bIns="0" anchor="ctr">
            <a:spAutoFit/>
          </a:bodyPr>
          <a:lstStyle/>
          <a:p>
            <a:pPr algn="ctr"/>
            <a:r>
              <a:rPr sz="1500" b="1" i="0">
                <a:solidFill>
                  <a:srgbClr val="FFFFFF"/>
                </a:solidFill>
                <a:latin typeface="Arial"/>
              </a:rPr>
              <a:t>Significance</a:t>
            </a:r>
          </a:p>
        </p:txBody>
      </p:sp>
      <p:sp>
        <p:nvSpPr>
          <p:cNvPr id="21" name="Rounded Rectangle 20"/>
          <p:cNvSpPr/>
          <p:nvPr/>
        </p:nvSpPr>
        <p:spPr>
          <a:xfrm>
            <a:off x="8549640" y="2011680"/>
            <a:ext cx="1417320" cy="1280160"/>
          </a:xfrm>
          <a:prstGeom prst="roundRect">
            <a:avLst>
              <a:gd name="adj" fmla="val 12000"/>
            </a:avLst>
          </a:prstGeom>
          <a:solidFill>
            <a:srgbClr val="E87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41080" y="2057400"/>
            <a:ext cx="1234440" cy="365760"/>
          </a:xfrm>
          <a:prstGeom prst="rect">
            <a:avLst/>
          </a:prstGeom>
          <a:noFill/>
        </p:spPr>
        <p:txBody>
          <a:bodyPr wrap="square" lIns="0" rIns="0" tIns="0" bIns="0" anchor="t">
            <a:spAutoFit/>
          </a:bodyPr>
          <a:lstStyle/>
          <a:p>
            <a:pPr algn="ctr"/>
            <a:r>
              <a:rPr sz="1300" b="1" i="0">
                <a:solidFill>
                  <a:srgbClr val="FFFFFF"/>
                </a:solidFill>
                <a:latin typeface="Arial"/>
              </a:rPr>
              <a:t>5</a:t>
            </a:r>
          </a:p>
        </p:txBody>
      </p:sp>
      <p:sp>
        <p:nvSpPr>
          <p:cNvPr id="23" name="TextBox 22"/>
          <p:cNvSpPr txBox="1"/>
          <p:nvPr/>
        </p:nvSpPr>
        <p:spPr>
          <a:xfrm>
            <a:off x="8641080" y="2423160"/>
            <a:ext cx="1234440" cy="777240"/>
          </a:xfrm>
          <a:prstGeom prst="rect">
            <a:avLst/>
          </a:prstGeom>
          <a:noFill/>
        </p:spPr>
        <p:txBody>
          <a:bodyPr wrap="square" lIns="0" rIns="0" tIns="0" bIns="0" anchor="ctr">
            <a:spAutoFit/>
          </a:bodyPr>
          <a:lstStyle/>
          <a:p>
            <a:pPr algn="ctr"/>
            <a:r>
              <a:rPr sz="1500" b="1" i="0">
                <a:solidFill>
                  <a:srgbClr val="FFFFFF"/>
                </a:solidFill>
                <a:latin typeface="Arial"/>
              </a:rPr>
              <a:t>Scope brief</a:t>
            </a:r>
          </a:p>
        </p:txBody>
      </p:sp>
      <p:sp>
        <p:nvSpPr>
          <p:cNvPr id="24" name="Rounded Rectangle 23"/>
          <p:cNvSpPr/>
          <p:nvPr/>
        </p:nvSpPr>
        <p:spPr>
          <a:xfrm>
            <a:off x="10149840" y="2011680"/>
            <a:ext cx="1417320" cy="1280160"/>
          </a:xfrm>
          <a:prstGeom prst="roundRect">
            <a:avLst>
              <a:gd name="adj" fmla="val 12000"/>
            </a:avLst>
          </a:prstGeom>
          <a:solidFill>
            <a:srgbClr val="E87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241280" y="2057400"/>
            <a:ext cx="1234440" cy="365760"/>
          </a:xfrm>
          <a:prstGeom prst="rect">
            <a:avLst/>
          </a:prstGeom>
          <a:noFill/>
        </p:spPr>
        <p:txBody>
          <a:bodyPr wrap="square" lIns="0" rIns="0" tIns="0" bIns="0" anchor="t">
            <a:spAutoFit/>
          </a:bodyPr>
          <a:lstStyle/>
          <a:p>
            <a:pPr algn="ctr"/>
            <a:r>
              <a:rPr sz="1300" b="1" i="0">
                <a:solidFill>
                  <a:srgbClr val="FFFFFF"/>
                </a:solidFill>
                <a:latin typeface="Arial"/>
              </a:rPr>
              <a:t>6</a:t>
            </a:r>
          </a:p>
        </p:txBody>
      </p:sp>
      <p:sp>
        <p:nvSpPr>
          <p:cNvPr id="26" name="TextBox 25"/>
          <p:cNvSpPr txBox="1"/>
          <p:nvPr/>
        </p:nvSpPr>
        <p:spPr>
          <a:xfrm>
            <a:off x="10241280" y="2423160"/>
            <a:ext cx="1234440" cy="777240"/>
          </a:xfrm>
          <a:prstGeom prst="rect">
            <a:avLst/>
          </a:prstGeom>
          <a:noFill/>
        </p:spPr>
        <p:txBody>
          <a:bodyPr wrap="square" lIns="0" rIns="0" tIns="0" bIns="0" anchor="ctr">
            <a:spAutoFit/>
          </a:bodyPr>
          <a:lstStyle/>
          <a:p>
            <a:pPr algn="ctr"/>
            <a:r>
              <a:rPr sz="1500" b="1" i="0">
                <a:solidFill>
                  <a:srgbClr val="FFFFFF"/>
                </a:solidFill>
                <a:latin typeface="Arial"/>
              </a:rPr>
              <a:t>Build + verify</a:t>
            </a:r>
          </a:p>
        </p:txBody>
      </p:sp>
      <p:sp>
        <p:nvSpPr>
          <p:cNvPr id="27" name="TextBox 26"/>
          <p:cNvSpPr txBox="1"/>
          <p:nvPr/>
        </p:nvSpPr>
        <p:spPr>
          <a:xfrm>
            <a:off x="548640" y="3611880"/>
            <a:ext cx="10972800" cy="365760"/>
          </a:xfrm>
          <a:prstGeom prst="rect">
            <a:avLst/>
          </a:prstGeom>
          <a:noFill/>
        </p:spPr>
        <p:txBody>
          <a:bodyPr wrap="square" lIns="0" rIns="0" tIns="0" bIns="0" anchor="t">
            <a:spAutoFit/>
          </a:bodyPr>
          <a:lstStyle/>
          <a:p>
            <a:pPr algn="l"/>
            <a:r>
              <a:rPr sz="1800" b="1" i="0">
                <a:solidFill>
                  <a:srgbClr val="1B1F2A"/>
                </a:solidFill>
                <a:latin typeface="Arial"/>
              </a:rPr>
              <a:t>What each stage contributed</a:t>
            </a:r>
          </a:p>
        </p:txBody>
      </p:sp>
      <p:sp>
        <p:nvSpPr>
          <p:cNvPr id="28" name="TextBox 27"/>
          <p:cNvSpPr txBox="1"/>
          <p:nvPr/>
        </p:nvSpPr>
        <p:spPr>
          <a:xfrm>
            <a:off x="548640" y="4069080"/>
            <a:ext cx="11064240" cy="2468880"/>
          </a:xfrm>
          <a:prstGeom prst="rect">
            <a:avLst/>
          </a:prstGeom>
          <a:noFill/>
        </p:spPr>
        <p:txBody>
          <a:bodyPr wrap="square" lIns="0" rIns="0" tIns="0" bIns="0" anchor="t">
            <a:spAutoFit/>
          </a:bodyPr>
          <a:lstStyle/>
          <a:p>
            <a:pPr algn="l">
              <a:spcAft>
                <a:spcPts val="800"/>
              </a:spcAft>
            </a:pPr>
            <a:r>
              <a:rPr sz="1000">
                <a:solidFill>
                  <a:srgbClr val="E8762C"/>
                </a:solidFill>
                <a:latin typeface="Arial"/>
              </a:rPr>
              <a:t>■  </a:t>
            </a:r>
            <a:r>
              <a:rPr sz="1600" b="1">
                <a:solidFill>
                  <a:srgbClr val="1B1F2A"/>
                </a:solidFill>
                <a:latin typeface="Arial"/>
              </a:rPr>
              <a:t>Clean and check meaning: </a:t>
            </a:r>
            <a:r>
              <a:rPr sz="1600" b="0">
                <a:solidFill>
                  <a:srgbClr val="1B1F2A"/>
                </a:solidFill>
                <a:latin typeface="Arial"/>
              </a:rPr>
              <a:t>zero defects, but Asset_ID is not an asset key (next slides)</a:t>
            </a:r>
          </a:p>
          <a:p>
            <a:pPr>
              <a:spcAft>
                <a:spcPts val="800"/>
              </a:spcAft>
            </a:pPr>
            <a:r>
              <a:rPr sz="1000">
                <a:solidFill>
                  <a:srgbClr val="E8762C"/>
                </a:solidFill>
                <a:latin typeface="Arial"/>
              </a:rPr>
              <a:t>■  </a:t>
            </a:r>
            <a:r>
              <a:rPr sz="1600" b="1">
                <a:solidFill>
                  <a:srgbClr val="1B1F2A"/>
                </a:solidFill>
                <a:latin typeface="Arial"/>
              </a:rPr>
              <a:t>Significance: </a:t>
            </a:r>
            <a:r>
              <a:rPr sz="1600" b="0">
                <a:solidFill>
                  <a:srgbClr val="1B1F2A"/>
                </a:solidFill>
                <a:latin typeface="Arial"/>
              </a:rPr>
              <a:t>33 tests, Bonferroni-corrected; only differences that survived became KPIs</a:t>
            </a:r>
          </a:p>
          <a:p>
            <a:pPr>
              <a:spcAft>
                <a:spcPts val="800"/>
              </a:spcAft>
            </a:pPr>
            <a:r>
              <a:rPr sz="1000">
                <a:solidFill>
                  <a:srgbClr val="E8762C"/>
                </a:solidFill>
                <a:latin typeface="Arial"/>
              </a:rPr>
              <a:t>■  </a:t>
            </a:r>
            <a:r>
              <a:rPr sz="1600" b="1">
                <a:solidFill>
                  <a:srgbClr val="1B1F2A"/>
                </a:solidFill>
                <a:latin typeface="Arial"/>
              </a:rPr>
              <a:t>Scope brief: </a:t>
            </a:r>
            <a:r>
              <a:rPr sz="1600" b="0">
                <a:solidFill>
                  <a:srgbClr val="1B1F2A"/>
                </a:solidFill>
                <a:latin typeface="Arial"/>
              </a:rPr>
              <a:t>audience, decision and KPIs agreed with the stakeholder before anything was built</a:t>
            </a:r>
          </a:p>
          <a:p>
            <a:pPr>
              <a:spcAft>
                <a:spcPts val="800"/>
              </a:spcAft>
            </a:pPr>
            <a:r>
              <a:rPr sz="1000">
                <a:solidFill>
                  <a:srgbClr val="E8762C"/>
                </a:solidFill>
                <a:latin typeface="Arial"/>
              </a:rPr>
              <a:t>■  </a:t>
            </a:r>
            <a:r>
              <a:rPr sz="1600" b="1">
                <a:solidFill>
                  <a:srgbClr val="1B1F2A"/>
                </a:solidFill>
                <a:latin typeface="Arial"/>
              </a:rPr>
              <a:t>Build + verify: </a:t>
            </a:r>
            <a:r>
              <a:rPr sz="1600" b="0">
                <a:solidFill>
                  <a:srgbClr val="1B1F2A"/>
                </a:solidFill>
                <a:latin typeface="Arial"/>
              </a:rPr>
              <a:t>six-page live dashboard; save-to-screen refresh timed at 376 ms on average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8229600" cy="274320"/>
          </a:xfrm>
          <a:prstGeom prst="rect">
            <a:avLst/>
          </a:prstGeom>
          <a:noFill/>
        </p:spPr>
        <p:txBody>
          <a:bodyPr wrap="square" lIns="0" rIns="0" tIns="0" bIns="0" anchor="t">
            <a:spAutoFit/>
          </a:bodyPr>
          <a:lstStyle/>
          <a:p>
            <a:pPr algn="l"/>
            <a:r>
              <a:rPr sz="1200" b="1" i="0">
                <a:solidFill>
                  <a:srgbClr val="E8762C"/>
                </a:solidFill>
                <a:latin typeface="Arial"/>
              </a:rPr>
              <a:t>STAGE 1: CLEANING</a:t>
            </a:r>
          </a:p>
        </p:txBody>
      </p:sp>
      <p:sp>
        <p:nvSpPr>
          <p:cNvPr id="3" name="TextBox 2"/>
          <p:cNvSpPr txBox="1"/>
          <p:nvPr/>
        </p:nvSpPr>
        <p:spPr>
          <a:xfrm>
            <a:off x="548640" y="521208"/>
            <a:ext cx="11094415" cy="868680"/>
          </a:xfrm>
          <a:prstGeom prst="rect">
            <a:avLst/>
          </a:prstGeom>
          <a:noFill/>
        </p:spPr>
        <p:txBody>
          <a:bodyPr wrap="square" lIns="0" rIns="0" tIns="0" bIns="0" anchor="t">
            <a:spAutoFit/>
          </a:bodyPr>
          <a:lstStyle/>
          <a:p>
            <a:pPr algn="l"/>
            <a:r>
              <a:rPr sz="3000" b="1" i="0">
                <a:solidFill>
                  <a:srgbClr val="1B1F2A"/>
                </a:solidFill>
                <a:latin typeface="Arial"/>
              </a:rPr>
              <a:t>The file passed every cleaning check with nothing dropped</a:t>
            </a:r>
          </a:p>
        </p:txBody>
      </p:sp>
      <p:sp>
        <p:nvSpPr>
          <p:cNvPr id="4" name="TextBox 3"/>
          <p:cNvSpPr txBox="1"/>
          <p:nvPr/>
        </p:nvSpPr>
        <p:spPr>
          <a:xfrm>
            <a:off x="548640" y="6473952"/>
            <a:ext cx="8229600" cy="228600"/>
          </a:xfrm>
          <a:prstGeom prst="rect">
            <a:avLst/>
          </a:prstGeom>
          <a:noFill/>
        </p:spPr>
        <p:txBody>
          <a:bodyPr wrap="square" lIns="0" rIns="0" tIns="0" bIns="0" anchor="t">
            <a:spAutoFit/>
          </a:bodyPr>
          <a:lstStyle/>
          <a:p>
            <a:pPr algn="l"/>
            <a:r>
              <a:rPr sz="1000" b="0" i="0">
                <a:solidFill>
                  <a:srgbClr val="6B707C"/>
                </a:solidFill>
                <a:latin typeface="Arial"/>
              </a:rPr>
              <a:t>Source: Group_9230_Team1_PMARIS_Enterprise_Dataset.csv, 5,000 observation windows</a:t>
            </a:r>
          </a:p>
        </p:txBody>
      </p:sp>
      <p:sp>
        <p:nvSpPr>
          <p:cNvPr id="5" name="TextBox 4"/>
          <p:cNvSpPr txBox="1"/>
          <p:nvPr/>
        </p:nvSpPr>
        <p:spPr>
          <a:xfrm>
            <a:off x="10271455" y="6473952"/>
            <a:ext cx="1371600" cy="228600"/>
          </a:xfrm>
          <a:prstGeom prst="rect">
            <a:avLst/>
          </a:prstGeom>
          <a:noFill/>
        </p:spPr>
        <p:txBody>
          <a:bodyPr wrap="square" lIns="0" rIns="0" tIns="0" bIns="0" anchor="t">
            <a:spAutoFit/>
          </a:bodyPr>
          <a:lstStyle/>
          <a:p>
            <a:pPr algn="r"/>
            <a:r>
              <a:rPr sz="1000" b="0" i="0">
                <a:solidFill>
                  <a:srgbClr val="6B707C"/>
                </a:solidFill>
                <a:latin typeface="Arial"/>
              </a:rPr>
              <a:t>7 / 30</a:t>
            </a:r>
          </a:p>
        </p:txBody>
      </p:sp>
      <p:graphicFrame>
        <p:nvGraphicFramePr>
          <p:cNvPr id="6" name="Table 5"/>
          <p:cNvGraphicFramePr>
            <a:graphicFrameLocks noGrp="1"/>
          </p:cNvGraphicFramePr>
          <p:nvPr/>
        </p:nvGraphicFramePr>
        <p:xfrm>
          <a:off x="548640" y="1600200"/>
          <a:ext cx="7315200" cy="3657600"/>
        </p:xfrm>
        <a:graphic>
          <a:graphicData uri="http://schemas.openxmlformats.org/drawingml/2006/table">
            <a:tbl>
              <a:tblPr firstRow="1" bandRow="1">
                <a:tableStyleId>{5C22544A-7EE6-4342-B048-85BDC9FD1C3A}</a:tableStyleId>
              </a:tblPr>
              <a:tblGrid>
                <a:gridCol w="3291840"/>
                <a:gridCol w="1828800"/>
                <a:gridCol w="2194560"/>
              </a:tblGrid>
              <a:tr h="457200">
                <a:tc>
                  <a:txBody>
                    <a:bodyPr wrap="square"/>
                    <a:lstStyle/>
                    <a:p>
                      <a:r>
                        <a:rPr sz="1300" b="1">
                          <a:solidFill>
                            <a:srgbClr val="FFFFFF"/>
                          </a:solidFill>
                          <a:latin typeface="Arial"/>
                        </a:rPr>
                        <a:t>Check</a:t>
                      </a:r>
                    </a:p>
                  </a:txBody>
                  <a:tcPr marL="91440" marR="91440" marT="36576" marB="36576" anchor="ctr">
                    <a:solidFill>
                      <a:srgbClr val="14213D"/>
                    </a:solidFill>
                  </a:tcPr>
                </a:tc>
                <a:tc>
                  <a:txBody>
                    <a:bodyPr wrap="square"/>
                    <a:lstStyle/>
                    <a:p>
                      <a:r>
                        <a:rPr sz="1300" b="1">
                          <a:solidFill>
                            <a:srgbClr val="FFFFFF"/>
                          </a:solidFill>
                          <a:latin typeface="Arial"/>
                        </a:rPr>
                        <a:t>Result</a:t>
                      </a:r>
                    </a:p>
                  </a:txBody>
                  <a:tcPr marL="91440" marR="91440" marT="36576" marB="36576" anchor="ctr">
                    <a:solidFill>
                      <a:srgbClr val="14213D"/>
                    </a:solidFill>
                  </a:tcPr>
                </a:tc>
                <a:tc>
                  <a:txBody>
                    <a:bodyPr wrap="square"/>
                    <a:lstStyle/>
                    <a:p>
                      <a:r>
                        <a:rPr sz="1300" b="1">
                          <a:solidFill>
                            <a:srgbClr val="FFFFFF"/>
                          </a:solidFill>
                          <a:latin typeface="Arial"/>
                        </a:rPr>
                        <a:t>Action</a:t>
                      </a:r>
                    </a:p>
                  </a:txBody>
                  <a:tcPr marL="91440" marR="91440" marT="36576" marB="36576" anchor="ctr">
                    <a:solidFill>
                      <a:srgbClr val="14213D"/>
                    </a:solidFill>
                  </a:tcPr>
                </a:tc>
              </a:tr>
              <a:tr h="457200">
                <a:tc>
                  <a:txBody>
                    <a:bodyPr wrap="square"/>
                    <a:lstStyle/>
                    <a:p>
                      <a:r>
                        <a:rPr sz="1400" b="0">
                          <a:solidFill>
                            <a:srgbClr val="1B1F2A"/>
                          </a:solidFill>
                          <a:latin typeface="Arial"/>
                        </a:rPr>
                        <a:t>Missing cells</a:t>
                      </a:r>
                    </a:p>
                  </a:txBody>
                  <a:tcPr marL="91440" marR="91440" marT="36576" marB="36576" anchor="ctr">
                    <a:solidFill>
                      <a:srgbClr val="FFFFFF"/>
                    </a:solidFill>
                  </a:tcPr>
                </a:tc>
                <a:tc>
                  <a:txBody>
                    <a:bodyPr wrap="square"/>
                    <a:lstStyle/>
                    <a:p>
                      <a:r>
                        <a:rPr sz="1400" b="0">
                          <a:solidFill>
                            <a:srgbClr val="1B1F2A"/>
                          </a:solidFill>
                          <a:latin typeface="Arial"/>
                        </a:rPr>
                        <a:t>0</a:t>
                      </a:r>
                    </a:p>
                  </a:txBody>
                  <a:tcPr marL="91440" marR="91440" marT="36576" marB="36576" anchor="ctr">
                    <a:solidFill>
                      <a:srgbClr val="FFFFFF"/>
                    </a:solidFill>
                  </a:tcPr>
                </a:tc>
                <a:tc>
                  <a:txBody>
                    <a:bodyPr wrap="square"/>
                    <a:lstStyle/>
                    <a:p>
                      <a:r>
                        <a:rPr sz="1400" b="0">
                          <a:solidFill>
                            <a:srgbClr val="1B1F2A"/>
                          </a:solidFill>
                          <a:latin typeface="Arial"/>
                        </a:rPr>
                        <a:t>None needed</a:t>
                      </a:r>
                    </a:p>
                  </a:txBody>
                  <a:tcPr marL="91440" marR="91440" marT="36576" marB="36576" anchor="ctr">
                    <a:solidFill>
                      <a:srgbClr val="FFFFFF"/>
                    </a:solidFill>
                  </a:tcPr>
                </a:tc>
              </a:tr>
              <a:tr h="457200">
                <a:tc>
                  <a:txBody>
                    <a:bodyPr wrap="square"/>
                    <a:lstStyle/>
                    <a:p>
                      <a:r>
                        <a:rPr sz="1400" b="0">
                          <a:solidFill>
                            <a:srgbClr val="1B1F2A"/>
                          </a:solidFill>
                          <a:latin typeface="Arial"/>
                        </a:rPr>
                        <a:t>Duplicate rows / IDs</a:t>
                      </a:r>
                    </a:p>
                  </a:txBody>
                  <a:tcPr marL="91440" marR="91440" marT="36576" marB="36576" anchor="ctr">
                    <a:solidFill>
                      <a:srgbClr val="F2F4F7"/>
                    </a:solidFill>
                  </a:tcPr>
                </a:tc>
                <a:tc>
                  <a:txBody>
                    <a:bodyPr wrap="square"/>
                    <a:lstStyle/>
                    <a:p>
                      <a:r>
                        <a:rPr sz="1400" b="0">
                          <a:solidFill>
                            <a:srgbClr val="1B1F2A"/>
                          </a:solidFill>
                          <a:latin typeface="Arial"/>
                        </a:rPr>
                        <a:t>0 / 0</a:t>
                      </a:r>
                    </a:p>
                  </a:txBody>
                  <a:tcPr marL="91440" marR="91440" marT="36576" marB="36576" anchor="ctr">
                    <a:solidFill>
                      <a:srgbClr val="F2F4F7"/>
                    </a:solidFill>
                  </a:tcPr>
                </a:tc>
                <a:tc>
                  <a:txBody>
                    <a:bodyPr wrap="square"/>
                    <a:lstStyle/>
                    <a:p>
                      <a:r>
                        <a:rPr sz="1400" b="0">
                          <a:solidFill>
                            <a:srgbClr val="1B1F2A"/>
                          </a:solidFill>
                          <a:latin typeface="Arial"/>
                        </a:rPr>
                        <a:t>None needed</a:t>
                      </a:r>
                    </a:p>
                  </a:txBody>
                  <a:tcPr marL="91440" marR="91440" marT="36576" marB="36576" anchor="ctr">
                    <a:solidFill>
                      <a:srgbClr val="F2F4F7"/>
                    </a:solidFill>
                  </a:tcPr>
                </a:tc>
              </a:tr>
              <a:tr h="457200">
                <a:tc>
                  <a:txBody>
                    <a:bodyPr wrap="square"/>
                    <a:lstStyle/>
                    <a:p>
                      <a:r>
                        <a:rPr sz="1400" b="0">
                          <a:solidFill>
                            <a:srgbClr val="1B1F2A"/>
                          </a:solidFill>
                          <a:latin typeface="Arial"/>
                        </a:rPr>
                        <a:t>Type errors / bad dates</a:t>
                      </a:r>
                    </a:p>
                  </a:txBody>
                  <a:tcPr marL="91440" marR="91440" marT="36576" marB="36576" anchor="ctr">
                    <a:solidFill>
                      <a:srgbClr val="FFFFFF"/>
                    </a:solidFill>
                  </a:tcPr>
                </a:tc>
                <a:tc>
                  <a:txBody>
                    <a:bodyPr wrap="square"/>
                    <a:lstStyle/>
                    <a:p>
                      <a:r>
                        <a:rPr sz="1400" b="0">
                          <a:solidFill>
                            <a:srgbClr val="1B1F2A"/>
                          </a:solidFill>
                          <a:latin typeface="Arial"/>
                        </a:rPr>
                        <a:t>0 / 0</a:t>
                      </a:r>
                    </a:p>
                  </a:txBody>
                  <a:tcPr marL="91440" marR="91440" marT="36576" marB="36576" anchor="ctr">
                    <a:solidFill>
                      <a:srgbClr val="FFFFFF"/>
                    </a:solidFill>
                  </a:tcPr>
                </a:tc>
                <a:tc>
                  <a:txBody>
                    <a:bodyPr wrap="square"/>
                    <a:lstStyle/>
                    <a:p>
                      <a:r>
                        <a:rPr sz="1400" b="0">
                          <a:solidFill>
                            <a:srgbClr val="1B1F2A"/>
                          </a:solidFill>
                          <a:latin typeface="Arial"/>
                        </a:rPr>
                        <a:t>None needed</a:t>
                      </a:r>
                    </a:p>
                  </a:txBody>
                  <a:tcPr marL="91440" marR="91440" marT="36576" marB="36576" anchor="ctr">
                    <a:solidFill>
                      <a:srgbClr val="FFFFFF"/>
                    </a:solidFill>
                  </a:tcPr>
                </a:tc>
              </a:tr>
              <a:tr h="457200">
                <a:tc>
                  <a:txBody>
                    <a:bodyPr wrap="square"/>
                    <a:lstStyle/>
                    <a:p>
                      <a:r>
                        <a:rPr sz="1400" b="0">
                          <a:solidFill>
                            <a:srgbClr val="1B1F2A"/>
                          </a:solidFill>
                          <a:latin typeface="Arial"/>
                        </a:rPr>
                        <a:t>Revenue loss beyond 3 SD</a:t>
                      </a:r>
                    </a:p>
                  </a:txBody>
                  <a:tcPr marL="91440" marR="91440" marT="36576" marB="36576" anchor="ctr">
                    <a:solidFill>
                      <a:srgbClr val="F2F4F7"/>
                    </a:solidFill>
                  </a:tcPr>
                </a:tc>
                <a:tc>
                  <a:txBody>
                    <a:bodyPr wrap="square"/>
                    <a:lstStyle/>
                    <a:p>
                      <a:r>
                        <a:rPr sz="1400" b="0">
                          <a:solidFill>
                            <a:srgbClr val="1B1F2A"/>
                          </a:solidFill>
                          <a:latin typeface="Arial"/>
                        </a:rPr>
                        <a:t>113 rows</a:t>
                      </a:r>
                    </a:p>
                  </a:txBody>
                  <a:tcPr marL="91440" marR="91440" marT="36576" marB="36576" anchor="ctr">
                    <a:solidFill>
                      <a:srgbClr val="F2F4F7"/>
                    </a:solidFill>
                  </a:tcPr>
                </a:tc>
                <a:tc>
                  <a:txBody>
                    <a:bodyPr wrap="square"/>
                    <a:lstStyle/>
                    <a:p>
                      <a:r>
                        <a:rPr sz="1400" b="0">
                          <a:solidFill>
                            <a:srgbClr val="1B1F2A"/>
                          </a:solidFill>
                          <a:latin typeface="Arial"/>
                        </a:rPr>
                        <a:t>Kept: real tail</a:t>
                      </a:r>
                    </a:p>
                  </a:txBody>
                  <a:tcPr marL="91440" marR="91440" marT="36576" marB="36576" anchor="ctr">
                    <a:solidFill>
                      <a:srgbClr val="F2F4F7"/>
                    </a:solidFill>
                  </a:tcPr>
                </a:tc>
              </a:tr>
              <a:tr h="457200">
                <a:tc>
                  <a:txBody>
                    <a:bodyPr wrap="square"/>
                    <a:lstStyle/>
                    <a:p>
                      <a:r>
                        <a:rPr sz="1400" b="0">
                          <a:solidFill>
                            <a:srgbClr val="1B1F2A"/>
                          </a:solidFill>
                          <a:latin typeface="Arial"/>
                        </a:rPr>
                        <a:t>Load factor above 100%</a:t>
                      </a:r>
                    </a:p>
                  </a:txBody>
                  <a:tcPr marL="91440" marR="91440" marT="36576" marB="36576" anchor="ctr">
                    <a:solidFill>
                      <a:srgbClr val="FFFFFF"/>
                    </a:solidFill>
                  </a:tcPr>
                </a:tc>
                <a:tc>
                  <a:txBody>
                    <a:bodyPr wrap="square"/>
                    <a:lstStyle/>
                    <a:p>
                      <a:r>
                        <a:rPr sz="1400" b="0">
                          <a:solidFill>
                            <a:srgbClr val="1B1F2A"/>
                          </a:solidFill>
                          <a:latin typeface="Arial"/>
                        </a:rPr>
                        <a:t>452 rows</a:t>
                      </a:r>
                    </a:p>
                  </a:txBody>
                  <a:tcPr marL="91440" marR="91440" marT="36576" marB="36576" anchor="ctr">
                    <a:solidFill>
                      <a:srgbClr val="FFFFFF"/>
                    </a:solidFill>
                  </a:tcPr>
                </a:tc>
                <a:tc>
                  <a:txBody>
                    <a:bodyPr wrap="square"/>
                    <a:lstStyle/>
                    <a:p>
                      <a:r>
                        <a:rPr sz="1400" b="0">
                          <a:solidFill>
                            <a:srgbClr val="1B1F2A"/>
                          </a:solidFill>
                          <a:latin typeface="Arial"/>
                        </a:rPr>
                        <a:t>Kept: overload</a:t>
                      </a:r>
                    </a:p>
                  </a:txBody>
                  <a:tcPr marL="91440" marR="91440" marT="36576" marB="36576" anchor="ctr">
                    <a:solidFill>
                      <a:srgbClr val="FFFFFF"/>
                    </a:solidFill>
                  </a:tcPr>
                </a:tc>
              </a:tr>
              <a:tr h="457200">
                <a:tc>
                  <a:txBody>
                    <a:bodyPr wrap="square"/>
                    <a:lstStyle/>
                    <a:p>
                      <a:r>
                        <a:rPr sz="1400" b="0">
                          <a:solidFill>
                            <a:srgbClr val="1B1F2A"/>
                          </a:solidFill>
                          <a:latin typeface="Arial"/>
                        </a:rPr>
                        <a:t>Rare failure modes (&lt;1%)</a:t>
                      </a:r>
                    </a:p>
                  </a:txBody>
                  <a:tcPr marL="91440" marR="91440" marT="36576" marB="36576" anchor="ctr">
                    <a:solidFill>
                      <a:srgbClr val="F2F4F7"/>
                    </a:solidFill>
                  </a:tcPr>
                </a:tc>
                <a:tc>
                  <a:txBody>
                    <a:bodyPr wrap="square"/>
                    <a:lstStyle/>
                    <a:p>
                      <a:r>
                        <a:rPr sz="1400" b="0">
                          <a:solidFill>
                            <a:srgbClr val="1B1F2A"/>
                          </a:solidFill>
                          <a:latin typeface="Arial"/>
                        </a:rPr>
                        <a:t>27 rows</a:t>
                      </a:r>
                    </a:p>
                  </a:txBody>
                  <a:tcPr marL="91440" marR="91440" marT="36576" marB="36576" anchor="ctr">
                    <a:solidFill>
                      <a:srgbClr val="F2F4F7"/>
                    </a:solidFill>
                  </a:tcPr>
                </a:tc>
                <a:tc>
                  <a:txBody>
                    <a:bodyPr wrap="square"/>
                    <a:lstStyle/>
                    <a:p>
                      <a:r>
                        <a:rPr sz="1400" b="0">
                          <a:solidFill>
                            <a:srgbClr val="1B1F2A"/>
                          </a:solidFill>
                          <a:latin typeface="Arial"/>
                        </a:rPr>
                        <a:t>Pooled as Other</a:t>
                      </a:r>
                    </a:p>
                  </a:txBody>
                  <a:tcPr marL="91440" marR="91440" marT="36576" marB="36576" anchor="ctr">
                    <a:solidFill>
                      <a:srgbClr val="F2F4F7"/>
                    </a:solidFill>
                  </a:tcPr>
                </a:tc>
              </a:tr>
              <a:tr h="457200">
                <a:tc>
                  <a:txBody>
                    <a:bodyPr wrap="square"/>
                    <a:lstStyle/>
                    <a:p>
                      <a:r>
                        <a:rPr sz="1400" b="0">
                          <a:solidFill>
                            <a:srgbClr val="1B1F2A"/>
                          </a:solidFill>
                          <a:latin typeface="Arial"/>
                        </a:rPr>
                        <a:t>Efficiency index at cap</a:t>
                      </a:r>
                    </a:p>
                  </a:txBody>
                  <a:tcPr marL="91440" marR="91440" marT="36576" marB="36576" anchor="ctr">
                    <a:solidFill>
                      <a:srgbClr val="FFFFFF"/>
                    </a:solidFill>
                  </a:tcPr>
                </a:tc>
                <a:tc>
                  <a:txBody>
                    <a:bodyPr wrap="square"/>
                    <a:lstStyle/>
                    <a:p>
                      <a:r>
                        <a:rPr sz="1400" b="0">
                          <a:solidFill>
                            <a:srgbClr val="1B1F2A"/>
                          </a:solidFill>
                          <a:latin typeface="Arial"/>
                        </a:rPr>
                        <a:t>53% at 100</a:t>
                      </a:r>
                    </a:p>
                  </a:txBody>
                  <a:tcPr marL="91440" marR="91440" marT="36576" marB="36576" anchor="ctr">
                    <a:solidFill>
                      <a:srgbClr val="FFFFFF"/>
                    </a:solidFill>
                  </a:tcPr>
                </a:tc>
                <a:tc>
                  <a:txBody>
                    <a:bodyPr wrap="square"/>
                    <a:lstStyle/>
                    <a:p>
                      <a:r>
                        <a:rPr sz="1400" b="0">
                          <a:solidFill>
                            <a:srgbClr val="1B1F2A"/>
                          </a:solidFill>
                          <a:latin typeface="Arial"/>
                        </a:rPr>
                        <a:t>Treated as capped</a:t>
                      </a:r>
                    </a:p>
                  </a:txBody>
                  <a:tcPr marL="91440" marR="91440" marT="36576" marB="36576" anchor="ctr">
                    <a:solidFill>
                      <a:srgbClr val="FFFFFF"/>
                    </a:solidFill>
                  </a:tcPr>
                </a:tc>
              </a:tr>
            </a:tbl>
          </a:graphicData>
        </a:graphic>
      </p:graphicFrame>
      <p:sp>
        <p:nvSpPr>
          <p:cNvPr id="7" name="Rounded Rectangle 6"/>
          <p:cNvSpPr/>
          <p:nvPr/>
        </p:nvSpPr>
        <p:spPr>
          <a:xfrm>
            <a:off x="8229600" y="1600200"/>
            <a:ext cx="3383280" cy="173736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58200" y="1801368"/>
            <a:ext cx="2926080" cy="685800"/>
          </a:xfrm>
          <a:prstGeom prst="rect">
            <a:avLst/>
          </a:prstGeom>
          <a:noFill/>
        </p:spPr>
        <p:txBody>
          <a:bodyPr wrap="square" lIns="0" rIns="0" tIns="0" bIns="0" anchor="t">
            <a:spAutoFit/>
          </a:bodyPr>
          <a:lstStyle/>
          <a:p>
            <a:pPr algn="l"/>
            <a:r>
              <a:rPr sz="3600" b="1" i="0">
                <a:solidFill>
                  <a:srgbClr val="1B1F2A"/>
                </a:solidFill>
                <a:latin typeface="Arial"/>
              </a:rPr>
              <a:t>300,000</a:t>
            </a:r>
          </a:p>
        </p:txBody>
      </p:sp>
      <p:sp>
        <p:nvSpPr>
          <p:cNvPr id="9" name="TextBox 8"/>
          <p:cNvSpPr txBox="1"/>
          <p:nvPr/>
        </p:nvSpPr>
        <p:spPr>
          <a:xfrm>
            <a:off x="8458200" y="2372868"/>
            <a:ext cx="2926080" cy="708659"/>
          </a:xfrm>
          <a:prstGeom prst="rect">
            <a:avLst/>
          </a:prstGeom>
          <a:noFill/>
        </p:spPr>
        <p:txBody>
          <a:bodyPr wrap="square" lIns="0" rIns="0" tIns="0" bIns="0" anchor="t">
            <a:spAutoFit/>
          </a:bodyPr>
          <a:lstStyle/>
          <a:p>
            <a:pPr algn="l"/>
            <a:r>
              <a:rPr sz="1400" b="0" i="0">
                <a:solidFill>
                  <a:srgbClr val="4A4F5C"/>
                </a:solidFill>
                <a:latin typeface="Arial"/>
              </a:rPr>
              <a:t>cells checked, zero missing</a:t>
            </a:r>
          </a:p>
        </p:txBody>
      </p:sp>
      <p:sp>
        <p:nvSpPr>
          <p:cNvPr id="10" name="Rounded Rectangle 9"/>
          <p:cNvSpPr/>
          <p:nvPr/>
        </p:nvSpPr>
        <p:spPr>
          <a:xfrm>
            <a:off x="8229600" y="3566160"/>
            <a:ext cx="3383280" cy="155448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58200" y="3767328"/>
            <a:ext cx="2926080" cy="685800"/>
          </a:xfrm>
          <a:prstGeom prst="rect">
            <a:avLst/>
          </a:prstGeom>
          <a:noFill/>
        </p:spPr>
        <p:txBody>
          <a:bodyPr wrap="square" lIns="0" rIns="0" tIns="0" bIns="0" anchor="t">
            <a:spAutoFit/>
          </a:bodyPr>
          <a:lstStyle/>
          <a:p>
            <a:pPr algn="l"/>
            <a:r>
              <a:rPr sz="3600" b="1" i="0">
                <a:solidFill>
                  <a:srgbClr val="1B1F2A"/>
                </a:solidFill>
                <a:latin typeface="Arial"/>
              </a:rPr>
              <a:t>0</a:t>
            </a:r>
          </a:p>
        </p:txBody>
      </p:sp>
      <p:sp>
        <p:nvSpPr>
          <p:cNvPr id="12" name="TextBox 11"/>
          <p:cNvSpPr txBox="1"/>
          <p:nvPr/>
        </p:nvSpPr>
        <p:spPr>
          <a:xfrm>
            <a:off x="8458200" y="4338828"/>
            <a:ext cx="2926080" cy="525780"/>
          </a:xfrm>
          <a:prstGeom prst="rect">
            <a:avLst/>
          </a:prstGeom>
          <a:noFill/>
        </p:spPr>
        <p:txBody>
          <a:bodyPr wrap="square" lIns="0" rIns="0" tIns="0" bIns="0" anchor="t">
            <a:spAutoFit/>
          </a:bodyPr>
          <a:lstStyle/>
          <a:p>
            <a:pPr algn="l"/>
            <a:r>
              <a:rPr sz="1400" b="0" i="0">
                <a:solidFill>
                  <a:srgbClr val="4A4F5C"/>
                </a:solidFill>
                <a:latin typeface="Arial"/>
              </a:rPr>
              <a:t>rows dropped or imputed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8229600" cy="274320"/>
          </a:xfrm>
          <a:prstGeom prst="rect">
            <a:avLst/>
          </a:prstGeom>
          <a:noFill/>
        </p:spPr>
        <p:txBody>
          <a:bodyPr wrap="square" lIns="0" rIns="0" tIns="0" bIns="0" anchor="t">
            <a:spAutoFit/>
          </a:bodyPr>
          <a:lstStyle/>
          <a:p>
            <a:pPr algn="l"/>
            <a:r>
              <a:rPr sz="1200" b="1" i="0">
                <a:solidFill>
                  <a:srgbClr val="E8762C"/>
                </a:solidFill>
                <a:latin typeface="Arial"/>
              </a:rPr>
              <a:t>STAGE 1B: DOES EACH COLUMN MEAN WHAT IT SAYS?</a:t>
            </a:r>
          </a:p>
        </p:txBody>
      </p:sp>
      <p:sp>
        <p:nvSpPr>
          <p:cNvPr id="3" name="TextBox 2"/>
          <p:cNvSpPr txBox="1"/>
          <p:nvPr/>
        </p:nvSpPr>
        <p:spPr>
          <a:xfrm>
            <a:off x="548640" y="521208"/>
            <a:ext cx="11094415" cy="868680"/>
          </a:xfrm>
          <a:prstGeom prst="rect">
            <a:avLst/>
          </a:prstGeom>
          <a:noFill/>
        </p:spPr>
        <p:txBody>
          <a:bodyPr wrap="square" lIns="0" rIns="0" tIns="0" bIns="0" anchor="t">
            <a:spAutoFit/>
          </a:bodyPr>
          <a:lstStyle/>
          <a:p>
            <a:pPr algn="l"/>
            <a:r>
              <a:rPr sz="3000" b="1" i="0">
                <a:solidFill>
                  <a:srgbClr val="1B1F2A"/>
                </a:solidFill>
                <a:latin typeface="Arial"/>
              </a:rPr>
              <a:t>One key is broken: Asset_ID does not identify an asset</a:t>
            </a:r>
          </a:p>
        </p:txBody>
      </p:sp>
      <p:sp>
        <p:nvSpPr>
          <p:cNvPr id="4" name="TextBox 3"/>
          <p:cNvSpPr txBox="1"/>
          <p:nvPr/>
        </p:nvSpPr>
        <p:spPr>
          <a:xfrm>
            <a:off x="548640" y="6473952"/>
            <a:ext cx="8229600" cy="228600"/>
          </a:xfrm>
          <a:prstGeom prst="rect">
            <a:avLst/>
          </a:prstGeom>
          <a:noFill/>
        </p:spPr>
        <p:txBody>
          <a:bodyPr wrap="square" lIns="0" rIns="0" tIns="0" bIns="0" anchor="t">
            <a:spAutoFit/>
          </a:bodyPr>
          <a:lstStyle/>
          <a:p>
            <a:pPr algn="l"/>
            <a:r>
              <a:rPr sz="1000" b="0" i="0">
                <a:solidFill>
                  <a:srgbClr val="6B707C"/>
                </a:solidFill>
                <a:latin typeface="Arial"/>
              </a:rPr>
              <a:t>Source: Group_9230_Team1_PMARIS_Enterprise_Dataset.csv, 5,000 observation windows</a:t>
            </a:r>
          </a:p>
        </p:txBody>
      </p:sp>
      <p:sp>
        <p:nvSpPr>
          <p:cNvPr id="5" name="TextBox 4"/>
          <p:cNvSpPr txBox="1"/>
          <p:nvPr/>
        </p:nvSpPr>
        <p:spPr>
          <a:xfrm>
            <a:off x="10271455" y="6473952"/>
            <a:ext cx="1371600" cy="228600"/>
          </a:xfrm>
          <a:prstGeom prst="rect">
            <a:avLst/>
          </a:prstGeom>
          <a:noFill/>
        </p:spPr>
        <p:txBody>
          <a:bodyPr wrap="square" lIns="0" rIns="0" tIns="0" bIns="0" anchor="t">
            <a:spAutoFit/>
          </a:bodyPr>
          <a:lstStyle/>
          <a:p>
            <a:pPr algn="r"/>
            <a:r>
              <a:rPr sz="1000" b="0" i="0">
                <a:solidFill>
                  <a:srgbClr val="6B707C"/>
                </a:solidFill>
                <a:latin typeface="Arial"/>
              </a:rPr>
              <a:t>8 / 30</a:t>
            </a:r>
          </a:p>
        </p:txBody>
      </p:sp>
      <p:sp>
        <p:nvSpPr>
          <p:cNvPr id="6" name="Rounded Rectangle 5"/>
          <p:cNvSpPr/>
          <p:nvPr/>
        </p:nvSpPr>
        <p:spPr>
          <a:xfrm>
            <a:off x="548640" y="1645920"/>
            <a:ext cx="4754880" cy="4480560"/>
          </a:xfrm>
          <a:prstGeom prst="roundRect">
            <a:avLst>
              <a:gd name="adj" fmla="val 6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65960"/>
            <a:ext cx="4114800" cy="1097280"/>
          </a:xfrm>
          <a:prstGeom prst="rect">
            <a:avLst/>
          </a:prstGeom>
          <a:noFill/>
        </p:spPr>
        <p:txBody>
          <a:bodyPr wrap="square" lIns="0" rIns="0" tIns="0" bIns="0" anchor="t">
            <a:spAutoFit/>
          </a:bodyPr>
          <a:lstStyle/>
          <a:p>
            <a:pPr algn="l"/>
            <a:r>
              <a:rPr sz="5400" b="1" i="0">
                <a:solidFill>
                  <a:srgbClr val="E8762C"/>
                </a:solidFill>
                <a:latin typeface="Arial"/>
              </a:rPr>
              <a:t>499 / 500</a:t>
            </a:r>
          </a:p>
        </p:txBody>
      </p:sp>
      <p:sp>
        <p:nvSpPr>
          <p:cNvPr id="8" name="TextBox 7"/>
          <p:cNvSpPr txBox="1"/>
          <p:nvPr/>
        </p:nvSpPr>
        <p:spPr>
          <a:xfrm>
            <a:off x="914400" y="3063240"/>
            <a:ext cx="4023360" cy="1097280"/>
          </a:xfrm>
          <a:prstGeom prst="rect">
            <a:avLst/>
          </a:prstGeom>
          <a:noFill/>
        </p:spPr>
        <p:txBody>
          <a:bodyPr wrap="square" lIns="0" rIns="0" tIns="0" bIns="0" anchor="t">
            <a:spAutoFit/>
          </a:bodyPr>
          <a:lstStyle/>
          <a:p>
            <a:pPr algn="l"/>
            <a:r>
              <a:rPr sz="1800" b="0" i="0">
                <a:solidFill>
                  <a:srgbClr val="FFFFFF"/>
                </a:solidFill>
                <a:latin typeface="Arial"/>
              </a:rPr>
              <a:t>Asset IDs that change site between observations</a:t>
            </a:r>
          </a:p>
        </p:txBody>
      </p:sp>
      <p:sp>
        <p:nvSpPr>
          <p:cNvPr id="9" name="TextBox 8"/>
          <p:cNvSpPr txBox="1"/>
          <p:nvPr/>
        </p:nvSpPr>
        <p:spPr>
          <a:xfrm>
            <a:off x="914400" y="4206240"/>
            <a:ext cx="4023360" cy="1645920"/>
          </a:xfrm>
          <a:prstGeom prst="rect">
            <a:avLst/>
          </a:prstGeom>
          <a:noFill/>
        </p:spPr>
        <p:txBody>
          <a:bodyPr wrap="square" lIns="0" rIns="0" tIns="0" bIns="0" anchor="t">
            <a:spAutoFit/>
          </a:bodyPr>
          <a:lstStyle/>
          <a:p>
            <a:pPr algn="l">
              <a:lnSpc>
                <a:spcPct val="110000"/>
              </a:lnSpc>
            </a:pPr>
            <a:r>
              <a:rPr sz="1500" b="0" i="0">
                <a:solidFill>
                  <a:srgbClr val="C9D6EA"/>
                </a:solidFill>
                <a:latin typeface="Arial"/>
              </a:rPr>
              <a:t>498 change criticality; for 497, asset age runs backwards in time.</a:t>
            </a:r>
          </a:p>
        </p:txBody>
      </p:sp>
      <p:sp>
        <p:nvSpPr>
          <p:cNvPr id="10" name="TextBox 9"/>
          <p:cNvSpPr txBox="1"/>
          <p:nvPr/>
        </p:nvSpPr>
        <p:spPr>
          <a:xfrm>
            <a:off x="5760720" y="1691640"/>
            <a:ext cx="5852160" cy="365760"/>
          </a:xfrm>
          <a:prstGeom prst="rect">
            <a:avLst/>
          </a:prstGeom>
          <a:noFill/>
        </p:spPr>
        <p:txBody>
          <a:bodyPr wrap="square" lIns="0" rIns="0" tIns="0" bIns="0" anchor="t">
            <a:spAutoFit/>
          </a:bodyPr>
          <a:lstStyle/>
          <a:p>
            <a:pPr algn="l"/>
            <a:r>
              <a:rPr sz="1800" b="1" i="0">
                <a:solidFill>
                  <a:srgbClr val="1B1F2A"/>
                </a:solidFill>
                <a:latin typeface="Arial"/>
              </a:rPr>
              <a:t>Other column checks</a:t>
            </a:r>
          </a:p>
        </p:txBody>
      </p:sp>
      <p:sp>
        <p:nvSpPr>
          <p:cNvPr id="11" name="TextBox 10"/>
          <p:cNvSpPr txBox="1"/>
          <p:nvPr/>
        </p:nvSpPr>
        <p:spPr>
          <a:xfrm>
            <a:off x="5760720" y="2194560"/>
            <a:ext cx="5852160" cy="3931920"/>
          </a:xfrm>
          <a:prstGeom prst="rect">
            <a:avLst/>
          </a:prstGeom>
          <a:noFill/>
        </p:spPr>
        <p:txBody>
          <a:bodyPr wrap="square" lIns="0" rIns="0" tIns="0" bIns="0" anchor="t">
            <a:spAutoFit/>
          </a:bodyPr>
          <a:lstStyle/>
          <a:p>
            <a:pPr algn="l">
              <a:spcAft>
                <a:spcPts val="1200"/>
              </a:spcAft>
            </a:pPr>
            <a:r>
              <a:rPr sz="1000">
                <a:solidFill>
                  <a:srgbClr val="E8762C"/>
                </a:solidFill>
                <a:latin typeface="Arial"/>
              </a:rPr>
              <a:t>■  </a:t>
            </a:r>
            <a:r>
              <a:rPr sz="1600" b="1">
                <a:solidFill>
                  <a:srgbClr val="1B1F2A"/>
                </a:solidFill>
                <a:latin typeface="Arial"/>
              </a:rPr>
              <a:t>Financial exposure ≈ revenue loss </a:t>
            </a:r>
            <a:r>
              <a:rPr sz="1600" b="0">
                <a:solidFill>
                  <a:srgbClr val="1B1F2A"/>
                </a:solidFill>
                <a:latin typeface="Arial"/>
              </a:rPr>
              <a:t>(r = 0.999). Never add them.</a:t>
            </a:r>
          </a:p>
          <a:p>
            <a:pPr>
              <a:spcAft>
                <a:spcPts val="1200"/>
              </a:spcAft>
            </a:pPr>
            <a:r>
              <a:rPr sz="1000">
                <a:solidFill>
                  <a:srgbClr val="E8762C"/>
                </a:solidFill>
                <a:latin typeface="Arial"/>
              </a:rPr>
              <a:t>■  </a:t>
            </a:r>
            <a:r>
              <a:rPr sz="1600" b="1">
                <a:solidFill>
                  <a:srgbClr val="1B1F2A"/>
                </a:solidFill>
                <a:latin typeface="Arial"/>
              </a:rPr>
              <a:t>Failure probability mirrors health </a:t>
            </a:r>
            <a:r>
              <a:rPr sz="1600" b="0">
                <a:solidFill>
                  <a:srgbClr val="1B1F2A"/>
                </a:solidFill>
                <a:latin typeface="Arial"/>
              </a:rPr>
              <a:t>(r = -0.972). Report one.</a:t>
            </a:r>
          </a:p>
          <a:p>
            <a:pPr>
              <a:spcAft>
                <a:spcPts val="1200"/>
              </a:spcAft>
            </a:pPr>
            <a:r>
              <a:rPr sz="1000">
                <a:solidFill>
                  <a:srgbClr val="E8762C"/>
                </a:solidFill>
                <a:latin typeface="Arial"/>
              </a:rPr>
              <a:t>■  </a:t>
            </a:r>
            <a:r>
              <a:rPr sz="1600" b="1">
                <a:solidFill>
                  <a:srgbClr val="1B1F2A"/>
                </a:solidFill>
                <a:latin typeface="Arial"/>
              </a:rPr>
              <a:t>Executive priority is a formula: </a:t>
            </a:r>
            <a:r>
              <a:rPr sz="1600" b="0">
                <a:solidFill>
                  <a:srgbClr val="1B1F2A"/>
                </a:solidFill>
                <a:latin typeface="Arial"/>
              </a:rPr>
              <a:t>fixed bands of the Maintenance Priority Index.</a:t>
            </a:r>
          </a:p>
          <a:p>
            <a:pPr>
              <a:spcAft>
                <a:spcPts val="1200"/>
              </a:spcAft>
            </a:pPr>
            <a:r>
              <a:rPr sz="1000">
                <a:solidFill>
                  <a:srgbClr val="E8762C"/>
                </a:solidFill>
                <a:latin typeface="Arial"/>
              </a:rPr>
              <a:t>■  </a:t>
            </a:r>
            <a:r>
              <a:rPr sz="1600" b="1">
                <a:solidFill>
                  <a:srgbClr val="1B1F2A"/>
                </a:solidFill>
                <a:latin typeface="Arial"/>
              </a:rPr>
              <a:t>Composite scores inter-correlate at 0.7 to 0.99: </a:t>
            </a:r>
            <a:r>
              <a:rPr sz="1600" b="0">
                <a:solidFill>
                  <a:srgbClr val="1B1F2A"/>
                </a:solidFill>
                <a:latin typeface="Arial"/>
              </a:rPr>
              <a:t>they describe a formula, not a discovery.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8229600" cy="274320"/>
          </a:xfrm>
          <a:prstGeom prst="rect">
            <a:avLst/>
          </a:prstGeom>
          <a:noFill/>
        </p:spPr>
        <p:txBody>
          <a:bodyPr wrap="square" lIns="0" rIns="0" tIns="0" bIns="0" anchor="t">
            <a:spAutoFit/>
          </a:bodyPr>
          <a:lstStyle/>
          <a:p>
            <a:pPr algn="l"/>
            <a:r>
              <a:rPr sz="1200" b="1" i="0">
                <a:solidFill>
                  <a:srgbClr val="E8762C"/>
                </a:solidFill>
                <a:latin typeface="Arial"/>
              </a:rPr>
              <a:t>STAGE 3B: THE SIGNIFICANCE GATE</a:t>
            </a:r>
          </a:p>
        </p:txBody>
      </p:sp>
      <p:sp>
        <p:nvSpPr>
          <p:cNvPr id="3" name="TextBox 2"/>
          <p:cNvSpPr txBox="1"/>
          <p:nvPr/>
        </p:nvSpPr>
        <p:spPr>
          <a:xfrm>
            <a:off x="548640" y="521208"/>
            <a:ext cx="11094415" cy="868680"/>
          </a:xfrm>
          <a:prstGeom prst="rect">
            <a:avLst/>
          </a:prstGeom>
          <a:noFill/>
        </p:spPr>
        <p:txBody>
          <a:bodyPr wrap="square" lIns="0" rIns="0" tIns="0" bIns="0" anchor="t">
            <a:spAutoFit/>
          </a:bodyPr>
          <a:lstStyle/>
          <a:p>
            <a:pPr algn="l"/>
            <a:r>
              <a:rPr sz="3000" b="1" i="0">
                <a:solidFill>
                  <a:srgbClr val="1B1F2A"/>
                </a:solidFill>
                <a:latin typeface="Arial"/>
              </a:rPr>
              <a:t>26 of 33 differences are real; OEM and shift are not</a:t>
            </a:r>
          </a:p>
        </p:txBody>
      </p:sp>
      <p:sp>
        <p:nvSpPr>
          <p:cNvPr id="4" name="TextBox 3"/>
          <p:cNvSpPr txBox="1"/>
          <p:nvPr/>
        </p:nvSpPr>
        <p:spPr>
          <a:xfrm>
            <a:off x="548640" y="6473952"/>
            <a:ext cx="8229600" cy="228600"/>
          </a:xfrm>
          <a:prstGeom prst="rect">
            <a:avLst/>
          </a:prstGeom>
          <a:noFill/>
        </p:spPr>
        <p:txBody>
          <a:bodyPr wrap="square" lIns="0" rIns="0" tIns="0" bIns="0" anchor="t">
            <a:spAutoFit/>
          </a:bodyPr>
          <a:lstStyle/>
          <a:p>
            <a:pPr algn="l"/>
            <a:r>
              <a:rPr sz="1000" b="0" i="0">
                <a:solidFill>
                  <a:srgbClr val="6B707C"/>
                </a:solidFill>
                <a:latin typeface="Arial"/>
              </a:rPr>
              <a:t>Source: Group_9230_Team1_PMARIS_Enterprise_Dataset.csv, 5,000 observation windows</a:t>
            </a:r>
          </a:p>
        </p:txBody>
      </p:sp>
      <p:sp>
        <p:nvSpPr>
          <p:cNvPr id="5" name="TextBox 4"/>
          <p:cNvSpPr txBox="1"/>
          <p:nvPr/>
        </p:nvSpPr>
        <p:spPr>
          <a:xfrm>
            <a:off x="10271455" y="6473952"/>
            <a:ext cx="1371600" cy="228600"/>
          </a:xfrm>
          <a:prstGeom prst="rect">
            <a:avLst/>
          </a:prstGeom>
          <a:noFill/>
        </p:spPr>
        <p:txBody>
          <a:bodyPr wrap="square" lIns="0" rIns="0" tIns="0" bIns="0" anchor="t">
            <a:spAutoFit/>
          </a:bodyPr>
          <a:lstStyle/>
          <a:p>
            <a:pPr algn="r"/>
            <a:r>
              <a:rPr sz="1000" b="0" i="0">
                <a:solidFill>
                  <a:srgbClr val="6B707C"/>
                </a:solidFill>
                <a:latin typeface="Arial"/>
              </a:rPr>
              <a:t>9 / 30</a:t>
            </a:r>
          </a:p>
        </p:txBody>
      </p:sp>
      <p:graphicFrame>
        <p:nvGraphicFramePr>
          <p:cNvPr id="6" name="Chart 5"/>
          <p:cNvGraphicFramePr>
            <a:graphicFrameLocks noGrp="1"/>
          </p:cNvGraphicFramePr>
          <p:nvPr/>
        </p:nvGraphicFramePr>
        <p:xfrm>
          <a:off x="548640" y="1554480"/>
          <a:ext cx="7498079" cy="4480560"/>
        </p:xfrm>
        <a:graphic>
          <a:graphicData uri="http://schemas.openxmlformats.org/drawingml/2006/chart">
            <c:chart xmlns:c="http://schemas.openxmlformats.org/drawingml/2006/chart" r:id="rId3"/>
          </a:graphicData>
        </a:graphic>
      </p:graphicFrame>
      <p:sp>
        <p:nvSpPr>
          <p:cNvPr id="7" name="Rounded Rectangle 6"/>
          <p:cNvSpPr/>
          <p:nvPr/>
        </p:nvSpPr>
        <p:spPr>
          <a:xfrm>
            <a:off x="8412480" y="1645920"/>
            <a:ext cx="3200400" cy="429768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0" y="1874519"/>
            <a:ext cx="2651760" cy="274320"/>
          </a:xfrm>
          <a:prstGeom prst="rect">
            <a:avLst/>
          </a:prstGeom>
          <a:noFill/>
        </p:spPr>
        <p:txBody>
          <a:bodyPr wrap="square" lIns="0" rIns="0" tIns="0" bIns="0" anchor="t">
            <a:spAutoFit/>
          </a:bodyPr>
          <a:lstStyle/>
          <a:p>
            <a:pPr algn="l"/>
            <a:r>
              <a:rPr sz="1200" b="1" i="0">
                <a:solidFill>
                  <a:srgbClr val="E8762C"/>
                </a:solidFill>
                <a:latin typeface="Arial"/>
              </a:rPr>
              <a:t>READ IT AS</a:t>
            </a:r>
          </a:p>
        </p:txBody>
      </p:sp>
      <p:sp>
        <p:nvSpPr>
          <p:cNvPr id="9" name="TextBox 8"/>
          <p:cNvSpPr txBox="1"/>
          <p:nvPr/>
        </p:nvSpPr>
        <p:spPr>
          <a:xfrm>
            <a:off x="8686800" y="2212848"/>
            <a:ext cx="2651760" cy="3566160"/>
          </a:xfrm>
          <a:prstGeom prst="rect">
            <a:avLst/>
          </a:prstGeom>
          <a:noFill/>
        </p:spPr>
        <p:txBody>
          <a:bodyPr wrap="square" lIns="0" rIns="0" tIns="0" bIns="0" anchor="t">
            <a:spAutoFit/>
          </a:bodyPr>
          <a:lstStyle/>
          <a:p>
            <a:pPr algn="l">
              <a:lnSpc>
                <a:spcPct val="110000"/>
              </a:lnSpc>
            </a:pPr>
            <a:r>
              <a:rPr sz="1600" b="0" i="0">
                <a:solidFill>
                  <a:srgbClr val="1B1F2A"/>
                </a:solidFill>
                <a:latin typeface="Arial"/>
              </a:rPr>
              <a:t>Failure mode, spares and strategy explain the most downtime. Site explains 1.5%. Manufacturer, shift and criticality show no downtime difference.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Oval 1"/>
          <p:cNvSpPr/>
          <p:nvPr/>
        </p:nvSpPr>
        <p:spPr>
          <a:xfrm>
            <a:off x="548640" y="2148840"/>
            <a:ext cx="822960" cy="822960"/>
          </a:xfrm>
          <a:prstGeom prst="ellipse">
            <a:avLst/>
          </a:prstGeom>
          <a:solidFill>
            <a:srgbClr val="E87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800" b="1">
                <a:solidFill>
                  <a:srgbClr val="FFFFFF"/>
                </a:solidFill>
                <a:latin typeface="Arial"/>
              </a:rPr>
              <a:t>B</a:t>
            </a:r>
          </a:p>
        </p:txBody>
      </p:sp>
      <p:sp>
        <p:nvSpPr>
          <p:cNvPr id="3" name="TextBox 2"/>
          <p:cNvSpPr txBox="1"/>
          <p:nvPr/>
        </p:nvSpPr>
        <p:spPr>
          <a:xfrm>
            <a:off x="548640" y="3200400"/>
            <a:ext cx="10058400" cy="1097280"/>
          </a:xfrm>
          <a:prstGeom prst="rect">
            <a:avLst/>
          </a:prstGeom>
          <a:noFill/>
        </p:spPr>
        <p:txBody>
          <a:bodyPr wrap="square" lIns="0" rIns="0" tIns="0" bIns="0" anchor="t">
            <a:spAutoFit/>
          </a:bodyPr>
          <a:lstStyle/>
          <a:p>
            <a:pPr algn="l"/>
            <a:r>
              <a:rPr sz="4000" b="1" i="0">
                <a:solidFill>
                  <a:srgbClr val="FFFFFF"/>
                </a:solidFill>
                <a:latin typeface="Arial"/>
              </a:rPr>
              <a:t>Where the loss is</a:t>
            </a:r>
          </a:p>
        </p:txBody>
      </p:sp>
      <p:sp>
        <p:nvSpPr>
          <p:cNvPr id="4" name="TextBox 3"/>
          <p:cNvSpPr txBox="1"/>
          <p:nvPr/>
        </p:nvSpPr>
        <p:spPr>
          <a:xfrm>
            <a:off x="548640" y="4343400"/>
            <a:ext cx="9601200" cy="914400"/>
          </a:xfrm>
          <a:prstGeom prst="rect">
            <a:avLst/>
          </a:prstGeom>
          <a:noFill/>
        </p:spPr>
        <p:txBody>
          <a:bodyPr wrap="square" lIns="0" rIns="0" tIns="0" bIns="0" anchor="t">
            <a:spAutoFit/>
          </a:bodyPr>
          <a:lstStyle/>
          <a:p>
            <a:pPr algn="l"/>
            <a:r>
              <a:rPr sz="1800" b="0" i="0">
                <a:solidFill>
                  <a:srgbClr val="C9D6EA"/>
                </a:solidFill>
                <a:latin typeface="Arial"/>
              </a:rPr>
              <a:t>Concentrated in a fifth of the windows, and tied to asset health</a:t>
            </a:r>
          </a:p>
        </p:txBody>
      </p:sp>
      <p:sp>
        <p:nvSpPr>
          <p:cNvPr id="5" name="TextBox 4"/>
          <p:cNvSpPr txBox="1"/>
          <p:nvPr/>
        </p:nvSpPr>
        <p:spPr>
          <a:xfrm>
            <a:off x="548640" y="6473952"/>
            <a:ext cx="8229600" cy="228600"/>
          </a:xfrm>
          <a:prstGeom prst="rect">
            <a:avLst/>
          </a:prstGeom>
          <a:noFill/>
        </p:spPr>
        <p:txBody>
          <a:bodyPr wrap="square" lIns="0" rIns="0" tIns="0" bIns="0" anchor="t">
            <a:spAutoFit/>
          </a:bodyPr>
          <a:lstStyle/>
          <a:p>
            <a:pPr algn="l"/>
            <a:r>
              <a:rPr sz="1000" b="0" i="0">
                <a:solidFill>
                  <a:srgbClr val="C9D6EA"/>
                </a:solidFill>
                <a:latin typeface="Arial"/>
              </a:rPr>
              <a:t>Source: Group_9230_Team1_PMARIS_Enterprise_Dataset.csv, 5,000 observation windows</a:t>
            </a:r>
          </a:p>
        </p:txBody>
      </p:sp>
      <p:sp>
        <p:nvSpPr>
          <p:cNvPr id="6" name="TextBox 5"/>
          <p:cNvSpPr txBox="1"/>
          <p:nvPr/>
        </p:nvSpPr>
        <p:spPr>
          <a:xfrm>
            <a:off x="10271455" y="6473952"/>
            <a:ext cx="1371600" cy="228600"/>
          </a:xfrm>
          <a:prstGeom prst="rect">
            <a:avLst/>
          </a:prstGeom>
          <a:noFill/>
        </p:spPr>
        <p:txBody>
          <a:bodyPr wrap="square" lIns="0" rIns="0" tIns="0" bIns="0" anchor="t">
            <a:spAutoFit/>
          </a:bodyPr>
          <a:lstStyle/>
          <a:p>
            <a:pPr algn="r"/>
            <a:r>
              <a:rPr sz="1000" b="0" i="0">
                <a:solidFill>
                  <a:srgbClr val="C9D6EA"/>
                </a:solidFill>
                <a:latin typeface="Arial"/>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8229600" cy="274320"/>
          </a:xfrm>
          <a:prstGeom prst="rect">
            <a:avLst/>
          </a:prstGeom>
          <a:noFill/>
        </p:spPr>
        <p:txBody>
          <a:bodyPr wrap="square" lIns="0" rIns="0" tIns="0" bIns="0" anchor="t">
            <a:spAutoFit/>
          </a:bodyPr>
          <a:lstStyle/>
          <a:p>
            <a:pPr algn="l"/>
            <a:r>
              <a:rPr sz="1200" b="1" i="0">
                <a:solidFill>
                  <a:srgbClr val="E8762C"/>
                </a:solidFill>
                <a:latin typeface="Arial"/>
              </a:rPr>
              <a:t>THE HEADLINE NUMBERS</a:t>
            </a:r>
          </a:p>
        </p:txBody>
      </p:sp>
      <p:sp>
        <p:nvSpPr>
          <p:cNvPr id="3" name="TextBox 2"/>
          <p:cNvSpPr txBox="1"/>
          <p:nvPr/>
        </p:nvSpPr>
        <p:spPr>
          <a:xfrm>
            <a:off x="548640" y="521208"/>
            <a:ext cx="11094415" cy="868680"/>
          </a:xfrm>
          <a:prstGeom prst="rect">
            <a:avLst/>
          </a:prstGeom>
          <a:noFill/>
        </p:spPr>
        <p:txBody>
          <a:bodyPr wrap="square" lIns="0" rIns="0" tIns="0" bIns="0" anchor="t">
            <a:spAutoFit/>
          </a:bodyPr>
          <a:lstStyle/>
          <a:p>
            <a:pPr algn="l"/>
            <a:r>
              <a:rPr sz="3000" b="1" i="0">
                <a:solidFill>
                  <a:srgbClr val="1B1F2A"/>
                </a:solidFill>
                <a:latin typeface="Arial"/>
              </a:rPr>
              <a:t>EGP 1.88B lost to 54,938 hours of downtime</a:t>
            </a:r>
          </a:p>
        </p:txBody>
      </p:sp>
      <p:sp>
        <p:nvSpPr>
          <p:cNvPr id="4" name="TextBox 3"/>
          <p:cNvSpPr txBox="1"/>
          <p:nvPr/>
        </p:nvSpPr>
        <p:spPr>
          <a:xfrm>
            <a:off x="548640" y="6473952"/>
            <a:ext cx="8229600" cy="228600"/>
          </a:xfrm>
          <a:prstGeom prst="rect">
            <a:avLst/>
          </a:prstGeom>
          <a:noFill/>
        </p:spPr>
        <p:txBody>
          <a:bodyPr wrap="square" lIns="0" rIns="0" tIns="0" bIns="0" anchor="t">
            <a:spAutoFit/>
          </a:bodyPr>
          <a:lstStyle/>
          <a:p>
            <a:pPr algn="l"/>
            <a:r>
              <a:rPr sz="1000" b="0" i="0">
                <a:solidFill>
                  <a:srgbClr val="6B707C"/>
                </a:solidFill>
                <a:latin typeface="Arial"/>
              </a:rPr>
              <a:t>Source: Group_9230_Team1_PMARIS_Enterprise_Dataset.csv, 5,000 observation windows</a:t>
            </a:r>
          </a:p>
        </p:txBody>
      </p:sp>
      <p:sp>
        <p:nvSpPr>
          <p:cNvPr id="5" name="TextBox 4"/>
          <p:cNvSpPr txBox="1"/>
          <p:nvPr/>
        </p:nvSpPr>
        <p:spPr>
          <a:xfrm>
            <a:off x="10271455" y="6473952"/>
            <a:ext cx="1371600" cy="228600"/>
          </a:xfrm>
          <a:prstGeom prst="rect">
            <a:avLst/>
          </a:prstGeom>
          <a:noFill/>
        </p:spPr>
        <p:txBody>
          <a:bodyPr wrap="square" lIns="0" rIns="0" tIns="0" bIns="0" anchor="t">
            <a:spAutoFit/>
          </a:bodyPr>
          <a:lstStyle/>
          <a:p>
            <a:pPr algn="r"/>
            <a:r>
              <a:rPr sz="1000" b="0" i="0">
                <a:solidFill>
                  <a:srgbClr val="6B707C"/>
                </a:solidFill>
                <a:latin typeface="Arial"/>
              </a:rPr>
              <a:t>11 / 30</a:t>
            </a:r>
          </a:p>
        </p:txBody>
      </p:sp>
      <p:sp>
        <p:nvSpPr>
          <p:cNvPr id="6" name="Rounded Rectangle 5"/>
          <p:cNvSpPr/>
          <p:nvPr/>
        </p:nvSpPr>
        <p:spPr>
          <a:xfrm>
            <a:off x="548640" y="1691640"/>
            <a:ext cx="2606040" cy="210312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92808"/>
            <a:ext cx="2148840" cy="685800"/>
          </a:xfrm>
          <a:prstGeom prst="rect">
            <a:avLst/>
          </a:prstGeom>
          <a:noFill/>
        </p:spPr>
        <p:txBody>
          <a:bodyPr wrap="square" lIns="0" rIns="0" tIns="0" bIns="0" anchor="t">
            <a:spAutoFit/>
          </a:bodyPr>
          <a:lstStyle/>
          <a:p>
            <a:pPr algn="l"/>
            <a:r>
              <a:rPr sz="3800" b="1" i="0">
                <a:solidFill>
                  <a:srgbClr val="1B1F2A"/>
                </a:solidFill>
                <a:latin typeface="Arial"/>
              </a:rPr>
              <a:t>1.88B</a:t>
            </a:r>
          </a:p>
        </p:txBody>
      </p:sp>
      <p:sp>
        <p:nvSpPr>
          <p:cNvPr id="8" name="TextBox 7"/>
          <p:cNvSpPr txBox="1"/>
          <p:nvPr/>
        </p:nvSpPr>
        <p:spPr>
          <a:xfrm>
            <a:off x="777240" y="2496058"/>
            <a:ext cx="2148840" cy="1042669"/>
          </a:xfrm>
          <a:prstGeom prst="rect">
            <a:avLst/>
          </a:prstGeom>
          <a:noFill/>
        </p:spPr>
        <p:txBody>
          <a:bodyPr wrap="square" lIns="0" rIns="0" tIns="0" bIns="0" anchor="t">
            <a:spAutoFit/>
          </a:bodyPr>
          <a:lstStyle/>
          <a:p>
            <a:pPr algn="l"/>
            <a:r>
              <a:rPr sz="1400" b="0" i="0">
                <a:solidFill>
                  <a:srgbClr val="4A4F5C"/>
                </a:solidFill>
                <a:latin typeface="Arial"/>
              </a:rPr>
              <a:t>EGP revenue loss, all windows</a:t>
            </a:r>
          </a:p>
        </p:txBody>
      </p:sp>
      <p:sp>
        <p:nvSpPr>
          <p:cNvPr id="9" name="Rounded Rectangle 8"/>
          <p:cNvSpPr/>
          <p:nvPr/>
        </p:nvSpPr>
        <p:spPr>
          <a:xfrm>
            <a:off x="3383280" y="1691640"/>
            <a:ext cx="2606040" cy="210312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11880" y="1892808"/>
            <a:ext cx="2148840" cy="685800"/>
          </a:xfrm>
          <a:prstGeom prst="rect">
            <a:avLst/>
          </a:prstGeom>
          <a:noFill/>
        </p:spPr>
        <p:txBody>
          <a:bodyPr wrap="square" lIns="0" rIns="0" tIns="0" bIns="0" anchor="t">
            <a:spAutoFit/>
          </a:bodyPr>
          <a:lstStyle/>
          <a:p>
            <a:pPr algn="l"/>
            <a:r>
              <a:rPr sz="3800" b="1" i="0">
                <a:solidFill>
                  <a:srgbClr val="1B1F2A"/>
                </a:solidFill>
                <a:latin typeface="Arial"/>
              </a:rPr>
              <a:t>11.0 h</a:t>
            </a:r>
          </a:p>
        </p:txBody>
      </p:sp>
      <p:sp>
        <p:nvSpPr>
          <p:cNvPr id="11" name="TextBox 10"/>
          <p:cNvSpPr txBox="1"/>
          <p:nvPr/>
        </p:nvSpPr>
        <p:spPr>
          <a:xfrm>
            <a:off x="3611880" y="2496058"/>
            <a:ext cx="2148840" cy="1042669"/>
          </a:xfrm>
          <a:prstGeom prst="rect">
            <a:avLst/>
          </a:prstGeom>
          <a:noFill/>
        </p:spPr>
        <p:txBody>
          <a:bodyPr wrap="square" lIns="0" rIns="0" tIns="0" bIns="0" anchor="t">
            <a:spAutoFit/>
          </a:bodyPr>
          <a:lstStyle/>
          <a:p>
            <a:pPr algn="l"/>
            <a:r>
              <a:rPr sz="1400" b="0" i="0">
                <a:solidFill>
                  <a:srgbClr val="4A4F5C"/>
                </a:solidFill>
                <a:latin typeface="Arial"/>
              </a:rPr>
              <a:t>mean unplanned downtime per window</a:t>
            </a:r>
          </a:p>
        </p:txBody>
      </p:sp>
      <p:sp>
        <p:nvSpPr>
          <p:cNvPr id="12" name="Rounded Rectangle 11"/>
          <p:cNvSpPr/>
          <p:nvPr/>
        </p:nvSpPr>
        <p:spPr>
          <a:xfrm>
            <a:off x="6217920" y="1691640"/>
            <a:ext cx="2606040" cy="210312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892808"/>
            <a:ext cx="2148840" cy="685800"/>
          </a:xfrm>
          <a:prstGeom prst="rect">
            <a:avLst/>
          </a:prstGeom>
          <a:noFill/>
        </p:spPr>
        <p:txBody>
          <a:bodyPr wrap="square" lIns="0" rIns="0" tIns="0" bIns="0" anchor="t">
            <a:spAutoFit/>
          </a:bodyPr>
          <a:lstStyle/>
          <a:p>
            <a:pPr algn="l"/>
            <a:r>
              <a:rPr sz="3800" b="1" i="0">
                <a:solidFill>
                  <a:srgbClr val="1B1F2A"/>
                </a:solidFill>
                <a:latin typeface="Arial"/>
              </a:rPr>
              <a:t>19.2%</a:t>
            </a:r>
          </a:p>
        </p:txBody>
      </p:sp>
      <p:sp>
        <p:nvSpPr>
          <p:cNvPr id="14" name="TextBox 13"/>
          <p:cNvSpPr txBox="1"/>
          <p:nvPr/>
        </p:nvSpPr>
        <p:spPr>
          <a:xfrm>
            <a:off x="6446520" y="2496058"/>
            <a:ext cx="2148840" cy="1042669"/>
          </a:xfrm>
          <a:prstGeom prst="rect">
            <a:avLst/>
          </a:prstGeom>
          <a:noFill/>
        </p:spPr>
        <p:txBody>
          <a:bodyPr wrap="square" lIns="0" rIns="0" tIns="0" bIns="0" anchor="t">
            <a:spAutoFit/>
          </a:bodyPr>
          <a:lstStyle/>
          <a:p>
            <a:pPr algn="l"/>
            <a:r>
              <a:rPr sz="1400" b="0" i="0">
                <a:solidFill>
                  <a:srgbClr val="4A4F5C"/>
                </a:solidFill>
                <a:latin typeface="Arial"/>
              </a:rPr>
              <a:t>of windows high-risk (failure probability ≥ 50%)</a:t>
            </a:r>
          </a:p>
        </p:txBody>
      </p:sp>
      <p:sp>
        <p:nvSpPr>
          <p:cNvPr id="15" name="Rounded Rectangle 14"/>
          <p:cNvSpPr/>
          <p:nvPr/>
        </p:nvSpPr>
        <p:spPr>
          <a:xfrm>
            <a:off x="9052560" y="1691640"/>
            <a:ext cx="2606040" cy="2103120"/>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81160" y="1892808"/>
            <a:ext cx="2148840" cy="685800"/>
          </a:xfrm>
          <a:prstGeom prst="rect">
            <a:avLst/>
          </a:prstGeom>
          <a:noFill/>
        </p:spPr>
        <p:txBody>
          <a:bodyPr wrap="square" lIns="0" rIns="0" tIns="0" bIns="0" anchor="t">
            <a:spAutoFit/>
          </a:bodyPr>
          <a:lstStyle/>
          <a:p>
            <a:pPr algn="l"/>
            <a:r>
              <a:rPr sz="3800" b="1" i="0">
                <a:solidFill>
                  <a:srgbClr val="E8762C"/>
                </a:solidFill>
                <a:latin typeface="Arial"/>
              </a:rPr>
              <a:t>46.7%</a:t>
            </a:r>
          </a:p>
        </p:txBody>
      </p:sp>
      <p:sp>
        <p:nvSpPr>
          <p:cNvPr id="17" name="TextBox 16"/>
          <p:cNvSpPr txBox="1"/>
          <p:nvPr/>
        </p:nvSpPr>
        <p:spPr>
          <a:xfrm>
            <a:off x="9281160" y="2496058"/>
            <a:ext cx="2148840" cy="1042669"/>
          </a:xfrm>
          <a:prstGeom prst="rect">
            <a:avLst/>
          </a:prstGeom>
          <a:noFill/>
        </p:spPr>
        <p:txBody>
          <a:bodyPr wrap="square" lIns="0" rIns="0" tIns="0" bIns="0" anchor="t">
            <a:spAutoFit/>
          </a:bodyPr>
          <a:lstStyle/>
          <a:p>
            <a:pPr algn="l"/>
            <a:r>
              <a:rPr sz="1400" b="0" i="0">
                <a:solidFill>
                  <a:srgbClr val="FFFFFF"/>
                </a:solidFill>
                <a:latin typeface="Arial"/>
              </a:rPr>
              <a:t>of revenue loss sits in those windows</a:t>
            </a:r>
          </a:p>
        </p:txBody>
      </p:sp>
      <p:graphicFrame>
        <p:nvGraphicFramePr>
          <p:cNvPr id="18" name="Chart 17"/>
          <p:cNvGraphicFramePr>
            <a:graphicFrameLocks noGrp="1"/>
          </p:cNvGraphicFramePr>
          <p:nvPr/>
        </p:nvGraphicFramePr>
        <p:xfrm>
          <a:off x="548640" y="4023360"/>
          <a:ext cx="5120640" cy="2377440"/>
        </p:xfrm>
        <a:graphic>
          <a:graphicData uri="http://schemas.openxmlformats.org/drawingml/2006/chart">
            <c:chart xmlns:c="http://schemas.openxmlformats.org/drawingml/2006/chart" r:id="rId3"/>
          </a:graphicData>
        </a:graphic>
      </p:graphicFrame>
      <p:sp>
        <p:nvSpPr>
          <p:cNvPr id="19" name="TextBox 18"/>
          <p:cNvSpPr txBox="1"/>
          <p:nvPr/>
        </p:nvSpPr>
        <p:spPr>
          <a:xfrm>
            <a:off x="6126479" y="4206240"/>
            <a:ext cx="5486400" cy="2194560"/>
          </a:xfrm>
          <a:prstGeom prst="rect">
            <a:avLst/>
          </a:prstGeom>
          <a:noFill/>
        </p:spPr>
        <p:txBody>
          <a:bodyPr wrap="square" lIns="0" rIns="0" tIns="0" bIns="0" anchor="t">
            <a:spAutoFit/>
          </a:bodyPr>
          <a:lstStyle/>
          <a:p>
            <a:pPr algn="l">
              <a:lnSpc>
                <a:spcPct val="115000"/>
              </a:lnSpc>
            </a:pPr>
            <a:r>
              <a:rPr sz="1800" b="1" i="0">
                <a:solidFill>
                  <a:srgbClr val="1B1F2A"/>
                </a:solidFill>
                <a:latin typeface="Arial"/>
              </a:rPr>
              <a:t>19% of windows, 47% of the loss. </a:t>
            </a:r>
            <a:r>
              <a:rPr sz="1800" b="0" i="0">
                <a:solidFill>
                  <a:srgbClr val="1B1F2A"/>
                </a:solidFill>
                <a:latin typeface="Arial"/>
              </a:rPr>
              <a:t>The high-risk slice is small enough to target and large enough to matter.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8229600" cy="274320"/>
          </a:xfrm>
          <a:prstGeom prst="rect">
            <a:avLst/>
          </a:prstGeom>
          <a:noFill/>
        </p:spPr>
        <p:txBody>
          <a:bodyPr wrap="square" lIns="0" rIns="0" tIns="0" bIns="0" anchor="t">
            <a:spAutoFit/>
          </a:bodyPr>
          <a:lstStyle/>
          <a:p>
            <a:pPr algn="l"/>
            <a:r>
              <a:rPr sz="1200" b="1" i="0">
                <a:solidFill>
                  <a:srgbClr val="E8762C"/>
                </a:solidFill>
                <a:latin typeface="Arial"/>
              </a:rPr>
              <a:t>CONCENTRATION</a:t>
            </a:r>
          </a:p>
        </p:txBody>
      </p:sp>
      <p:sp>
        <p:nvSpPr>
          <p:cNvPr id="3" name="TextBox 2"/>
          <p:cNvSpPr txBox="1"/>
          <p:nvPr/>
        </p:nvSpPr>
        <p:spPr>
          <a:xfrm>
            <a:off x="548640" y="521208"/>
            <a:ext cx="11094415" cy="868680"/>
          </a:xfrm>
          <a:prstGeom prst="rect">
            <a:avLst/>
          </a:prstGeom>
          <a:noFill/>
        </p:spPr>
        <p:txBody>
          <a:bodyPr wrap="square" lIns="0" rIns="0" tIns="0" bIns="0" anchor="t">
            <a:spAutoFit/>
          </a:bodyPr>
          <a:lstStyle/>
          <a:p>
            <a:pPr algn="l"/>
            <a:r>
              <a:rPr sz="3000" b="1" i="0">
                <a:solidFill>
                  <a:srgbClr val="1B1F2A"/>
                </a:solidFill>
                <a:latin typeface="Arial"/>
              </a:rPr>
              <a:t>A tenth of the windows carry 45% of the loss</a:t>
            </a:r>
          </a:p>
        </p:txBody>
      </p:sp>
      <p:sp>
        <p:nvSpPr>
          <p:cNvPr id="4" name="TextBox 3"/>
          <p:cNvSpPr txBox="1"/>
          <p:nvPr/>
        </p:nvSpPr>
        <p:spPr>
          <a:xfrm>
            <a:off x="548640" y="6473952"/>
            <a:ext cx="8229600" cy="228600"/>
          </a:xfrm>
          <a:prstGeom prst="rect">
            <a:avLst/>
          </a:prstGeom>
          <a:noFill/>
        </p:spPr>
        <p:txBody>
          <a:bodyPr wrap="square" lIns="0" rIns="0" tIns="0" bIns="0" anchor="t">
            <a:spAutoFit/>
          </a:bodyPr>
          <a:lstStyle/>
          <a:p>
            <a:pPr algn="l"/>
            <a:r>
              <a:rPr sz="1000" b="0" i="0">
                <a:solidFill>
                  <a:srgbClr val="6B707C"/>
                </a:solidFill>
                <a:latin typeface="Arial"/>
              </a:rPr>
              <a:t>Source: Group_9230_Team1_PMARIS_Enterprise_Dataset.csv, 5,000 observation windows</a:t>
            </a:r>
          </a:p>
        </p:txBody>
      </p:sp>
      <p:sp>
        <p:nvSpPr>
          <p:cNvPr id="5" name="TextBox 4"/>
          <p:cNvSpPr txBox="1"/>
          <p:nvPr/>
        </p:nvSpPr>
        <p:spPr>
          <a:xfrm>
            <a:off x="10271455" y="6473952"/>
            <a:ext cx="1371600" cy="228600"/>
          </a:xfrm>
          <a:prstGeom prst="rect">
            <a:avLst/>
          </a:prstGeom>
          <a:noFill/>
        </p:spPr>
        <p:txBody>
          <a:bodyPr wrap="square" lIns="0" rIns="0" tIns="0" bIns="0" anchor="t">
            <a:spAutoFit/>
          </a:bodyPr>
          <a:lstStyle/>
          <a:p>
            <a:pPr algn="r"/>
            <a:r>
              <a:rPr sz="1000" b="0" i="0">
                <a:solidFill>
                  <a:srgbClr val="6B707C"/>
                </a:solidFill>
                <a:latin typeface="Arial"/>
              </a:rPr>
              <a:t>12 / 30</a:t>
            </a:r>
          </a:p>
        </p:txBody>
      </p:sp>
      <p:pic>
        <p:nvPicPr>
          <p:cNvPr id="6" name="Picture 5" descr="lorenz.png"/>
          <p:cNvPicPr>
            <a:picLocks noChangeAspect="1"/>
          </p:cNvPicPr>
          <p:nvPr/>
        </p:nvPicPr>
        <p:blipFill>
          <a:blip r:embed="rId3"/>
          <a:stretch>
            <a:fillRect/>
          </a:stretch>
        </p:blipFill>
        <p:spPr>
          <a:xfrm>
            <a:off x="548640" y="1641877"/>
            <a:ext cx="5852160" cy="4305764"/>
          </a:xfrm>
          <a:prstGeom prst="rect">
            <a:avLst/>
          </a:prstGeom>
        </p:spPr>
      </p:pic>
      <p:sp>
        <p:nvSpPr>
          <p:cNvPr id="7" name="Rounded Rectangle 6"/>
          <p:cNvSpPr/>
          <p:nvPr/>
        </p:nvSpPr>
        <p:spPr>
          <a:xfrm>
            <a:off x="6949440" y="1554480"/>
            <a:ext cx="4663440" cy="132588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78040" y="1755648"/>
            <a:ext cx="4206240" cy="685800"/>
          </a:xfrm>
          <a:prstGeom prst="rect">
            <a:avLst/>
          </a:prstGeom>
          <a:noFill/>
        </p:spPr>
        <p:txBody>
          <a:bodyPr wrap="square" lIns="0" rIns="0" tIns="0" bIns="0" anchor="t">
            <a:spAutoFit/>
          </a:bodyPr>
          <a:lstStyle/>
          <a:p>
            <a:pPr algn="l"/>
            <a:r>
              <a:rPr sz="3000" b="1" i="0">
                <a:solidFill>
                  <a:srgbClr val="1B1F2A"/>
                </a:solidFill>
                <a:latin typeface="Arial"/>
              </a:rPr>
              <a:t>44.7%</a:t>
            </a:r>
          </a:p>
        </p:txBody>
      </p:sp>
      <p:sp>
        <p:nvSpPr>
          <p:cNvPr id="9" name="TextBox 8"/>
          <p:cNvSpPr txBox="1"/>
          <p:nvPr/>
        </p:nvSpPr>
        <p:spPr>
          <a:xfrm>
            <a:off x="7178040" y="2231898"/>
            <a:ext cx="4206240" cy="392429"/>
          </a:xfrm>
          <a:prstGeom prst="rect">
            <a:avLst/>
          </a:prstGeom>
          <a:noFill/>
        </p:spPr>
        <p:txBody>
          <a:bodyPr wrap="square" lIns="0" rIns="0" tIns="0" bIns="0" anchor="t">
            <a:spAutoFit/>
          </a:bodyPr>
          <a:lstStyle/>
          <a:p>
            <a:pPr algn="l"/>
            <a:r>
              <a:rPr sz="1400" b="0" i="0">
                <a:solidFill>
                  <a:srgbClr val="4A4F5C"/>
                </a:solidFill>
                <a:latin typeface="Arial"/>
              </a:rPr>
              <a:t>of loss in the top 10% of windows</a:t>
            </a:r>
          </a:p>
        </p:txBody>
      </p:sp>
      <p:sp>
        <p:nvSpPr>
          <p:cNvPr id="10" name="Rounded Rectangle 9"/>
          <p:cNvSpPr/>
          <p:nvPr/>
        </p:nvSpPr>
        <p:spPr>
          <a:xfrm>
            <a:off x="6949440" y="3063240"/>
            <a:ext cx="4663440" cy="132588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78040" y="3264408"/>
            <a:ext cx="4206240" cy="685800"/>
          </a:xfrm>
          <a:prstGeom prst="rect">
            <a:avLst/>
          </a:prstGeom>
          <a:noFill/>
        </p:spPr>
        <p:txBody>
          <a:bodyPr wrap="square" lIns="0" rIns="0" tIns="0" bIns="0" anchor="t">
            <a:spAutoFit/>
          </a:bodyPr>
          <a:lstStyle/>
          <a:p>
            <a:pPr algn="l"/>
            <a:r>
              <a:rPr sz="3000" b="1" i="0">
                <a:solidFill>
                  <a:srgbClr val="1B1F2A"/>
                </a:solidFill>
                <a:latin typeface="Arial"/>
              </a:rPr>
              <a:t>64.8%</a:t>
            </a:r>
          </a:p>
        </p:txBody>
      </p:sp>
      <p:sp>
        <p:nvSpPr>
          <p:cNvPr id="12" name="TextBox 11"/>
          <p:cNvSpPr txBox="1"/>
          <p:nvPr/>
        </p:nvSpPr>
        <p:spPr>
          <a:xfrm>
            <a:off x="7178040" y="3740658"/>
            <a:ext cx="4206240" cy="392429"/>
          </a:xfrm>
          <a:prstGeom prst="rect">
            <a:avLst/>
          </a:prstGeom>
          <a:noFill/>
        </p:spPr>
        <p:txBody>
          <a:bodyPr wrap="square" lIns="0" rIns="0" tIns="0" bIns="0" anchor="t">
            <a:spAutoFit/>
          </a:bodyPr>
          <a:lstStyle/>
          <a:p>
            <a:pPr algn="l"/>
            <a:r>
              <a:rPr sz="1400" b="0" i="0">
                <a:solidFill>
                  <a:srgbClr val="4A4F5C"/>
                </a:solidFill>
                <a:latin typeface="Arial"/>
              </a:rPr>
              <a:t>in the top 20%</a:t>
            </a:r>
          </a:p>
        </p:txBody>
      </p:sp>
      <p:sp>
        <p:nvSpPr>
          <p:cNvPr id="13" name="Rounded Rectangle 12"/>
          <p:cNvSpPr/>
          <p:nvPr/>
        </p:nvSpPr>
        <p:spPr>
          <a:xfrm>
            <a:off x="6949440" y="4572000"/>
            <a:ext cx="4663440" cy="132588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78040" y="4773168"/>
            <a:ext cx="4206240" cy="685800"/>
          </a:xfrm>
          <a:prstGeom prst="rect">
            <a:avLst/>
          </a:prstGeom>
          <a:noFill/>
        </p:spPr>
        <p:txBody>
          <a:bodyPr wrap="square" lIns="0" rIns="0" tIns="0" bIns="0" anchor="t">
            <a:spAutoFit/>
          </a:bodyPr>
          <a:lstStyle/>
          <a:p>
            <a:pPr algn="l"/>
            <a:r>
              <a:rPr sz="3000" b="1" i="0">
                <a:solidFill>
                  <a:srgbClr val="1B1F2A"/>
                </a:solidFill>
                <a:latin typeface="Arial"/>
              </a:rPr>
              <a:t>0.63</a:t>
            </a:r>
          </a:p>
        </p:txBody>
      </p:sp>
      <p:sp>
        <p:nvSpPr>
          <p:cNvPr id="15" name="TextBox 14"/>
          <p:cNvSpPr txBox="1"/>
          <p:nvPr/>
        </p:nvSpPr>
        <p:spPr>
          <a:xfrm>
            <a:off x="7178040" y="5249417"/>
            <a:ext cx="4206240" cy="392429"/>
          </a:xfrm>
          <a:prstGeom prst="rect">
            <a:avLst/>
          </a:prstGeom>
          <a:noFill/>
        </p:spPr>
        <p:txBody>
          <a:bodyPr wrap="square" lIns="0" rIns="0" tIns="0" bIns="0" anchor="t">
            <a:spAutoFit/>
          </a:bodyPr>
          <a:lstStyle/>
          <a:p>
            <a:pPr algn="l"/>
            <a:r>
              <a:rPr sz="1400" b="0" i="0">
                <a:solidFill>
                  <a:srgbClr val="4A4F5C"/>
                </a:solidFill>
                <a:latin typeface="Arial"/>
              </a:rPr>
              <a:t>Gini coefficient of loss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8229600" cy="274320"/>
          </a:xfrm>
          <a:prstGeom prst="rect">
            <a:avLst/>
          </a:prstGeom>
          <a:noFill/>
        </p:spPr>
        <p:txBody>
          <a:bodyPr wrap="square" lIns="0" rIns="0" tIns="0" bIns="0" anchor="t">
            <a:spAutoFit/>
          </a:bodyPr>
          <a:lstStyle/>
          <a:p>
            <a:pPr algn="l"/>
            <a:r>
              <a:rPr sz="1200" b="1" i="0">
                <a:solidFill>
                  <a:srgbClr val="E8762C"/>
                </a:solidFill>
                <a:latin typeface="Arial"/>
              </a:rPr>
              <a:t>LOSS FOLLOWS HEALTH</a:t>
            </a:r>
          </a:p>
        </p:txBody>
      </p:sp>
      <p:sp>
        <p:nvSpPr>
          <p:cNvPr id="3" name="TextBox 2"/>
          <p:cNvSpPr txBox="1"/>
          <p:nvPr/>
        </p:nvSpPr>
        <p:spPr>
          <a:xfrm>
            <a:off x="548640" y="521208"/>
            <a:ext cx="11094415" cy="868680"/>
          </a:xfrm>
          <a:prstGeom prst="rect">
            <a:avLst/>
          </a:prstGeom>
          <a:noFill/>
        </p:spPr>
        <p:txBody>
          <a:bodyPr wrap="square" lIns="0" rIns="0" tIns="0" bIns="0" anchor="t">
            <a:spAutoFit/>
          </a:bodyPr>
          <a:lstStyle/>
          <a:p>
            <a:pPr algn="l"/>
            <a:r>
              <a:rPr sz="3000" b="1" i="0">
                <a:solidFill>
                  <a:srgbClr val="1B1F2A"/>
                </a:solidFill>
                <a:latin typeface="Arial"/>
              </a:rPr>
              <a:t>Windows under health 70 lose 9x those above 90</a:t>
            </a:r>
          </a:p>
        </p:txBody>
      </p:sp>
      <p:sp>
        <p:nvSpPr>
          <p:cNvPr id="4" name="TextBox 3"/>
          <p:cNvSpPr txBox="1"/>
          <p:nvPr/>
        </p:nvSpPr>
        <p:spPr>
          <a:xfrm>
            <a:off x="548640" y="6473952"/>
            <a:ext cx="8229600" cy="228600"/>
          </a:xfrm>
          <a:prstGeom prst="rect">
            <a:avLst/>
          </a:prstGeom>
          <a:noFill/>
        </p:spPr>
        <p:txBody>
          <a:bodyPr wrap="square" lIns="0" rIns="0" tIns="0" bIns="0" anchor="t">
            <a:spAutoFit/>
          </a:bodyPr>
          <a:lstStyle/>
          <a:p>
            <a:pPr algn="l"/>
            <a:r>
              <a:rPr sz="1000" b="0" i="0">
                <a:solidFill>
                  <a:srgbClr val="6B707C"/>
                </a:solidFill>
                <a:latin typeface="Arial"/>
              </a:rPr>
              <a:t>Source: Group_9230_Team1_PMARIS_Enterprise_Dataset.csv, 5,000 observation windows</a:t>
            </a:r>
          </a:p>
        </p:txBody>
      </p:sp>
      <p:sp>
        <p:nvSpPr>
          <p:cNvPr id="5" name="TextBox 4"/>
          <p:cNvSpPr txBox="1"/>
          <p:nvPr/>
        </p:nvSpPr>
        <p:spPr>
          <a:xfrm>
            <a:off x="10271455" y="6473952"/>
            <a:ext cx="1371600" cy="228600"/>
          </a:xfrm>
          <a:prstGeom prst="rect">
            <a:avLst/>
          </a:prstGeom>
          <a:noFill/>
        </p:spPr>
        <p:txBody>
          <a:bodyPr wrap="square" lIns="0" rIns="0" tIns="0" bIns="0" anchor="t">
            <a:spAutoFit/>
          </a:bodyPr>
          <a:lstStyle/>
          <a:p>
            <a:pPr algn="r"/>
            <a:r>
              <a:rPr sz="1000" b="0" i="0">
                <a:solidFill>
                  <a:srgbClr val="6B707C"/>
                </a:solidFill>
                <a:latin typeface="Arial"/>
              </a:rPr>
              <a:t>13 / 30</a:t>
            </a:r>
          </a:p>
        </p:txBody>
      </p:sp>
      <p:graphicFrame>
        <p:nvGraphicFramePr>
          <p:cNvPr id="6" name="Chart 5"/>
          <p:cNvGraphicFramePr>
            <a:graphicFrameLocks noGrp="1"/>
          </p:cNvGraphicFramePr>
          <p:nvPr/>
        </p:nvGraphicFramePr>
        <p:xfrm>
          <a:off x="548640" y="1554480"/>
          <a:ext cx="6949440" cy="4389120"/>
        </p:xfrm>
        <a:graphic>
          <a:graphicData uri="http://schemas.openxmlformats.org/drawingml/2006/chart">
            <c:chart xmlns:c="http://schemas.openxmlformats.org/drawingml/2006/chart" r:id="rId3"/>
          </a:graphicData>
        </a:graphic>
      </p:graphicFrame>
      <p:sp>
        <p:nvSpPr>
          <p:cNvPr id="7" name="Rounded Rectangle 6"/>
          <p:cNvSpPr/>
          <p:nvPr/>
        </p:nvSpPr>
        <p:spPr>
          <a:xfrm>
            <a:off x="7863840" y="1645920"/>
            <a:ext cx="3749039" cy="420624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38160" y="1874519"/>
            <a:ext cx="3200399" cy="274320"/>
          </a:xfrm>
          <a:prstGeom prst="rect">
            <a:avLst/>
          </a:prstGeom>
          <a:noFill/>
        </p:spPr>
        <p:txBody>
          <a:bodyPr wrap="square" lIns="0" rIns="0" tIns="0" bIns="0" anchor="t">
            <a:spAutoFit/>
          </a:bodyPr>
          <a:lstStyle/>
          <a:p>
            <a:pPr algn="l"/>
            <a:r>
              <a:rPr sz="1200" b="1" i="0">
                <a:solidFill>
                  <a:srgbClr val="E8762C"/>
                </a:solidFill>
                <a:latin typeface="Arial"/>
              </a:rPr>
              <a:t>SO WHAT</a:t>
            </a:r>
          </a:p>
        </p:txBody>
      </p:sp>
      <p:sp>
        <p:nvSpPr>
          <p:cNvPr id="9" name="TextBox 8"/>
          <p:cNvSpPr txBox="1"/>
          <p:nvPr/>
        </p:nvSpPr>
        <p:spPr>
          <a:xfrm>
            <a:off x="8138160" y="2212848"/>
            <a:ext cx="3200399" cy="3474720"/>
          </a:xfrm>
          <a:prstGeom prst="rect">
            <a:avLst/>
          </a:prstGeom>
          <a:noFill/>
        </p:spPr>
        <p:txBody>
          <a:bodyPr wrap="square" lIns="0" rIns="0" tIns="0" bIns="0" anchor="t">
            <a:spAutoFit/>
          </a:bodyPr>
          <a:lstStyle/>
          <a:p>
            <a:pPr algn="l">
              <a:lnSpc>
                <a:spcPct val="110000"/>
              </a:lnSpc>
            </a:pPr>
            <a:r>
              <a:rPr sz="1600" b="0" i="0">
                <a:solidFill>
                  <a:srgbClr val="1B1F2A"/>
                </a:solidFill>
                <a:latin typeface="Arial"/>
              </a:rPr>
              <a:t>Health under 70: 32 h downtime and 77% failure probability per window. Above 90: 3.9 h and 10%.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8229600" cy="274320"/>
          </a:xfrm>
          <a:prstGeom prst="rect">
            <a:avLst/>
          </a:prstGeom>
          <a:noFill/>
        </p:spPr>
        <p:txBody>
          <a:bodyPr wrap="square" lIns="0" rIns="0" tIns="0" bIns="0" anchor="t">
            <a:spAutoFit/>
          </a:bodyPr>
          <a:lstStyle/>
          <a:p>
            <a:pPr algn="l"/>
            <a:r>
              <a:rPr sz="1200" b="1" i="0">
                <a:solidFill>
                  <a:srgbClr val="E8762C"/>
                </a:solidFill>
                <a:latin typeface="Arial"/>
              </a:rPr>
              <a:t>TIME</a:t>
            </a:r>
          </a:p>
        </p:txBody>
      </p:sp>
      <p:sp>
        <p:nvSpPr>
          <p:cNvPr id="3" name="TextBox 2"/>
          <p:cNvSpPr txBox="1"/>
          <p:nvPr/>
        </p:nvSpPr>
        <p:spPr>
          <a:xfrm>
            <a:off x="548640" y="521208"/>
            <a:ext cx="11094415" cy="868680"/>
          </a:xfrm>
          <a:prstGeom prst="rect">
            <a:avLst/>
          </a:prstGeom>
          <a:noFill/>
        </p:spPr>
        <p:txBody>
          <a:bodyPr wrap="square" lIns="0" rIns="0" tIns="0" bIns="0" anchor="t">
            <a:spAutoFit/>
          </a:bodyPr>
          <a:lstStyle/>
          <a:p>
            <a:pPr algn="l"/>
            <a:r>
              <a:rPr sz="3000" b="1" i="0">
                <a:solidFill>
                  <a:srgbClr val="1B1F2A"/>
                </a:solidFill>
                <a:latin typeface="Arial"/>
              </a:rPr>
              <a:t>The year is flat: no trend or season to schedule against</a:t>
            </a:r>
          </a:p>
        </p:txBody>
      </p:sp>
      <p:sp>
        <p:nvSpPr>
          <p:cNvPr id="4" name="TextBox 3"/>
          <p:cNvSpPr txBox="1"/>
          <p:nvPr/>
        </p:nvSpPr>
        <p:spPr>
          <a:xfrm>
            <a:off x="548640" y="6473952"/>
            <a:ext cx="8229600" cy="228600"/>
          </a:xfrm>
          <a:prstGeom prst="rect">
            <a:avLst/>
          </a:prstGeom>
          <a:noFill/>
        </p:spPr>
        <p:txBody>
          <a:bodyPr wrap="square" lIns="0" rIns="0" tIns="0" bIns="0" anchor="t">
            <a:spAutoFit/>
          </a:bodyPr>
          <a:lstStyle/>
          <a:p>
            <a:pPr algn="l"/>
            <a:r>
              <a:rPr sz="1000" b="0" i="0">
                <a:solidFill>
                  <a:srgbClr val="6B707C"/>
                </a:solidFill>
                <a:latin typeface="Arial"/>
              </a:rPr>
              <a:t>Source: Group_9230_Team1_PMARIS_Enterprise_Dataset.csv, 5,000 observation windows</a:t>
            </a:r>
          </a:p>
        </p:txBody>
      </p:sp>
      <p:sp>
        <p:nvSpPr>
          <p:cNvPr id="5" name="TextBox 4"/>
          <p:cNvSpPr txBox="1"/>
          <p:nvPr/>
        </p:nvSpPr>
        <p:spPr>
          <a:xfrm>
            <a:off x="10271455" y="6473952"/>
            <a:ext cx="1371600" cy="228600"/>
          </a:xfrm>
          <a:prstGeom prst="rect">
            <a:avLst/>
          </a:prstGeom>
          <a:noFill/>
        </p:spPr>
        <p:txBody>
          <a:bodyPr wrap="square" lIns="0" rIns="0" tIns="0" bIns="0" anchor="t">
            <a:spAutoFit/>
          </a:bodyPr>
          <a:lstStyle/>
          <a:p>
            <a:pPr algn="r"/>
            <a:r>
              <a:rPr sz="1000" b="0" i="0">
                <a:solidFill>
                  <a:srgbClr val="6B707C"/>
                </a:solidFill>
                <a:latin typeface="Arial"/>
              </a:rPr>
              <a:t>14 / 30</a:t>
            </a:r>
          </a:p>
        </p:txBody>
      </p:sp>
      <p:graphicFrame>
        <p:nvGraphicFramePr>
          <p:cNvPr id="6" name="Chart 5"/>
          <p:cNvGraphicFramePr>
            <a:graphicFrameLocks noGrp="1"/>
          </p:cNvGraphicFramePr>
          <p:nvPr/>
        </p:nvGraphicFramePr>
        <p:xfrm>
          <a:off x="548640" y="1554480"/>
          <a:ext cx="7680960" cy="4389120"/>
        </p:xfrm>
        <a:graphic>
          <a:graphicData uri="http://schemas.openxmlformats.org/drawingml/2006/chart">
            <c:chart xmlns:c="http://schemas.openxmlformats.org/drawingml/2006/chart" r:id="rId3"/>
          </a:graphicData>
        </a:graphic>
      </p:graphicFrame>
      <p:sp>
        <p:nvSpPr>
          <p:cNvPr id="7" name="Rounded Rectangle 6"/>
          <p:cNvSpPr/>
          <p:nvPr/>
        </p:nvSpPr>
        <p:spPr>
          <a:xfrm>
            <a:off x="8595360" y="1645920"/>
            <a:ext cx="3017520" cy="420624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0" y="1874519"/>
            <a:ext cx="2468879" cy="274320"/>
          </a:xfrm>
          <a:prstGeom prst="rect">
            <a:avLst/>
          </a:prstGeom>
          <a:noFill/>
        </p:spPr>
        <p:txBody>
          <a:bodyPr wrap="square" lIns="0" rIns="0" tIns="0" bIns="0" anchor="t">
            <a:spAutoFit/>
          </a:bodyPr>
          <a:lstStyle/>
          <a:p>
            <a:pPr algn="l"/>
            <a:r>
              <a:rPr sz="1200" b="1" i="0">
                <a:solidFill>
                  <a:srgbClr val="E8762C"/>
                </a:solidFill>
                <a:latin typeface="Arial"/>
              </a:rPr>
              <a:t>SO WHAT</a:t>
            </a:r>
          </a:p>
        </p:txBody>
      </p:sp>
      <p:sp>
        <p:nvSpPr>
          <p:cNvPr id="9" name="TextBox 8"/>
          <p:cNvSpPr txBox="1"/>
          <p:nvPr/>
        </p:nvSpPr>
        <p:spPr>
          <a:xfrm>
            <a:off x="8869680" y="2212848"/>
            <a:ext cx="2468879" cy="3474720"/>
          </a:xfrm>
          <a:prstGeom prst="rect">
            <a:avLst/>
          </a:prstGeom>
          <a:noFill/>
        </p:spPr>
        <p:txBody>
          <a:bodyPr wrap="square" lIns="0" rIns="0" tIns="0" bIns="0" anchor="t">
            <a:spAutoFit/>
          </a:bodyPr>
          <a:lstStyle/>
          <a:p>
            <a:pPr algn="l">
              <a:lnSpc>
                <a:spcPct val="110000"/>
              </a:lnSpc>
            </a:pPr>
            <a:r>
              <a:rPr sz="1600" b="0" i="0">
                <a:solidFill>
                  <a:srgbClr val="1B1F2A"/>
                </a:solidFill>
                <a:latin typeface="Arial"/>
              </a:rPr>
              <a:t>Every month averages EGP 340k to 410k per window. Plan by asset condition, not by calendar.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Oval 1"/>
          <p:cNvSpPr/>
          <p:nvPr/>
        </p:nvSpPr>
        <p:spPr>
          <a:xfrm>
            <a:off x="548640" y="2148840"/>
            <a:ext cx="822960" cy="822960"/>
          </a:xfrm>
          <a:prstGeom prst="ellipse">
            <a:avLst/>
          </a:prstGeom>
          <a:solidFill>
            <a:srgbClr val="E87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800" b="1">
                <a:solidFill>
                  <a:srgbClr val="FFFFFF"/>
                </a:solidFill>
                <a:latin typeface="Arial"/>
              </a:rPr>
              <a:t>C</a:t>
            </a:r>
          </a:p>
        </p:txBody>
      </p:sp>
      <p:sp>
        <p:nvSpPr>
          <p:cNvPr id="3" name="TextBox 2"/>
          <p:cNvSpPr txBox="1"/>
          <p:nvPr/>
        </p:nvSpPr>
        <p:spPr>
          <a:xfrm>
            <a:off x="548640" y="3200400"/>
            <a:ext cx="10058400" cy="1097280"/>
          </a:xfrm>
          <a:prstGeom prst="rect">
            <a:avLst/>
          </a:prstGeom>
          <a:noFill/>
        </p:spPr>
        <p:txBody>
          <a:bodyPr wrap="square" lIns="0" rIns="0" tIns="0" bIns="0" anchor="t">
            <a:spAutoFit/>
          </a:bodyPr>
          <a:lstStyle/>
          <a:p>
            <a:pPr algn="l"/>
            <a:r>
              <a:rPr sz="4000" b="1" i="0">
                <a:solidFill>
                  <a:srgbClr val="FFFFFF"/>
                </a:solidFill>
                <a:latin typeface="Arial"/>
              </a:rPr>
              <a:t>The levers</a:t>
            </a:r>
          </a:p>
        </p:txBody>
      </p:sp>
      <p:sp>
        <p:nvSpPr>
          <p:cNvPr id="4" name="TextBox 3"/>
          <p:cNvSpPr txBox="1"/>
          <p:nvPr/>
        </p:nvSpPr>
        <p:spPr>
          <a:xfrm>
            <a:off x="548640" y="4343400"/>
            <a:ext cx="9601200" cy="914400"/>
          </a:xfrm>
          <a:prstGeom prst="rect">
            <a:avLst/>
          </a:prstGeom>
          <a:noFill/>
        </p:spPr>
        <p:txBody>
          <a:bodyPr wrap="square" lIns="0" rIns="0" tIns="0" bIns="0" anchor="t">
            <a:spAutoFit/>
          </a:bodyPr>
          <a:lstStyle/>
          <a:p>
            <a:pPr algn="l"/>
            <a:r>
              <a:rPr sz="1800" b="0" i="0">
                <a:solidFill>
                  <a:srgbClr val="C9D6EA"/>
                </a:solidFill>
                <a:latin typeface="Arial"/>
              </a:rPr>
              <a:t>Four things management controls, each worth about 2x on downtime</a:t>
            </a:r>
          </a:p>
        </p:txBody>
      </p:sp>
      <p:sp>
        <p:nvSpPr>
          <p:cNvPr id="5" name="TextBox 4"/>
          <p:cNvSpPr txBox="1"/>
          <p:nvPr/>
        </p:nvSpPr>
        <p:spPr>
          <a:xfrm>
            <a:off x="548640" y="6473952"/>
            <a:ext cx="8229600" cy="228600"/>
          </a:xfrm>
          <a:prstGeom prst="rect">
            <a:avLst/>
          </a:prstGeom>
          <a:noFill/>
        </p:spPr>
        <p:txBody>
          <a:bodyPr wrap="square" lIns="0" rIns="0" tIns="0" bIns="0" anchor="t">
            <a:spAutoFit/>
          </a:bodyPr>
          <a:lstStyle/>
          <a:p>
            <a:pPr algn="l"/>
            <a:r>
              <a:rPr sz="1000" b="0" i="0">
                <a:solidFill>
                  <a:srgbClr val="C9D6EA"/>
                </a:solidFill>
                <a:latin typeface="Arial"/>
              </a:rPr>
              <a:t>Source: Group_9230_Team1_PMARIS_Enterprise_Dataset.csv, 5,000 observation windows</a:t>
            </a:r>
          </a:p>
        </p:txBody>
      </p:sp>
      <p:sp>
        <p:nvSpPr>
          <p:cNvPr id="6" name="TextBox 5"/>
          <p:cNvSpPr txBox="1"/>
          <p:nvPr/>
        </p:nvSpPr>
        <p:spPr>
          <a:xfrm>
            <a:off x="10271455" y="6473952"/>
            <a:ext cx="1371600" cy="228600"/>
          </a:xfrm>
          <a:prstGeom prst="rect">
            <a:avLst/>
          </a:prstGeom>
          <a:noFill/>
        </p:spPr>
        <p:txBody>
          <a:bodyPr wrap="square" lIns="0" rIns="0" tIns="0" bIns="0" anchor="t">
            <a:spAutoFit/>
          </a:bodyPr>
          <a:lstStyle/>
          <a:p>
            <a:pPr algn="r"/>
            <a:r>
              <a:rPr sz="1000" b="0" i="0">
                <a:solidFill>
                  <a:srgbClr val="C9D6EA"/>
                </a:solidFill>
                <a:latin typeface="Arial"/>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8229600" cy="274320"/>
          </a:xfrm>
          <a:prstGeom prst="rect">
            <a:avLst/>
          </a:prstGeom>
          <a:noFill/>
        </p:spPr>
        <p:txBody>
          <a:bodyPr wrap="square" lIns="0" rIns="0" tIns="0" bIns="0" anchor="t">
            <a:spAutoFit/>
          </a:bodyPr>
          <a:lstStyle/>
          <a:p>
            <a:pPr algn="l"/>
            <a:r>
              <a:rPr sz="1200" b="1" i="0">
                <a:solidFill>
                  <a:srgbClr val="E8762C"/>
                </a:solidFill>
                <a:latin typeface="Arial"/>
              </a:rPr>
              <a:t>LEVER 1: STRATEGY</a:t>
            </a:r>
          </a:p>
        </p:txBody>
      </p:sp>
      <p:sp>
        <p:nvSpPr>
          <p:cNvPr id="3" name="TextBox 2"/>
          <p:cNvSpPr txBox="1"/>
          <p:nvPr/>
        </p:nvSpPr>
        <p:spPr>
          <a:xfrm>
            <a:off x="548640" y="521208"/>
            <a:ext cx="11094415" cy="868680"/>
          </a:xfrm>
          <a:prstGeom prst="rect">
            <a:avLst/>
          </a:prstGeom>
          <a:noFill/>
        </p:spPr>
        <p:txBody>
          <a:bodyPr wrap="square" lIns="0" rIns="0" tIns="0" bIns="0" anchor="t">
            <a:spAutoFit/>
          </a:bodyPr>
          <a:lstStyle/>
          <a:p>
            <a:pPr algn="l"/>
            <a:r>
              <a:rPr sz="3000" b="1" i="0">
                <a:solidFill>
                  <a:srgbClr val="1B1F2A"/>
                </a:solidFill>
                <a:latin typeface="Arial"/>
              </a:rPr>
              <a:t>Reactive maintenance runs 2.3x the downtime of predictive</a:t>
            </a:r>
          </a:p>
        </p:txBody>
      </p:sp>
      <p:sp>
        <p:nvSpPr>
          <p:cNvPr id="4" name="TextBox 3"/>
          <p:cNvSpPr txBox="1"/>
          <p:nvPr/>
        </p:nvSpPr>
        <p:spPr>
          <a:xfrm>
            <a:off x="548640" y="6473952"/>
            <a:ext cx="8229600" cy="228600"/>
          </a:xfrm>
          <a:prstGeom prst="rect">
            <a:avLst/>
          </a:prstGeom>
          <a:noFill/>
        </p:spPr>
        <p:txBody>
          <a:bodyPr wrap="square" lIns="0" rIns="0" tIns="0" bIns="0" anchor="t">
            <a:spAutoFit/>
          </a:bodyPr>
          <a:lstStyle/>
          <a:p>
            <a:pPr algn="l"/>
            <a:r>
              <a:rPr sz="1000" b="0" i="0">
                <a:solidFill>
                  <a:srgbClr val="6B707C"/>
                </a:solidFill>
                <a:latin typeface="Arial"/>
              </a:rPr>
              <a:t>Source: Group_9230_Team1_PMARIS_Enterprise_Dataset.csv, 5,000 observation windows</a:t>
            </a:r>
          </a:p>
        </p:txBody>
      </p:sp>
      <p:sp>
        <p:nvSpPr>
          <p:cNvPr id="5" name="TextBox 4"/>
          <p:cNvSpPr txBox="1"/>
          <p:nvPr/>
        </p:nvSpPr>
        <p:spPr>
          <a:xfrm>
            <a:off x="10271455" y="6473952"/>
            <a:ext cx="1371600" cy="228600"/>
          </a:xfrm>
          <a:prstGeom prst="rect">
            <a:avLst/>
          </a:prstGeom>
          <a:noFill/>
        </p:spPr>
        <p:txBody>
          <a:bodyPr wrap="square" lIns="0" rIns="0" tIns="0" bIns="0" anchor="t">
            <a:spAutoFit/>
          </a:bodyPr>
          <a:lstStyle/>
          <a:p>
            <a:pPr algn="r"/>
            <a:r>
              <a:rPr sz="1000" b="0" i="0">
                <a:solidFill>
                  <a:srgbClr val="6B707C"/>
                </a:solidFill>
                <a:latin typeface="Arial"/>
              </a:rPr>
              <a:t>16 / 30</a:t>
            </a:r>
          </a:p>
        </p:txBody>
      </p:sp>
      <p:pic>
        <p:nvPicPr>
          <p:cNvPr id="6" name="Picture 5" descr="ci_strategy.png"/>
          <p:cNvPicPr>
            <a:picLocks noChangeAspect="1"/>
          </p:cNvPicPr>
          <p:nvPr/>
        </p:nvPicPr>
        <p:blipFill>
          <a:blip r:embed="rId3"/>
          <a:stretch>
            <a:fillRect/>
          </a:stretch>
        </p:blipFill>
        <p:spPr>
          <a:xfrm>
            <a:off x="548640" y="2234503"/>
            <a:ext cx="7132319" cy="3029072"/>
          </a:xfrm>
          <a:prstGeom prst="rect">
            <a:avLst/>
          </a:prstGeom>
        </p:spPr>
      </p:pic>
      <p:sp>
        <p:nvSpPr>
          <p:cNvPr id="7" name="Rounded Rectangle 6"/>
          <p:cNvSpPr/>
          <p:nvPr/>
        </p:nvSpPr>
        <p:spPr>
          <a:xfrm>
            <a:off x="8046719" y="1645920"/>
            <a:ext cx="3566160" cy="420624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21040" y="1874519"/>
            <a:ext cx="3017520" cy="274320"/>
          </a:xfrm>
          <a:prstGeom prst="rect">
            <a:avLst/>
          </a:prstGeom>
          <a:noFill/>
        </p:spPr>
        <p:txBody>
          <a:bodyPr wrap="square" lIns="0" rIns="0" tIns="0" bIns="0" anchor="t">
            <a:spAutoFit/>
          </a:bodyPr>
          <a:lstStyle/>
          <a:p>
            <a:pPr algn="l"/>
            <a:r>
              <a:rPr sz="1200" b="1" i="0">
                <a:solidFill>
                  <a:srgbClr val="E8762C"/>
                </a:solidFill>
                <a:latin typeface="Arial"/>
              </a:rPr>
              <a:t>SO WHAT</a:t>
            </a:r>
          </a:p>
        </p:txBody>
      </p:sp>
      <p:sp>
        <p:nvSpPr>
          <p:cNvPr id="9" name="TextBox 8"/>
          <p:cNvSpPr txBox="1"/>
          <p:nvPr/>
        </p:nvSpPr>
        <p:spPr>
          <a:xfrm>
            <a:off x="8321040" y="2212848"/>
            <a:ext cx="3017520" cy="3474720"/>
          </a:xfrm>
          <a:prstGeom prst="rect">
            <a:avLst/>
          </a:prstGeom>
          <a:noFill/>
        </p:spPr>
        <p:txBody>
          <a:bodyPr wrap="square" lIns="0" rIns="0" tIns="0" bIns="0" anchor="t">
            <a:spAutoFit/>
          </a:bodyPr>
          <a:lstStyle/>
          <a:p>
            <a:pPr algn="l">
              <a:lnSpc>
                <a:spcPct val="110000"/>
              </a:lnSpc>
            </a:pPr>
            <a:r>
              <a:rPr sz="1600" b="0" i="0">
                <a:solidFill>
                  <a:srgbClr val="1B1F2A"/>
                </a:solidFill>
                <a:latin typeface="Arial"/>
              </a:rPr>
              <a:t>Reactive 19.0 h per window; planned strategies 8.4 to 9.5 h. 906 windows (18%) are still reactive.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8229600" cy="274320"/>
          </a:xfrm>
          <a:prstGeom prst="rect">
            <a:avLst/>
          </a:prstGeom>
          <a:noFill/>
        </p:spPr>
        <p:txBody>
          <a:bodyPr wrap="square" lIns="0" rIns="0" tIns="0" bIns="0" anchor="t">
            <a:spAutoFit/>
          </a:bodyPr>
          <a:lstStyle/>
          <a:p>
            <a:pPr algn="l"/>
            <a:r>
              <a:rPr sz="1200" b="1" i="0">
                <a:solidFill>
                  <a:srgbClr val="E8762C"/>
                </a:solidFill>
                <a:latin typeface="Arial"/>
              </a:rPr>
              <a:t>LEVER 1: STRATEGY</a:t>
            </a:r>
          </a:p>
        </p:txBody>
      </p:sp>
      <p:sp>
        <p:nvSpPr>
          <p:cNvPr id="3" name="TextBox 2"/>
          <p:cNvSpPr txBox="1"/>
          <p:nvPr/>
        </p:nvSpPr>
        <p:spPr>
          <a:xfrm>
            <a:off x="548640" y="521208"/>
            <a:ext cx="11094415" cy="868680"/>
          </a:xfrm>
          <a:prstGeom prst="rect">
            <a:avLst/>
          </a:prstGeom>
          <a:noFill/>
        </p:spPr>
        <p:txBody>
          <a:bodyPr wrap="square" lIns="0" rIns="0" tIns="0" bIns="0" anchor="t">
            <a:spAutoFit/>
          </a:bodyPr>
          <a:lstStyle/>
          <a:p>
            <a:pPr algn="l"/>
            <a:r>
              <a:rPr sz="3000" b="1" i="0">
                <a:solidFill>
                  <a:srgbClr val="1B1F2A"/>
                </a:solidFill>
                <a:latin typeface="Arial"/>
              </a:rPr>
              <a:t>Reactive windows turn 56% of work orders into emergencies</a:t>
            </a:r>
          </a:p>
        </p:txBody>
      </p:sp>
      <p:sp>
        <p:nvSpPr>
          <p:cNvPr id="4" name="TextBox 3"/>
          <p:cNvSpPr txBox="1"/>
          <p:nvPr/>
        </p:nvSpPr>
        <p:spPr>
          <a:xfrm>
            <a:off x="548640" y="6473952"/>
            <a:ext cx="8229600" cy="228600"/>
          </a:xfrm>
          <a:prstGeom prst="rect">
            <a:avLst/>
          </a:prstGeom>
          <a:noFill/>
        </p:spPr>
        <p:txBody>
          <a:bodyPr wrap="square" lIns="0" rIns="0" tIns="0" bIns="0" anchor="t">
            <a:spAutoFit/>
          </a:bodyPr>
          <a:lstStyle/>
          <a:p>
            <a:pPr algn="l"/>
            <a:r>
              <a:rPr sz="1000" b="0" i="0">
                <a:solidFill>
                  <a:srgbClr val="6B707C"/>
                </a:solidFill>
                <a:latin typeface="Arial"/>
              </a:rPr>
              <a:t>Source: Group_9230_Team1_PMARIS_Enterprise_Dataset.csv, 5,000 observation windows</a:t>
            </a:r>
          </a:p>
        </p:txBody>
      </p:sp>
      <p:sp>
        <p:nvSpPr>
          <p:cNvPr id="5" name="TextBox 4"/>
          <p:cNvSpPr txBox="1"/>
          <p:nvPr/>
        </p:nvSpPr>
        <p:spPr>
          <a:xfrm>
            <a:off x="10271455" y="6473952"/>
            <a:ext cx="1371600" cy="228600"/>
          </a:xfrm>
          <a:prstGeom prst="rect">
            <a:avLst/>
          </a:prstGeom>
          <a:noFill/>
        </p:spPr>
        <p:txBody>
          <a:bodyPr wrap="square" lIns="0" rIns="0" tIns="0" bIns="0" anchor="t">
            <a:spAutoFit/>
          </a:bodyPr>
          <a:lstStyle/>
          <a:p>
            <a:pPr algn="r"/>
            <a:r>
              <a:rPr sz="1000" b="0" i="0">
                <a:solidFill>
                  <a:srgbClr val="6B707C"/>
                </a:solidFill>
                <a:latin typeface="Arial"/>
              </a:rPr>
              <a:t>17 / 30</a:t>
            </a:r>
          </a:p>
        </p:txBody>
      </p:sp>
      <p:graphicFrame>
        <p:nvGraphicFramePr>
          <p:cNvPr id="6" name="Chart 5"/>
          <p:cNvGraphicFramePr>
            <a:graphicFrameLocks noGrp="1"/>
          </p:cNvGraphicFramePr>
          <p:nvPr/>
        </p:nvGraphicFramePr>
        <p:xfrm>
          <a:off x="548640" y="1554480"/>
          <a:ext cx="6949440" cy="4389120"/>
        </p:xfrm>
        <a:graphic>
          <a:graphicData uri="http://schemas.openxmlformats.org/drawingml/2006/chart">
            <c:chart xmlns:c="http://schemas.openxmlformats.org/drawingml/2006/chart" r:id="rId3"/>
          </a:graphicData>
        </a:graphic>
      </p:graphicFrame>
      <p:sp>
        <p:nvSpPr>
          <p:cNvPr id="7" name="Rounded Rectangle 6"/>
          <p:cNvSpPr/>
          <p:nvPr/>
        </p:nvSpPr>
        <p:spPr>
          <a:xfrm>
            <a:off x="7863840" y="1645920"/>
            <a:ext cx="3749039" cy="196596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92440" y="1847088"/>
            <a:ext cx="3291839" cy="685800"/>
          </a:xfrm>
          <a:prstGeom prst="rect">
            <a:avLst/>
          </a:prstGeom>
          <a:noFill/>
        </p:spPr>
        <p:txBody>
          <a:bodyPr wrap="square" lIns="0" rIns="0" tIns="0" bIns="0" anchor="t">
            <a:spAutoFit/>
          </a:bodyPr>
          <a:lstStyle/>
          <a:p>
            <a:pPr algn="l"/>
            <a:r>
              <a:rPr sz="4000" b="1" i="0">
                <a:solidFill>
                  <a:srgbClr val="1B1F2A"/>
                </a:solidFill>
                <a:latin typeface="Arial"/>
              </a:rPr>
              <a:t>56%</a:t>
            </a:r>
          </a:p>
        </p:txBody>
      </p:sp>
      <p:sp>
        <p:nvSpPr>
          <p:cNvPr id="9" name="TextBox 8"/>
          <p:cNvSpPr txBox="1"/>
          <p:nvPr/>
        </p:nvSpPr>
        <p:spPr>
          <a:xfrm>
            <a:off x="8092440" y="2482088"/>
            <a:ext cx="3291839" cy="873759"/>
          </a:xfrm>
          <a:prstGeom prst="rect">
            <a:avLst/>
          </a:prstGeom>
          <a:noFill/>
        </p:spPr>
        <p:txBody>
          <a:bodyPr wrap="square" lIns="0" rIns="0" tIns="0" bIns="0" anchor="t">
            <a:spAutoFit/>
          </a:bodyPr>
          <a:lstStyle/>
          <a:p>
            <a:pPr algn="l"/>
            <a:r>
              <a:rPr sz="1400" b="0" i="0">
                <a:solidFill>
                  <a:srgbClr val="4A4F5C"/>
                </a:solidFill>
                <a:latin typeface="Arial"/>
              </a:rPr>
              <a:t>emergency work orders, reactive</a:t>
            </a:r>
          </a:p>
        </p:txBody>
      </p:sp>
      <p:sp>
        <p:nvSpPr>
          <p:cNvPr id="10" name="Rounded Rectangle 9"/>
          <p:cNvSpPr/>
          <p:nvPr/>
        </p:nvSpPr>
        <p:spPr>
          <a:xfrm>
            <a:off x="7863840" y="3840480"/>
            <a:ext cx="3749039" cy="196596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92440" y="4041648"/>
            <a:ext cx="3291839" cy="685800"/>
          </a:xfrm>
          <a:prstGeom prst="rect">
            <a:avLst/>
          </a:prstGeom>
          <a:noFill/>
        </p:spPr>
        <p:txBody>
          <a:bodyPr wrap="square" lIns="0" rIns="0" tIns="0" bIns="0" anchor="t">
            <a:spAutoFit/>
          </a:bodyPr>
          <a:lstStyle/>
          <a:p>
            <a:pPr algn="l"/>
            <a:r>
              <a:rPr sz="4000" b="1" i="0">
                <a:solidFill>
                  <a:srgbClr val="1B1F2A"/>
                </a:solidFill>
                <a:latin typeface="Arial"/>
              </a:rPr>
              <a:t>23%</a:t>
            </a:r>
          </a:p>
        </p:txBody>
      </p:sp>
      <p:sp>
        <p:nvSpPr>
          <p:cNvPr id="12" name="TextBox 11"/>
          <p:cNvSpPr txBox="1"/>
          <p:nvPr/>
        </p:nvSpPr>
        <p:spPr>
          <a:xfrm>
            <a:off x="8092440" y="4676648"/>
            <a:ext cx="3291839" cy="873759"/>
          </a:xfrm>
          <a:prstGeom prst="rect">
            <a:avLst/>
          </a:prstGeom>
          <a:noFill/>
        </p:spPr>
        <p:txBody>
          <a:bodyPr wrap="square" lIns="0" rIns="0" tIns="0" bIns="0" anchor="t">
            <a:spAutoFit/>
          </a:bodyPr>
          <a:lstStyle/>
          <a:p>
            <a:pPr algn="l"/>
            <a:r>
              <a:rPr sz="1400" b="0" i="0">
                <a:solidFill>
                  <a:srgbClr val="4A4F5C"/>
                </a:solidFill>
                <a:latin typeface="Arial"/>
              </a:rPr>
              <a:t>emergency work orders, predictive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8229600" cy="274320"/>
          </a:xfrm>
          <a:prstGeom prst="rect">
            <a:avLst/>
          </a:prstGeom>
          <a:noFill/>
        </p:spPr>
        <p:txBody>
          <a:bodyPr wrap="square" lIns="0" rIns="0" tIns="0" bIns="0" anchor="t">
            <a:spAutoFit/>
          </a:bodyPr>
          <a:lstStyle/>
          <a:p>
            <a:pPr algn="l"/>
            <a:r>
              <a:rPr sz="1200" b="1" i="0">
                <a:solidFill>
                  <a:srgbClr val="E8762C"/>
                </a:solidFill>
                <a:latin typeface="Arial"/>
              </a:rPr>
              <a:t>LEVER 2: SPARE PARTS</a:t>
            </a:r>
          </a:p>
        </p:txBody>
      </p:sp>
      <p:sp>
        <p:nvSpPr>
          <p:cNvPr id="3" name="TextBox 2"/>
          <p:cNvSpPr txBox="1"/>
          <p:nvPr/>
        </p:nvSpPr>
        <p:spPr>
          <a:xfrm>
            <a:off x="548640" y="521208"/>
            <a:ext cx="11094415" cy="868680"/>
          </a:xfrm>
          <a:prstGeom prst="rect">
            <a:avLst/>
          </a:prstGeom>
          <a:noFill/>
        </p:spPr>
        <p:txBody>
          <a:bodyPr wrap="square" lIns="0" rIns="0" tIns="0" bIns="0" anchor="t">
            <a:spAutoFit/>
          </a:bodyPr>
          <a:lstStyle/>
          <a:p>
            <a:pPr algn="l"/>
            <a:r>
              <a:rPr sz="3000" b="1" i="0">
                <a:solidFill>
                  <a:srgbClr val="1B1F2A"/>
                </a:solidFill>
                <a:latin typeface="Arial"/>
              </a:rPr>
              <a:t>Parts shortages run 2.9x the downtime of available stock</a:t>
            </a:r>
          </a:p>
        </p:txBody>
      </p:sp>
      <p:sp>
        <p:nvSpPr>
          <p:cNvPr id="4" name="TextBox 3"/>
          <p:cNvSpPr txBox="1"/>
          <p:nvPr/>
        </p:nvSpPr>
        <p:spPr>
          <a:xfrm>
            <a:off x="548640" y="6473952"/>
            <a:ext cx="8229600" cy="228600"/>
          </a:xfrm>
          <a:prstGeom prst="rect">
            <a:avLst/>
          </a:prstGeom>
          <a:noFill/>
        </p:spPr>
        <p:txBody>
          <a:bodyPr wrap="square" lIns="0" rIns="0" tIns="0" bIns="0" anchor="t">
            <a:spAutoFit/>
          </a:bodyPr>
          <a:lstStyle/>
          <a:p>
            <a:pPr algn="l"/>
            <a:r>
              <a:rPr sz="1000" b="0" i="0">
                <a:solidFill>
                  <a:srgbClr val="6B707C"/>
                </a:solidFill>
                <a:latin typeface="Arial"/>
              </a:rPr>
              <a:t>Source: Group_9230_Team1_PMARIS_Enterprise_Dataset.csv, 5,000 observation windows</a:t>
            </a:r>
          </a:p>
        </p:txBody>
      </p:sp>
      <p:sp>
        <p:nvSpPr>
          <p:cNvPr id="5" name="TextBox 4"/>
          <p:cNvSpPr txBox="1"/>
          <p:nvPr/>
        </p:nvSpPr>
        <p:spPr>
          <a:xfrm>
            <a:off x="10271455" y="6473952"/>
            <a:ext cx="1371600" cy="228600"/>
          </a:xfrm>
          <a:prstGeom prst="rect">
            <a:avLst/>
          </a:prstGeom>
          <a:noFill/>
        </p:spPr>
        <p:txBody>
          <a:bodyPr wrap="square" lIns="0" rIns="0" tIns="0" bIns="0" anchor="t">
            <a:spAutoFit/>
          </a:bodyPr>
          <a:lstStyle/>
          <a:p>
            <a:pPr algn="r"/>
            <a:r>
              <a:rPr sz="1000" b="0" i="0">
                <a:solidFill>
                  <a:srgbClr val="6B707C"/>
                </a:solidFill>
                <a:latin typeface="Arial"/>
              </a:rPr>
              <a:t>18 / 30</a:t>
            </a:r>
          </a:p>
        </p:txBody>
      </p:sp>
      <p:pic>
        <p:nvPicPr>
          <p:cNvPr id="6" name="Picture 5" descr="ci_spares.png"/>
          <p:cNvPicPr>
            <a:picLocks noChangeAspect="1"/>
          </p:cNvPicPr>
          <p:nvPr/>
        </p:nvPicPr>
        <p:blipFill>
          <a:blip r:embed="rId3"/>
          <a:stretch>
            <a:fillRect/>
          </a:stretch>
        </p:blipFill>
        <p:spPr>
          <a:xfrm>
            <a:off x="548640" y="2326968"/>
            <a:ext cx="7132319" cy="2844143"/>
          </a:xfrm>
          <a:prstGeom prst="rect">
            <a:avLst/>
          </a:prstGeom>
        </p:spPr>
      </p:pic>
      <p:sp>
        <p:nvSpPr>
          <p:cNvPr id="7" name="Rounded Rectangle 6"/>
          <p:cNvSpPr/>
          <p:nvPr/>
        </p:nvSpPr>
        <p:spPr>
          <a:xfrm>
            <a:off x="8046719" y="1645920"/>
            <a:ext cx="3566160" cy="128016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75319" y="2011680"/>
            <a:ext cx="457200" cy="457200"/>
          </a:xfrm>
          <a:prstGeom prst="ellipse">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Arial"/>
              </a:rPr>
              <a:t/>
            </a:r>
          </a:p>
        </p:txBody>
      </p:sp>
      <p:sp>
        <p:nvSpPr>
          <p:cNvPr id="9" name="TextBox 8"/>
          <p:cNvSpPr txBox="1"/>
          <p:nvPr/>
        </p:nvSpPr>
        <p:spPr>
          <a:xfrm>
            <a:off x="8961119" y="1783080"/>
            <a:ext cx="2560320" cy="457200"/>
          </a:xfrm>
          <a:prstGeom prst="rect">
            <a:avLst/>
          </a:prstGeom>
          <a:noFill/>
        </p:spPr>
        <p:txBody>
          <a:bodyPr wrap="square" lIns="0" rIns="0" tIns="0" bIns="0" anchor="t">
            <a:spAutoFit/>
          </a:bodyPr>
          <a:lstStyle/>
          <a:p>
            <a:pPr algn="l"/>
            <a:r>
              <a:rPr sz="2600" b="1" i="0">
                <a:solidFill>
                  <a:srgbClr val="1B1F2A"/>
                </a:solidFill>
                <a:latin typeface="Arial"/>
              </a:rPr>
              <a:t>20.8 h</a:t>
            </a:r>
          </a:p>
        </p:txBody>
      </p:sp>
      <p:sp>
        <p:nvSpPr>
          <p:cNvPr id="10" name="TextBox 9"/>
          <p:cNvSpPr txBox="1"/>
          <p:nvPr/>
        </p:nvSpPr>
        <p:spPr>
          <a:xfrm>
            <a:off x="8961119" y="2286000"/>
            <a:ext cx="2560320" cy="457200"/>
          </a:xfrm>
          <a:prstGeom prst="rect">
            <a:avLst/>
          </a:prstGeom>
          <a:noFill/>
        </p:spPr>
        <p:txBody>
          <a:bodyPr wrap="square" lIns="0" rIns="0" tIns="0" bIns="0" anchor="t">
            <a:spAutoFit/>
          </a:bodyPr>
          <a:lstStyle/>
          <a:p>
            <a:pPr algn="l"/>
            <a:r>
              <a:rPr sz="1400" b="0" i="0">
                <a:solidFill>
                  <a:srgbClr val="4A4F5C"/>
                </a:solidFill>
                <a:latin typeface="Arial"/>
              </a:rPr>
              <a:t>Shortage · 426 windows</a:t>
            </a:r>
          </a:p>
        </p:txBody>
      </p:sp>
      <p:sp>
        <p:nvSpPr>
          <p:cNvPr id="11" name="Rounded Rectangle 10"/>
          <p:cNvSpPr/>
          <p:nvPr/>
        </p:nvSpPr>
        <p:spPr>
          <a:xfrm>
            <a:off x="8046719" y="3108960"/>
            <a:ext cx="3566160" cy="128016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75319" y="3474720"/>
            <a:ext cx="457200" cy="457200"/>
          </a:xfrm>
          <a:prstGeom prst="ellipse">
            <a:avLst/>
          </a:prstGeom>
          <a:solidFill>
            <a:srgbClr val="FAB21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Arial"/>
              </a:rPr>
              <a:t/>
            </a:r>
          </a:p>
        </p:txBody>
      </p:sp>
      <p:sp>
        <p:nvSpPr>
          <p:cNvPr id="13" name="TextBox 12"/>
          <p:cNvSpPr txBox="1"/>
          <p:nvPr/>
        </p:nvSpPr>
        <p:spPr>
          <a:xfrm>
            <a:off x="8961119" y="3246120"/>
            <a:ext cx="2560320" cy="457200"/>
          </a:xfrm>
          <a:prstGeom prst="rect">
            <a:avLst/>
          </a:prstGeom>
          <a:noFill/>
        </p:spPr>
        <p:txBody>
          <a:bodyPr wrap="square" lIns="0" rIns="0" tIns="0" bIns="0" anchor="t">
            <a:spAutoFit/>
          </a:bodyPr>
          <a:lstStyle/>
          <a:p>
            <a:pPr algn="l"/>
            <a:r>
              <a:rPr sz="2600" b="1" i="0">
                <a:solidFill>
                  <a:srgbClr val="1B1F2A"/>
                </a:solidFill>
                <a:latin typeface="Arial"/>
              </a:rPr>
              <a:t>13.2 h</a:t>
            </a:r>
          </a:p>
        </p:txBody>
      </p:sp>
      <p:sp>
        <p:nvSpPr>
          <p:cNvPr id="14" name="TextBox 13"/>
          <p:cNvSpPr txBox="1"/>
          <p:nvPr/>
        </p:nvSpPr>
        <p:spPr>
          <a:xfrm>
            <a:off x="8961119" y="3749039"/>
            <a:ext cx="2560320" cy="457200"/>
          </a:xfrm>
          <a:prstGeom prst="rect">
            <a:avLst/>
          </a:prstGeom>
          <a:noFill/>
        </p:spPr>
        <p:txBody>
          <a:bodyPr wrap="square" lIns="0" rIns="0" tIns="0" bIns="0" anchor="t">
            <a:spAutoFit/>
          </a:bodyPr>
          <a:lstStyle/>
          <a:p>
            <a:pPr algn="l"/>
            <a:r>
              <a:rPr sz="1400" b="0" i="0">
                <a:solidFill>
                  <a:srgbClr val="4A4F5C"/>
                </a:solidFill>
                <a:latin typeface="Arial"/>
              </a:rPr>
              <a:t>Limited · 2,196 windows</a:t>
            </a:r>
          </a:p>
        </p:txBody>
      </p:sp>
      <p:sp>
        <p:nvSpPr>
          <p:cNvPr id="15" name="Rounded Rectangle 14"/>
          <p:cNvSpPr/>
          <p:nvPr/>
        </p:nvSpPr>
        <p:spPr>
          <a:xfrm>
            <a:off x="8046719" y="4572000"/>
            <a:ext cx="3566160" cy="128016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275319" y="4937760"/>
            <a:ext cx="457200" cy="457200"/>
          </a:xfrm>
          <a:prstGeom prst="ellipse">
            <a:avLst/>
          </a:prstGeom>
          <a:solidFill>
            <a:srgbClr val="0CA3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Arial"/>
              </a:rPr>
              <a:t/>
            </a:r>
          </a:p>
        </p:txBody>
      </p:sp>
      <p:sp>
        <p:nvSpPr>
          <p:cNvPr id="17" name="TextBox 16"/>
          <p:cNvSpPr txBox="1"/>
          <p:nvPr/>
        </p:nvSpPr>
        <p:spPr>
          <a:xfrm>
            <a:off x="8961119" y="4709160"/>
            <a:ext cx="2560320" cy="457200"/>
          </a:xfrm>
          <a:prstGeom prst="rect">
            <a:avLst/>
          </a:prstGeom>
          <a:noFill/>
        </p:spPr>
        <p:txBody>
          <a:bodyPr wrap="square" lIns="0" rIns="0" tIns="0" bIns="0" anchor="t">
            <a:spAutoFit/>
          </a:bodyPr>
          <a:lstStyle/>
          <a:p>
            <a:pPr algn="l"/>
            <a:r>
              <a:rPr sz="2600" b="1" i="0">
                <a:solidFill>
                  <a:srgbClr val="1B1F2A"/>
                </a:solidFill>
                <a:latin typeface="Arial"/>
              </a:rPr>
              <a:t>7.2 h</a:t>
            </a:r>
          </a:p>
        </p:txBody>
      </p:sp>
      <p:sp>
        <p:nvSpPr>
          <p:cNvPr id="18" name="TextBox 17"/>
          <p:cNvSpPr txBox="1"/>
          <p:nvPr/>
        </p:nvSpPr>
        <p:spPr>
          <a:xfrm>
            <a:off x="8961119" y="5212080"/>
            <a:ext cx="2560320" cy="457200"/>
          </a:xfrm>
          <a:prstGeom prst="rect">
            <a:avLst/>
          </a:prstGeom>
          <a:noFill/>
        </p:spPr>
        <p:txBody>
          <a:bodyPr wrap="square" lIns="0" rIns="0" tIns="0" bIns="0" anchor="t">
            <a:spAutoFit/>
          </a:bodyPr>
          <a:lstStyle/>
          <a:p>
            <a:pPr algn="l"/>
            <a:r>
              <a:rPr sz="1400" b="0" i="0">
                <a:solidFill>
                  <a:srgbClr val="4A4F5C"/>
                </a:solidFill>
                <a:latin typeface="Arial"/>
              </a:rPr>
              <a:t>Available · 2,378 windows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8229600" cy="274320"/>
          </a:xfrm>
          <a:prstGeom prst="rect">
            <a:avLst/>
          </a:prstGeom>
          <a:noFill/>
        </p:spPr>
        <p:txBody>
          <a:bodyPr wrap="square" lIns="0" rIns="0" tIns="0" bIns="0" anchor="t">
            <a:spAutoFit/>
          </a:bodyPr>
          <a:lstStyle/>
          <a:p>
            <a:pPr algn="l"/>
            <a:r>
              <a:rPr sz="1200" b="1" i="0">
                <a:solidFill>
                  <a:srgbClr val="E8762C"/>
                </a:solidFill>
                <a:latin typeface="Arial"/>
              </a:rPr>
              <a:t>LEVERS 1 + 2 TOGETHER</a:t>
            </a:r>
          </a:p>
        </p:txBody>
      </p:sp>
      <p:sp>
        <p:nvSpPr>
          <p:cNvPr id="3" name="TextBox 2"/>
          <p:cNvSpPr txBox="1"/>
          <p:nvPr/>
        </p:nvSpPr>
        <p:spPr>
          <a:xfrm>
            <a:off x="548640" y="521208"/>
            <a:ext cx="11094415" cy="868680"/>
          </a:xfrm>
          <a:prstGeom prst="rect">
            <a:avLst/>
          </a:prstGeom>
          <a:noFill/>
        </p:spPr>
        <p:txBody>
          <a:bodyPr wrap="square" lIns="0" rIns="0" tIns="0" bIns="0" anchor="t">
            <a:spAutoFit/>
          </a:bodyPr>
          <a:lstStyle/>
          <a:p>
            <a:pPr algn="l"/>
            <a:r>
              <a:rPr sz="3000" b="1" i="0">
                <a:solidFill>
                  <a:srgbClr val="1B1F2A"/>
                </a:solidFill>
                <a:latin typeface="Arial"/>
              </a:rPr>
              <a:t>The levers compound: worst combination 26 h, best 6 h</a:t>
            </a:r>
          </a:p>
        </p:txBody>
      </p:sp>
      <p:sp>
        <p:nvSpPr>
          <p:cNvPr id="4" name="TextBox 3"/>
          <p:cNvSpPr txBox="1"/>
          <p:nvPr/>
        </p:nvSpPr>
        <p:spPr>
          <a:xfrm>
            <a:off x="548640" y="6473952"/>
            <a:ext cx="8229600" cy="228600"/>
          </a:xfrm>
          <a:prstGeom prst="rect">
            <a:avLst/>
          </a:prstGeom>
          <a:noFill/>
        </p:spPr>
        <p:txBody>
          <a:bodyPr wrap="square" lIns="0" rIns="0" tIns="0" bIns="0" anchor="t">
            <a:spAutoFit/>
          </a:bodyPr>
          <a:lstStyle/>
          <a:p>
            <a:pPr algn="l"/>
            <a:r>
              <a:rPr sz="1000" b="0" i="0">
                <a:solidFill>
                  <a:srgbClr val="6B707C"/>
                </a:solidFill>
                <a:latin typeface="Arial"/>
              </a:rPr>
              <a:t>Source: Group_9230_Team1_PMARIS_Enterprise_Dataset.csv, 5,000 observation windows</a:t>
            </a:r>
          </a:p>
        </p:txBody>
      </p:sp>
      <p:sp>
        <p:nvSpPr>
          <p:cNvPr id="5" name="TextBox 4"/>
          <p:cNvSpPr txBox="1"/>
          <p:nvPr/>
        </p:nvSpPr>
        <p:spPr>
          <a:xfrm>
            <a:off x="10271455" y="6473952"/>
            <a:ext cx="1371600" cy="228600"/>
          </a:xfrm>
          <a:prstGeom prst="rect">
            <a:avLst/>
          </a:prstGeom>
          <a:noFill/>
        </p:spPr>
        <p:txBody>
          <a:bodyPr wrap="square" lIns="0" rIns="0" tIns="0" bIns="0" anchor="t">
            <a:spAutoFit/>
          </a:bodyPr>
          <a:lstStyle/>
          <a:p>
            <a:pPr algn="r"/>
            <a:r>
              <a:rPr sz="1000" b="0" i="0">
                <a:solidFill>
                  <a:srgbClr val="6B707C"/>
                </a:solidFill>
                <a:latin typeface="Arial"/>
              </a:rPr>
              <a:t>19 / 30</a:t>
            </a:r>
          </a:p>
        </p:txBody>
      </p:sp>
      <p:pic>
        <p:nvPicPr>
          <p:cNvPr id="6" name="Picture 5" descr="heatmap.png"/>
          <p:cNvPicPr>
            <a:picLocks noChangeAspect="1"/>
          </p:cNvPicPr>
          <p:nvPr/>
        </p:nvPicPr>
        <p:blipFill>
          <a:blip r:embed="rId3"/>
          <a:stretch>
            <a:fillRect/>
          </a:stretch>
        </p:blipFill>
        <p:spPr>
          <a:xfrm>
            <a:off x="548640" y="2175265"/>
            <a:ext cx="7132319" cy="3238989"/>
          </a:xfrm>
          <a:prstGeom prst="rect">
            <a:avLst/>
          </a:prstGeom>
        </p:spPr>
      </p:pic>
      <p:sp>
        <p:nvSpPr>
          <p:cNvPr id="7" name="Rounded Rectangle 6"/>
          <p:cNvSpPr/>
          <p:nvPr/>
        </p:nvSpPr>
        <p:spPr>
          <a:xfrm>
            <a:off x="8046719" y="1645920"/>
            <a:ext cx="3566160" cy="420624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21040" y="1874519"/>
            <a:ext cx="3017520" cy="274320"/>
          </a:xfrm>
          <a:prstGeom prst="rect">
            <a:avLst/>
          </a:prstGeom>
          <a:noFill/>
        </p:spPr>
        <p:txBody>
          <a:bodyPr wrap="square" lIns="0" rIns="0" tIns="0" bIns="0" anchor="t">
            <a:spAutoFit/>
          </a:bodyPr>
          <a:lstStyle/>
          <a:p>
            <a:pPr algn="l"/>
            <a:r>
              <a:rPr sz="1200" b="1" i="0">
                <a:solidFill>
                  <a:srgbClr val="E8762C"/>
                </a:solidFill>
                <a:latin typeface="Arial"/>
              </a:rPr>
              <a:t>SO WHAT</a:t>
            </a:r>
          </a:p>
        </p:txBody>
      </p:sp>
      <p:sp>
        <p:nvSpPr>
          <p:cNvPr id="9" name="TextBox 8"/>
          <p:cNvSpPr txBox="1"/>
          <p:nvPr/>
        </p:nvSpPr>
        <p:spPr>
          <a:xfrm>
            <a:off x="8321040" y="2212848"/>
            <a:ext cx="3017520" cy="3474720"/>
          </a:xfrm>
          <a:prstGeom prst="rect">
            <a:avLst/>
          </a:prstGeom>
          <a:noFill/>
        </p:spPr>
        <p:txBody>
          <a:bodyPr wrap="square" lIns="0" rIns="0" tIns="0" bIns="0" anchor="t">
            <a:spAutoFit/>
          </a:bodyPr>
          <a:lstStyle/>
          <a:p>
            <a:pPr algn="l">
              <a:lnSpc>
                <a:spcPct val="110000"/>
              </a:lnSpc>
            </a:pPr>
            <a:r>
              <a:rPr sz="1600" b="0" i="0">
                <a:solidFill>
                  <a:srgbClr val="1B1F2A"/>
                </a:solidFill>
                <a:latin typeface="Arial"/>
              </a:rPr>
              <a:t>A 4.5x spread between the worst and best cell. Even with parts available, reactive runs 11.4 h against 5.9 h for predictive.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8229600" cy="274320"/>
          </a:xfrm>
          <a:prstGeom prst="rect">
            <a:avLst/>
          </a:prstGeom>
          <a:noFill/>
        </p:spPr>
        <p:txBody>
          <a:bodyPr wrap="square" lIns="0" rIns="0" tIns="0" bIns="0" anchor="t">
            <a:spAutoFit/>
          </a:bodyPr>
          <a:lstStyle/>
          <a:p>
            <a:pPr algn="l"/>
            <a:r>
              <a:rPr sz="1200" b="1" i="0">
                <a:solidFill>
                  <a:srgbClr val="E8762C"/>
                </a:solidFill>
                <a:latin typeface="Arial"/>
              </a:rPr>
              <a:t>LEVER 3: CREW SKILL</a:t>
            </a:r>
          </a:p>
        </p:txBody>
      </p:sp>
      <p:sp>
        <p:nvSpPr>
          <p:cNvPr id="3" name="TextBox 2"/>
          <p:cNvSpPr txBox="1"/>
          <p:nvPr/>
        </p:nvSpPr>
        <p:spPr>
          <a:xfrm>
            <a:off x="548640" y="521208"/>
            <a:ext cx="11094415" cy="868680"/>
          </a:xfrm>
          <a:prstGeom prst="rect">
            <a:avLst/>
          </a:prstGeom>
          <a:noFill/>
        </p:spPr>
        <p:txBody>
          <a:bodyPr wrap="square" lIns="0" rIns="0" tIns="0" bIns="0" anchor="t">
            <a:spAutoFit/>
          </a:bodyPr>
          <a:lstStyle/>
          <a:p>
            <a:pPr algn="l"/>
            <a:r>
              <a:rPr sz="3000" b="1" i="0">
                <a:solidFill>
                  <a:srgbClr val="1B1F2A"/>
                </a:solidFill>
                <a:latin typeface="Arial"/>
              </a:rPr>
              <a:t>Basic crews run 1.8x the downtime of expert crews</a:t>
            </a:r>
          </a:p>
        </p:txBody>
      </p:sp>
      <p:sp>
        <p:nvSpPr>
          <p:cNvPr id="4" name="TextBox 3"/>
          <p:cNvSpPr txBox="1"/>
          <p:nvPr/>
        </p:nvSpPr>
        <p:spPr>
          <a:xfrm>
            <a:off x="548640" y="6473952"/>
            <a:ext cx="8229600" cy="228600"/>
          </a:xfrm>
          <a:prstGeom prst="rect">
            <a:avLst/>
          </a:prstGeom>
          <a:noFill/>
        </p:spPr>
        <p:txBody>
          <a:bodyPr wrap="square" lIns="0" rIns="0" tIns="0" bIns="0" anchor="t">
            <a:spAutoFit/>
          </a:bodyPr>
          <a:lstStyle/>
          <a:p>
            <a:pPr algn="l"/>
            <a:r>
              <a:rPr sz="1000" b="0" i="0">
                <a:solidFill>
                  <a:srgbClr val="6B707C"/>
                </a:solidFill>
                <a:latin typeface="Arial"/>
              </a:rPr>
              <a:t>Source: Group_9230_Team1_PMARIS_Enterprise_Dataset.csv, 5,000 observation windows</a:t>
            </a:r>
          </a:p>
        </p:txBody>
      </p:sp>
      <p:sp>
        <p:nvSpPr>
          <p:cNvPr id="5" name="TextBox 4"/>
          <p:cNvSpPr txBox="1"/>
          <p:nvPr/>
        </p:nvSpPr>
        <p:spPr>
          <a:xfrm>
            <a:off x="10271455" y="6473952"/>
            <a:ext cx="1371600" cy="228600"/>
          </a:xfrm>
          <a:prstGeom prst="rect">
            <a:avLst/>
          </a:prstGeom>
          <a:noFill/>
        </p:spPr>
        <p:txBody>
          <a:bodyPr wrap="square" lIns="0" rIns="0" tIns="0" bIns="0" anchor="t">
            <a:spAutoFit/>
          </a:bodyPr>
          <a:lstStyle/>
          <a:p>
            <a:pPr algn="r"/>
            <a:r>
              <a:rPr sz="1000" b="0" i="0">
                <a:solidFill>
                  <a:srgbClr val="6B707C"/>
                </a:solidFill>
                <a:latin typeface="Arial"/>
              </a:rPr>
              <a:t>20 / 30</a:t>
            </a:r>
          </a:p>
        </p:txBody>
      </p:sp>
      <p:graphicFrame>
        <p:nvGraphicFramePr>
          <p:cNvPr id="6" name="Chart 5"/>
          <p:cNvGraphicFramePr>
            <a:graphicFrameLocks noGrp="1"/>
          </p:cNvGraphicFramePr>
          <p:nvPr/>
        </p:nvGraphicFramePr>
        <p:xfrm>
          <a:off x="548640" y="1554480"/>
          <a:ext cx="6949440" cy="4389120"/>
        </p:xfrm>
        <a:graphic>
          <a:graphicData uri="http://schemas.openxmlformats.org/drawingml/2006/chart">
            <c:chart xmlns:c="http://schemas.openxmlformats.org/drawingml/2006/chart" r:id="rId3"/>
          </a:graphicData>
        </a:graphic>
      </p:graphicFrame>
      <p:sp>
        <p:nvSpPr>
          <p:cNvPr id="7" name="Rounded Rectangle 6"/>
          <p:cNvSpPr/>
          <p:nvPr/>
        </p:nvSpPr>
        <p:spPr>
          <a:xfrm>
            <a:off x="7863840" y="1645920"/>
            <a:ext cx="3749039" cy="420624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38160" y="1874519"/>
            <a:ext cx="3200399" cy="274320"/>
          </a:xfrm>
          <a:prstGeom prst="rect">
            <a:avLst/>
          </a:prstGeom>
          <a:noFill/>
        </p:spPr>
        <p:txBody>
          <a:bodyPr wrap="square" lIns="0" rIns="0" tIns="0" bIns="0" anchor="t">
            <a:spAutoFit/>
          </a:bodyPr>
          <a:lstStyle/>
          <a:p>
            <a:pPr algn="l"/>
            <a:r>
              <a:rPr sz="1200" b="1" i="0">
                <a:solidFill>
                  <a:srgbClr val="E8762C"/>
                </a:solidFill>
                <a:latin typeface="Arial"/>
              </a:rPr>
              <a:t>SO WHAT</a:t>
            </a:r>
          </a:p>
        </p:txBody>
      </p:sp>
      <p:sp>
        <p:nvSpPr>
          <p:cNvPr id="9" name="TextBox 8"/>
          <p:cNvSpPr txBox="1"/>
          <p:nvPr/>
        </p:nvSpPr>
        <p:spPr>
          <a:xfrm>
            <a:off x="8138160" y="2212848"/>
            <a:ext cx="3200399" cy="3474720"/>
          </a:xfrm>
          <a:prstGeom prst="rect">
            <a:avLst/>
          </a:prstGeom>
          <a:noFill/>
        </p:spPr>
        <p:txBody>
          <a:bodyPr wrap="square" lIns="0" rIns="0" tIns="0" bIns="0" anchor="t">
            <a:spAutoFit/>
          </a:bodyPr>
          <a:lstStyle/>
          <a:p>
            <a:pPr algn="l">
              <a:lnSpc>
                <a:spcPct val="110000"/>
              </a:lnSpc>
            </a:pPr>
            <a:r>
              <a:rPr sz="1600" b="0" i="0">
                <a:solidFill>
                  <a:srgbClr val="1B1F2A"/>
                </a:solidFill>
                <a:latin typeface="Arial"/>
              </a:rPr>
              <a:t>2,509 windows (50%) are worked by basic or intermediate crews. Pair them with experts on high-risk assets first.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8229600" cy="274320"/>
          </a:xfrm>
          <a:prstGeom prst="rect">
            <a:avLst/>
          </a:prstGeom>
          <a:noFill/>
        </p:spPr>
        <p:txBody>
          <a:bodyPr wrap="square" lIns="0" rIns="0" tIns="0" bIns="0" anchor="t">
            <a:spAutoFit/>
          </a:bodyPr>
          <a:lstStyle/>
          <a:p>
            <a:pPr algn="l"/>
            <a:r>
              <a:rPr sz="1200" b="1" i="0">
                <a:solidFill>
                  <a:srgbClr val="E8762C"/>
                </a:solidFill>
                <a:latin typeface="Arial"/>
              </a:rPr>
              <a:t>LEVER 4: PM DISCIPLINE</a:t>
            </a:r>
          </a:p>
        </p:txBody>
      </p:sp>
      <p:sp>
        <p:nvSpPr>
          <p:cNvPr id="3" name="TextBox 2"/>
          <p:cNvSpPr txBox="1"/>
          <p:nvPr/>
        </p:nvSpPr>
        <p:spPr>
          <a:xfrm>
            <a:off x="548640" y="521208"/>
            <a:ext cx="11094415" cy="868680"/>
          </a:xfrm>
          <a:prstGeom prst="rect">
            <a:avLst/>
          </a:prstGeom>
          <a:noFill/>
        </p:spPr>
        <p:txBody>
          <a:bodyPr wrap="square" lIns="0" rIns="0" tIns="0" bIns="0" anchor="t">
            <a:spAutoFit/>
          </a:bodyPr>
          <a:lstStyle/>
          <a:p>
            <a:pPr algn="l"/>
            <a:r>
              <a:rPr sz="3000" b="1" i="0">
                <a:solidFill>
                  <a:srgbClr val="1B1F2A"/>
                </a:solidFill>
                <a:latin typeface="Arial"/>
              </a:rPr>
              <a:t>Downtime falls steadily as PM compliance rises: 23 h to 7 h</a:t>
            </a:r>
          </a:p>
        </p:txBody>
      </p:sp>
      <p:sp>
        <p:nvSpPr>
          <p:cNvPr id="4" name="TextBox 3"/>
          <p:cNvSpPr txBox="1"/>
          <p:nvPr/>
        </p:nvSpPr>
        <p:spPr>
          <a:xfrm>
            <a:off x="548640" y="6473952"/>
            <a:ext cx="8229600" cy="228600"/>
          </a:xfrm>
          <a:prstGeom prst="rect">
            <a:avLst/>
          </a:prstGeom>
          <a:noFill/>
        </p:spPr>
        <p:txBody>
          <a:bodyPr wrap="square" lIns="0" rIns="0" tIns="0" bIns="0" anchor="t">
            <a:spAutoFit/>
          </a:bodyPr>
          <a:lstStyle/>
          <a:p>
            <a:pPr algn="l"/>
            <a:r>
              <a:rPr sz="1000" b="0" i="0">
                <a:solidFill>
                  <a:srgbClr val="6B707C"/>
                </a:solidFill>
                <a:latin typeface="Arial"/>
              </a:rPr>
              <a:t>Source: Group_9230_Team1_PMARIS_Enterprise_Dataset.csv, 5,000 observation windows</a:t>
            </a:r>
          </a:p>
        </p:txBody>
      </p:sp>
      <p:sp>
        <p:nvSpPr>
          <p:cNvPr id="5" name="TextBox 4"/>
          <p:cNvSpPr txBox="1"/>
          <p:nvPr/>
        </p:nvSpPr>
        <p:spPr>
          <a:xfrm>
            <a:off x="10271455" y="6473952"/>
            <a:ext cx="1371600" cy="228600"/>
          </a:xfrm>
          <a:prstGeom prst="rect">
            <a:avLst/>
          </a:prstGeom>
          <a:noFill/>
        </p:spPr>
        <p:txBody>
          <a:bodyPr wrap="square" lIns="0" rIns="0" tIns="0" bIns="0" anchor="t">
            <a:spAutoFit/>
          </a:bodyPr>
          <a:lstStyle/>
          <a:p>
            <a:pPr algn="r"/>
            <a:r>
              <a:rPr sz="1000" b="0" i="0">
                <a:solidFill>
                  <a:srgbClr val="6B707C"/>
                </a:solidFill>
                <a:latin typeface="Arial"/>
              </a:rPr>
              <a:t>21 / 30</a:t>
            </a:r>
          </a:p>
        </p:txBody>
      </p:sp>
      <p:graphicFrame>
        <p:nvGraphicFramePr>
          <p:cNvPr id="6" name="Chart 5"/>
          <p:cNvGraphicFramePr>
            <a:graphicFrameLocks noGrp="1"/>
          </p:cNvGraphicFramePr>
          <p:nvPr/>
        </p:nvGraphicFramePr>
        <p:xfrm>
          <a:off x="548640" y="1554480"/>
          <a:ext cx="11064240" cy="4480560"/>
        </p:xfrm>
        <a:graphic>
          <a:graphicData uri="http://schemas.openxmlformats.org/drawingml/2006/chart">
            <c:chart xmlns:c="http://schemas.openxmlformats.org/drawingml/2006/chart" r:id="rId3"/>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8229600" cy="274320"/>
          </a:xfrm>
          <a:prstGeom prst="rect">
            <a:avLst/>
          </a:prstGeom>
          <a:noFill/>
        </p:spPr>
        <p:txBody>
          <a:bodyPr wrap="square" lIns="0" rIns="0" tIns="0" bIns="0" anchor="t">
            <a:spAutoFit/>
          </a:bodyPr>
          <a:lstStyle/>
          <a:p>
            <a:pPr algn="l"/>
            <a:r>
              <a:rPr sz="1200" b="1" i="0">
                <a:solidFill>
                  <a:srgbClr val="E8762C"/>
                </a:solidFill>
                <a:latin typeface="Arial"/>
              </a:rPr>
              <a:t>OPERATING THRESHOLDS</a:t>
            </a:r>
          </a:p>
        </p:txBody>
      </p:sp>
      <p:sp>
        <p:nvSpPr>
          <p:cNvPr id="3" name="TextBox 2"/>
          <p:cNvSpPr txBox="1"/>
          <p:nvPr/>
        </p:nvSpPr>
        <p:spPr>
          <a:xfrm>
            <a:off x="548640" y="521208"/>
            <a:ext cx="11094415" cy="868680"/>
          </a:xfrm>
          <a:prstGeom prst="rect">
            <a:avLst/>
          </a:prstGeom>
          <a:noFill/>
        </p:spPr>
        <p:txBody>
          <a:bodyPr wrap="square" lIns="0" rIns="0" tIns="0" bIns="0" anchor="t">
            <a:spAutoFit/>
          </a:bodyPr>
          <a:lstStyle/>
          <a:p>
            <a:pPr algn="l"/>
            <a:r>
              <a:rPr sz="3000" b="1" i="0">
                <a:solidFill>
                  <a:srgbClr val="1B1F2A"/>
                </a:solidFill>
                <a:latin typeface="Arial"/>
              </a:rPr>
              <a:t>Four operating thresholds each split downtime about 2x</a:t>
            </a:r>
          </a:p>
        </p:txBody>
      </p:sp>
      <p:sp>
        <p:nvSpPr>
          <p:cNvPr id="4" name="TextBox 3"/>
          <p:cNvSpPr txBox="1"/>
          <p:nvPr/>
        </p:nvSpPr>
        <p:spPr>
          <a:xfrm>
            <a:off x="548640" y="6473952"/>
            <a:ext cx="8229600" cy="228600"/>
          </a:xfrm>
          <a:prstGeom prst="rect">
            <a:avLst/>
          </a:prstGeom>
          <a:noFill/>
        </p:spPr>
        <p:txBody>
          <a:bodyPr wrap="square" lIns="0" rIns="0" tIns="0" bIns="0" anchor="t">
            <a:spAutoFit/>
          </a:bodyPr>
          <a:lstStyle/>
          <a:p>
            <a:pPr algn="l"/>
            <a:r>
              <a:rPr sz="1000" b="0" i="0">
                <a:solidFill>
                  <a:srgbClr val="6B707C"/>
                </a:solidFill>
                <a:latin typeface="Arial"/>
              </a:rPr>
              <a:t>Source: Group_9230_Team1_PMARIS_Enterprise_Dataset.csv, 5,000 observation windows</a:t>
            </a:r>
          </a:p>
        </p:txBody>
      </p:sp>
      <p:sp>
        <p:nvSpPr>
          <p:cNvPr id="5" name="TextBox 4"/>
          <p:cNvSpPr txBox="1"/>
          <p:nvPr/>
        </p:nvSpPr>
        <p:spPr>
          <a:xfrm>
            <a:off x="10271455" y="6473952"/>
            <a:ext cx="1371600" cy="228600"/>
          </a:xfrm>
          <a:prstGeom prst="rect">
            <a:avLst/>
          </a:prstGeom>
          <a:noFill/>
        </p:spPr>
        <p:txBody>
          <a:bodyPr wrap="square" lIns="0" rIns="0" tIns="0" bIns="0" anchor="t">
            <a:spAutoFit/>
          </a:bodyPr>
          <a:lstStyle/>
          <a:p>
            <a:pPr algn="r"/>
            <a:r>
              <a:rPr sz="1000" b="0" i="0">
                <a:solidFill>
                  <a:srgbClr val="6B707C"/>
                </a:solidFill>
                <a:latin typeface="Arial"/>
              </a:rPr>
              <a:t>22 / 30</a:t>
            </a:r>
          </a:p>
        </p:txBody>
      </p:sp>
      <p:graphicFrame>
        <p:nvGraphicFramePr>
          <p:cNvPr id="6" name="Table 5"/>
          <p:cNvGraphicFramePr>
            <a:graphicFrameLocks noGrp="1"/>
          </p:cNvGraphicFramePr>
          <p:nvPr/>
        </p:nvGraphicFramePr>
        <p:xfrm>
          <a:off x="548640" y="1645920"/>
          <a:ext cx="11064240" cy="2834640"/>
        </p:xfrm>
        <a:graphic>
          <a:graphicData uri="http://schemas.openxmlformats.org/drawingml/2006/table">
            <a:tbl>
              <a:tblPr firstRow="1" bandRow="1">
                <a:tableStyleId>{5C22544A-7EE6-4342-B048-85BDC9FD1C3A}</a:tableStyleId>
              </a:tblPr>
              <a:tblGrid>
                <a:gridCol w="2377440"/>
                <a:gridCol w="1737360"/>
                <a:gridCol w="1234440"/>
                <a:gridCol w="2148840"/>
                <a:gridCol w="1234440"/>
                <a:gridCol w="1097280"/>
                <a:gridCol w="1234440"/>
              </a:tblGrid>
              <a:tr h="566928">
                <a:tc>
                  <a:txBody>
                    <a:bodyPr wrap="square"/>
                    <a:lstStyle/>
                    <a:p>
                      <a:r>
                        <a:rPr sz="1400" b="1">
                          <a:solidFill>
                            <a:srgbClr val="FFFFFF"/>
                          </a:solidFill>
                          <a:latin typeface="Arial"/>
                        </a:rPr>
                        <a:t>Lever</a:t>
                      </a:r>
                    </a:p>
                  </a:txBody>
                  <a:tcPr marL="91440" marR="91440" marT="36576" marB="36576" anchor="ctr">
                    <a:solidFill>
                      <a:srgbClr val="14213D"/>
                    </a:solidFill>
                  </a:tcPr>
                </a:tc>
                <a:tc>
                  <a:txBody>
                    <a:bodyPr wrap="square"/>
                    <a:lstStyle/>
                    <a:p>
                      <a:r>
                        <a:rPr sz="1400" b="1">
                          <a:solidFill>
                            <a:srgbClr val="FFFFFF"/>
                          </a:solidFill>
                          <a:latin typeface="Arial"/>
                        </a:rPr>
                        <a:t>Worse side</a:t>
                      </a:r>
                    </a:p>
                  </a:txBody>
                  <a:tcPr marL="91440" marR="91440" marT="36576" marB="36576" anchor="ctr">
                    <a:solidFill>
                      <a:srgbClr val="14213D"/>
                    </a:solidFill>
                  </a:tcPr>
                </a:tc>
                <a:tc>
                  <a:txBody>
                    <a:bodyPr wrap="square"/>
                    <a:lstStyle/>
                    <a:p>
                      <a:pPr algn="r"/>
                      <a:r>
                        <a:rPr sz="1400" b="1">
                          <a:solidFill>
                            <a:srgbClr val="FFFFFF"/>
                          </a:solidFill>
                          <a:latin typeface="Arial"/>
                        </a:rPr>
                        <a:t>Downtime</a:t>
                      </a:r>
                    </a:p>
                  </a:txBody>
                  <a:tcPr marL="91440" marR="91440" marT="36576" marB="36576" anchor="ctr">
                    <a:solidFill>
                      <a:srgbClr val="14213D"/>
                    </a:solidFill>
                  </a:tcPr>
                </a:tc>
                <a:tc>
                  <a:txBody>
                    <a:bodyPr wrap="square"/>
                    <a:lstStyle/>
                    <a:p>
                      <a:r>
                        <a:rPr sz="1400" b="1">
                          <a:solidFill>
                            <a:srgbClr val="FFFFFF"/>
                          </a:solidFill>
                          <a:latin typeface="Arial"/>
                        </a:rPr>
                        <a:t>Better side</a:t>
                      </a:r>
                    </a:p>
                  </a:txBody>
                  <a:tcPr marL="91440" marR="91440" marT="36576" marB="36576" anchor="ctr">
                    <a:solidFill>
                      <a:srgbClr val="14213D"/>
                    </a:solidFill>
                  </a:tcPr>
                </a:tc>
                <a:tc>
                  <a:txBody>
                    <a:bodyPr wrap="square"/>
                    <a:lstStyle/>
                    <a:p>
                      <a:pPr algn="r"/>
                      <a:r>
                        <a:rPr sz="1400" b="1">
                          <a:solidFill>
                            <a:srgbClr val="FFFFFF"/>
                          </a:solidFill>
                          <a:latin typeface="Arial"/>
                        </a:rPr>
                        <a:t>Downtime</a:t>
                      </a:r>
                    </a:p>
                  </a:txBody>
                  <a:tcPr marL="91440" marR="91440" marT="36576" marB="36576" anchor="ctr">
                    <a:solidFill>
                      <a:srgbClr val="14213D"/>
                    </a:solidFill>
                  </a:tcPr>
                </a:tc>
                <a:tc>
                  <a:txBody>
                    <a:bodyPr wrap="square"/>
                    <a:lstStyle/>
                    <a:p>
                      <a:pPr algn="r"/>
                      <a:r>
                        <a:rPr sz="1400" b="1">
                          <a:solidFill>
                            <a:srgbClr val="FFFFFF"/>
                          </a:solidFill>
                          <a:latin typeface="Arial"/>
                        </a:rPr>
                        <a:t>Ratio</a:t>
                      </a:r>
                    </a:p>
                  </a:txBody>
                  <a:tcPr marL="91440" marR="91440" marT="36576" marB="36576" anchor="ctr">
                    <a:solidFill>
                      <a:srgbClr val="14213D"/>
                    </a:solidFill>
                  </a:tcPr>
                </a:tc>
                <a:tc>
                  <a:txBody>
                    <a:bodyPr wrap="square"/>
                    <a:lstStyle/>
                    <a:p>
                      <a:pPr algn="r"/>
                      <a:r>
                        <a:rPr sz="1400" b="1">
                          <a:solidFill>
                            <a:srgbClr val="FFFFFF"/>
                          </a:solidFill>
                          <a:latin typeface="Arial"/>
                        </a:rPr>
                        <a:t>η²</a:t>
                      </a:r>
                    </a:p>
                  </a:txBody>
                  <a:tcPr marL="91440" marR="91440" marT="36576" marB="36576" anchor="ctr">
                    <a:solidFill>
                      <a:srgbClr val="14213D"/>
                    </a:solidFill>
                  </a:tcPr>
                </a:tc>
              </a:tr>
              <a:tr h="566928">
                <a:tc>
                  <a:txBody>
                    <a:bodyPr wrap="square"/>
                    <a:lstStyle/>
                    <a:p>
                      <a:r>
                        <a:rPr sz="1500" b="0">
                          <a:solidFill>
                            <a:srgbClr val="1B1F2A"/>
                          </a:solidFill>
                          <a:latin typeface="Arial"/>
                        </a:rPr>
                        <a:t>PM compliance</a:t>
                      </a:r>
                    </a:p>
                  </a:txBody>
                  <a:tcPr marL="91440" marR="91440" marT="36576" marB="36576" anchor="ctr">
                    <a:solidFill>
                      <a:srgbClr val="FFFFFF"/>
                    </a:solidFill>
                  </a:tcPr>
                </a:tc>
                <a:tc>
                  <a:txBody>
                    <a:bodyPr wrap="square"/>
                    <a:lstStyle/>
                    <a:p>
                      <a:r>
                        <a:rPr sz="1500" b="0">
                          <a:solidFill>
                            <a:srgbClr val="1B1F2A"/>
                          </a:solidFill>
                          <a:latin typeface="Arial"/>
                        </a:rPr>
                        <a:t>below 80%</a:t>
                      </a:r>
                    </a:p>
                  </a:txBody>
                  <a:tcPr marL="91440" marR="91440" marT="36576" marB="36576" anchor="ctr">
                    <a:solidFill>
                      <a:srgbClr val="FFFFFF"/>
                    </a:solidFill>
                  </a:tcPr>
                </a:tc>
                <a:tc>
                  <a:txBody>
                    <a:bodyPr wrap="square"/>
                    <a:lstStyle/>
                    <a:p>
                      <a:pPr algn="r"/>
                      <a:r>
                        <a:rPr sz="1500" b="0">
                          <a:solidFill>
                            <a:srgbClr val="1B1F2A"/>
                          </a:solidFill>
                          <a:latin typeface="Arial"/>
                        </a:rPr>
                        <a:t>16.0 h</a:t>
                      </a:r>
                    </a:p>
                  </a:txBody>
                  <a:tcPr marL="91440" marR="91440" marT="36576" marB="36576" anchor="ctr">
                    <a:solidFill>
                      <a:srgbClr val="FFFFFF"/>
                    </a:solidFill>
                  </a:tcPr>
                </a:tc>
                <a:tc>
                  <a:txBody>
                    <a:bodyPr wrap="square"/>
                    <a:lstStyle/>
                    <a:p>
                      <a:r>
                        <a:rPr sz="1500" b="0">
                          <a:solidFill>
                            <a:srgbClr val="1B1F2A"/>
                          </a:solidFill>
                          <a:latin typeface="Arial"/>
                        </a:rPr>
                        <a:t>80% or more</a:t>
                      </a:r>
                    </a:p>
                  </a:txBody>
                  <a:tcPr marL="91440" marR="91440" marT="36576" marB="36576" anchor="ctr">
                    <a:solidFill>
                      <a:srgbClr val="FFFFFF"/>
                    </a:solidFill>
                  </a:tcPr>
                </a:tc>
                <a:tc>
                  <a:txBody>
                    <a:bodyPr wrap="square"/>
                    <a:lstStyle/>
                    <a:p>
                      <a:pPr algn="r"/>
                      <a:r>
                        <a:rPr sz="1500" b="0">
                          <a:solidFill>
                            <a:srgbClr val="1B1F2A"/>
                          </a:solidFill>
                          <a:latin typeface="Arial"/>
                        </a:rPr>
                        <a:t>7.3 h</a:t>
                      </a:r>
                    </a:p>
                  </a:txBody>
                  <a:tcPr marL="91440" marR="91440" marT="36576" marB="36576" anchor="ctr">
                    <a:solidFill>
                      <a:srgbClr val="FFFFFF"/>
                    </a:solidFill>
                  </a:tcPr>
                </a:tc>
                <a:tc>
                  <a:txBody>
                    <a:bodyPr wrap="square"/>
                    <a:lstStyle/>
                    <a:p>
                      <a:pPr algn="r"/>
                      <a:r>
                        <a:rPr sz="1500" b="0">
                          <a:solidFill>
                            <a:srgbClr val="1B1F2A"/>
                          </a:solidFill>
                          <a:latin typeface="Arial"/>
                        </a:rPr>
                        <a:t>2.2x</a:t>
                      </a:r>
                    </a:p>
                  </a:txBody>
                  <a:tcPr marL="91440" marR="91440" marT="36576" marB="36576" anchor="ctr">
                    <a:solidFill>
                      <a:srgbClr val="FFFFFF"/>
                    </a:solidFill>
                  </a:tcPr>
                </a:tc>
                <a:tc>
                  <a:txBody>
                    <a:bodyPr wrap="square"/>
                    <a:lstStyle/>
                    <a:p>
                      <a:pPr algn="r"/>
                      <a:r>
                        <a:rPr sz="1500" b="0">
                          <a:solidFill>
                            <a:srgbClr val="1B1F2A"/>
                          </a:solidFill>
                          <a:latin typeface="Arial"/>
                        </a:rPr>
                        <a:t>0.097</a:t>
                      </a:r>
                    </a:p>
                  </a:txBody>
                  <a:tcPr marL="91440" marR="91440" marT="36576" marB="36576" anchor="ctr">
                    <a:solidFill>
                      <a:srgbClr val="FFFFFF"/>
                    </a:solidFill>
                  </a:tcPr>
                </a:tc>
              </a:tr>
              <a:tr h="566928">
                <a:tc>
                  <a:txBody>
                    <a:bodyPr wrap="square"/>
                    <a:lstStyle/>
                    <a:p>
                      <a:r>
                        <a:rPr sz="1500" b="0">
                          <a:solidFill>
                            <a:srgbClr val="1B1F2A"/>
                          </a:solidFill>
                          <a:latin typeface="Arial"/>
                        </a:rPr>
                        <a:t>Days since maintenance</a:t>
                      </a:r>
                    </a:p>
                  </a:txBody>
                  <a:tcPr marL="91440" marR="91440" marT="36576" marB="36576" anchor="ctr">
                    <a:solidFill>
                      <a:srgbClr val="F2F4F7"/>
                    </a:solidFill>
                  </a:tcPr>
                </a:tc>
                <a:tc>
                  <a:txBody>
                    <a:bodyPr wrap="square"/>
                    <a:lstStyle/>
                    <a:p>
                      <a:r>
                        <a:rPr sz="1500" b="0">
                          <a:solidFill>
                            <a:srgbClr val="1B1F2A"/>
                          </a:solidFill>
                          <a:latin typeface="Arial"/>
                        </a:rPr>
                        <a:t>60+ days</a:t>
                      </a:r>
                    </a:p>
                  </a:txBody>
                  <a:tcPr marL="91440" marR="91440" marT="36576" marB="36576" anchor="ctr">
                    <a:solidFill>
                      <a:srgbClr val="F2F4F7"/>
                    </a:solidFill>
                  </a:tcPr>
                </a:tc>
                <a:tc>
                  <a:txBody>
                    <a:bodyPr wrap="square"/>
                    <a:lstStyle/>
                    <a:p>
                      <a:pPr algn="r"/>
                      <a:r>
                        <a:rPr sz="1500" b="0">
                          <a:solidFill>
                            <a:srgbClr val="1B1F2A"/>
                          </a:solidFill>
                          <a:latin typeface="Arial"/>
                        </a:rPr>
                        <a:t>15.7 h</a:t>
                      </a:r>
                    </a:p>
                  </a:txBody>
                  <a:tcPr marL="91440" marR="91440" marT="36576" marB="36576" anchor="ctr">
                    <a:solidFill>
                      <a:srgbClr val="F2F4F7"/>
                    </a:solidFill>
                  </a:tcPr>
                </a:tc>
                <a:tc>
                  <a:txBody>
                    <a:bodyPr wrap="square"/>
                    <a:lstStyle/>
                    <a:p>
                      <a:r>
                        <a:rPr sz="1500" b="0">
                          <a:solidFill>
                            <a:srgbClr val="1B1F2A"/>
                          </a:solidFill>
                          <a:latin typeface="Arial"/>
                        </a:rPr>
                        <a:t>under 60 days</a:t>
                      </a:r>
                    </a:p>
                  </a:txBody>
                  <a:tcPr marL="91440" marR="91440" marT="36576" marB="36576" anchor="ctr">
                    <a:solidFill>
                      <a:srgbClr val="F2F4F7"/>
                    </a:solidFill>
                  </a:tcPr>
                </a:tc>
                <a:tc>
                  <a:txBody>
                    <a:bodyPr wrap="square"/>
                    <a:lstStyle/>
                    <a:p>
                      <a:pPr algn="r"/>
                      <a:r>
                        <a:rPr sz="1500" b="0">
                          <a:solidFill>
                            <a:srgbClr val="1B1F2A"/>
                          </a:solidFill>
                          <a:latin typeface="Arial"/>
                        </a:rPr>
                        <a:t>8.7 h</a:t>
                      </a:r>
                    </a:p>
                  </a:txBody>
                  <a:tcPr marL="91440" marR="91440" marT="36576" marB="36576" anchor="ctr">
                    <a:solidFill>
                      <a:srgbClr val="F2F4F7"/>
                    </a:solidFill>
                  </a:tcPr>
                </a:tc>
                <a:tc>
                  <a:txBody>
                    <a:bodyPr wrap="square"/>
                    <a:lstStyle/>
                    <a:p>
                      <a:pPr algn="r"/>
                      <a:r>
                        <a:rPr sz="1500" b="0">
                          <a:solidFill>
                            <a:srgbClr val="1B1F2A"/>
                          </a:solidFill>
                          <a:latin typeface="Arial"/>
                        </a:rPr>
                        <a:t>1.8x</a:t>
                      </a:r>
                    </a:p>
                  </a:txBody>
                  <a:tcPr marL="91440" marR="91440" marT="36576" marB="36576" anchor="ctr">
                    <a:solidFill>
                      <a:srgbClr val="F2F4F7"/>
                    </a:solidFill>
                  </a:tcPr>
                </a:tc>
                <a:tc>
                  <a:txBody>
                    <a:bodyPr wrap="square"/>
                    <a:lstStyle/>
                    <a:p>
                      <a:pPr algn="r"/>
                      <a:r>
                        <a:rPr sz="1500" b="0">
                          <a:solidFill>
                            <a:srgbClr val="1B1F2A"/>
                          </a:solidFill>
                          <a:latin typeface="Arial"/>
                        </a:rPr>
                        <a:t>0.056</a:t>
                      </a:r>
                    </a:p>
                  </a:txBody>
                  <a:tcPr marL="91440" marR="91440" marT="36576" marB="36576" anchor="ctr">
                    <a:solidFill>
                      <a:srgbClr val="F2F4F7"/>
                    </a:solidFill>
                  </a:tcPr>
                </a:tc>
              </a:tr>
              <a:tr h="566928">
                <a:tc>
                  <a:txBody>
                    <a:bodyPr wrap="square"/>
                    <a:lstStyle/>
                    <a:p>
                      <a:r>
                        <a:rPr sz="1500" b="0">
                          <a:solidFill>
                            <a:srgbClr val="1B1F2A"/>
                          </a:solidFill>
                          <a:latin typeface="Arial"/>
                        </a:rPr>
                        <a:t>Lubricant quality</a:t>
                      </a:r>
                    </a:p>
                  </a:txBody>
                  <a:tcPr marL="91440" marR="91440" marT="36576" marB="36576" anchor="ctr">
                    <a:solidFill>
                      <a:srgbClr val="FFFFFF"/>
                    </a:solidFill>
                  </a:tcPr>
                </a:tc>
                <a:tc>
                  <a:txBody>
                    <a:bodyPr wrap="square"/>
                    <a:lstStyle/>
                    <a:p>
                      <a:r>
                        <a:rPr sz="1500" b="0">
                          <a:solidFill>
                            <a:srgbClr val="1B1F2A"/>
                          </a:solidFill>
                          <a:latin typeface="Arial"/>
                        </a:rPr>
                        <a:t>LQI under 50</a:t>
                      </a:r>
                    </a:p>
                  </a:txBody>
                  <a:tcPr marL="91440" marR="91440" marT="36576" marB="36576" anchor="ctr">
                    <a:solidFill>
                      <a:srgbClr val="FFFFFF"/>
                    </a:solidFill>
                  </a:tcPr>
                </a:tc>
                <a:tc>
                  <a:txBody>
                    <a:bodyPr wrap="square"/>
                    <a:lstStyle/>
                    <a:p>
                      <a:pPr algn="r"/>
                      <a:r>
                        <a:rPr sz="1500" b="0">
                          <a:solidFill>
                            <a:srgbClr val="1B1F2A"/>
                          </a:solidFill>
                          <a:latin typeface="Arial"/>
                        </a:rPr>
                        <a:t>15.8 h</a:t>
                      </a:r>
                    </a:p>
                  </a:txBody>
                  <a:tcPr marL="91440" marR="91440" marT="36576" marB="36576" anchor="ctr">
                    <a:solidFill>
                      <a:srgbClr val="FFFFFF"/>
                    </a:solidFill>
                  </a:tcPr>
                </a:tc>
                <a:tc>
                  <a:txBody>
                    <a:bodyPr wrap="square"/>
                    <a:lstStyle/>
                    <a:p>
                      <a:r>
                        <a:rPr sz="1500" b="0">
                          <a:solidFill>
                            <a:srgbClr val="1B1F2A"/>
                          </a:solidFill>
                          <a:latin typeface="Arial"/>
                        </a:rPr>
                        <a:t>LQI 50+</a:t>
                      </a:r>
                    </a:p>
                  </a:txBody>
                  <a:tcPr marL="91440" marR="91440" marT="36576" marB="36576" anchor="ctr">
                    <a:solidFill>
                      <a:srgbClr val="FFFFFF"/>
                    </a:solidFill>
                  </a:tcPr>
                </a:tc>
                <a:tc>
                  <a:txBody>
                    <a:bodyPr wrap="square"/>
                    <a:lstStyle/>
                    <a:p>
                      <a:pPr algn="r"/>
                      <a:r>
                        <a:rPr sz="1500" b="0">
                          <a:solidFill>
                            <a:srgbClr val="1B1F2A"/>
                          </a:solidFill>
                          <a:latin typeface="Arial"/>
                        </a:rPr>
                        <a:t>7.9 h</a:t>
                      </a:r>
                    </a:p>
                  </a:txBody>
                  <a:tcPr marL="91440" marR="91440" marT="36576" marB="36576" anchor="ctr">
                    <a:solidFill>
                      <a:srgbClr val="FFFFFF"/>
                    </a:solidFill>
                  </a:tcPr>
                </a:tc>
                <a:tc>
                  <a:txBody>
                    <a:bodyPr wrap="square"/>
                    <a:lstStyle/>
                    <a:p>
                      <a:pPr algn="r"/>
                      <a:r>
                        <a:rPr sz="1500" b="0">
                          <a:solidFill>
                            <a:srgbClr val="1B1F2A"/>
                          </a:solidFill>
                          <a:latin typeface="Arial"/>
                        </a:rPr>
                        <a:t>2.0x</a:t>
                      </a:r>
                    </a:p>
                  </a:txBody>
                  <a:tcPr marL="91440" marR="91440" marT="36576" marB="36576" anchor="ctr">
                    <a:solidFill>
                      <a:srgbClr val="FFFFFF"/>
                    </a:solidFill>
                  </a:tcPr>
                </a:tc>
                <a:tc>
                  <a:txBody>
                    <a:bodyPr wrap="square"/>
                    <a:lstStyle/>
                    <a:p>
                      <a:pPr algn="r"/>
                      <a:r>
                        <a:rPr sz="1500" b="0">
                          <a:solidFill>
                            <a:srgbClr val="1B1F2A"/>
                          </a:solidFill>
                          <a:latin typeface="Arial"/>
                        </a:rPr>
                        <a:t>0.078</a:t>
                      </a:r>
                    </a:p>
                  </a:txBody>
                  <a:tcPr marL="91440" marR="91440" marT="36576" marB="36576" anchor="ctr">
                    <a:solidFill>
                      <a:srgbClr val="FFFFFF"/>
                    </a:solidFill>
                  </a:tcPr>
                </a:tc>
              </a:tr>
              <a:tr h="566928">
                <a:tc>
                  <a:txBody>
                    <a:bodyPr wrap="square"/>
                    <a:lstStyle/>
                    <a:p>
                      <a:r>
                        <a:rPr sz="1500" b="0">
                          <a:solidFill>
                            <a:srgbClr val="1B1F2A"/>
                          </a:solidFill>
                          <a:latin typeface="Arial"/>
                        </a:rPr>
                        <a:t>Maintenance backlog</a:t>
                      </a:r>
                    </a:p>
                  </a:txBody>
                  <a:tcPr marL="91440" marR="91440" marT="36576" marB="36576" anchor="ctr">
                    <a:solidFill>
                      <a:srgbClr val="F2F4F7"/>
                    </a:solidFill>
                  </a:tcPr>
                </a:tc>
                <a:tc>
                  <a:txBody>
                    <a:bodyPr wrap="square"/>
                    <a:lstStyle/>
                    <a:p>
                      <a:r>
                        <a:rPr sz="1500" b="0">
                          <a:solidFill>
                            <a:srgbClr val="1B1F2A"/>
                          </a:solidFill>
                          <a:latin typeface="Arial"/>
                        </a:rPr>
                        <a:t>backlog 14d+</a:t>
                      </a:r>
                    </a:p>
                  </a:txBody>
                  <a:tcPr marL="91440" marR="91440" marT="36576" marB="36576" anchor="ctr">
                    <a:solidFill>
                      <a:srgbClr val="F2F4F7"/>
                    </a:solidFill>
                  </a:tcPr>
                </a:tc>
                <a:tc>
                  <a:txBody>
                    <a:bodyPr wrap="square"/>
                    <a:lstStyle/>
                    <a:p>
                      <a:pPr algn="r"/>
                      <a:r>
                        <a:rPr sz="1500" b="0">
                          <a:solidFill>
                            <a:srgbClr val="1B1F2A"/>
                          </a:solidFill>
                          <a:latin typeface="Arial"/>
                        </a:rPr>
                        <a:t>15.5 h</a:t>
                      </a:r>
                    </a:p>
                  </a:txBody>
                  <a:tcPr marL="91440" marR="91440" marT="36576" marB="36576" anchor="ctr">
                    <a:solidFill>
                      <a:srgbClr val="F2F4F7"/>
                    </a:solidFill>
                  </a:tcPr>
                </a:tc>
                <a:tc>
                  <a:txBody>
                    <a:bodyPr wrap="square"/>
                    <a:lstStyle/>
                    <a:p>
                      <a:r>
                        <a:rPr sz="1500" b="0">
                          <a:solidFill>
                            <a:srgbClr val="1B1F2A"/>
                          </a:solidFill>
                          <a:latin typeface="Arial"/>
                        </a:rPr>
                        <a:t>backlog under 14d</a:t>
                      </a:r>
                    </a:p>
                  </a:txBody>
                  <a:tcPr marL="91440" marR="91440" marT="36576" marB="36576" anchor="ctr">
                    <a:solidFill>
                      <a:srgbClr val="F2F4F7"/>
                    </a:solidFill>
                  </a:tcPr>
                </a:tc>
                <a:tc>
                  <a:txBody>
                    <a:bodyPr wrap="square"/>
                    <a:lstStyle/>
                    <a:p>
                      <a:pPr algn="r"/>
                      <a:r>
                        <a:rPr sz="1500" b="0">
                          <a:solidFill>
                            <a:srgbClr val="1B1F2A"/>
                          </a:solidFill>
                          <a:latin typeface="Arial"/>
                        </a:rPr>
                        <a:t>7.7 h</a:t>
                      </a:r>
                    </a:p>
                  </a:txBody>
                  <a:tcPr marL="91440" marR="91440" marT="36576" marB="36576" anchor="ctr">
                    <a:solidFill>
                      <a:srgbClr val="F2F4F7"/>
                    </a:solidFill>
                  </a:tcPr>
                </a:tc>
                <a:tc>
                  <a:txBody>
                    <a:bodyPr wrap="square"/>
                    <a:lstStyle/>
                    <a:p>
                      <a:pPr algn="r"/>
                      <a:r>
                        <a:rPr sz="1500" b="0">
                          <a:solidFill>
                            <a:srgbClr val="1B1F2A"/>
                          </a:solidFill>
                          <a:latin typeface="Arial"/>
                        </a:rPr>
                        <a:t>2.0x</a:t>
                      </a:r>
                    </a:p>
                  </a:txBody>
                  <a:tcPr marL="91440" marR="91440" marT="36576" marB="36576" anchor="ctr">
                    <a:solidFill>
                      <a:srgbClr val="F2F4F7"/>
                    </a:solidFill>
                  </a:tcPr>
                </a:tc>
                <a:tc>
                  <a:txBody>
                    <a:bodyPr wrap="square"/>
                    <a:lstStyle/>
                    <a:p>
                      <a:pPr algn="r"/>
                      <a:r>
                        <a:rPr sz="1500" b="0">
                          <a:solidFill>
                            <a:srgbClr val="1B1F2A"/>
                          </a:solidFill>
                          <a:latin typeface="Arial"/>
                        </a:rPr>
                        <a:t>0.078</a:t>
                      </a:r>
                    </a:p>
                  </a:txBody>
                  <a:tcPr marL="91440" marR="91440" marT="36576" marB="36576" anchor="ctr">
                    <a:solidFill>
                      <a:srgbClr val="F2F4F7"/>
                    </a:solidFill>
                  </a:tcPr>
                </a:tc>
              </a:tr>
            </a:tbl>
          </a:graphicData>
        </a:graphic>
      </p:graphicFrame>
      <p:sp>
        <p:nvSpPr>
          <p:cNvPr id="7" name="Rounded Rectangle 6"/>
          <p:cNvSpPr/>
          <p:nvPr/>
        </p:nvSpPr>
        <p:spPr>
          <a:xfrm>
            <a:off x="548640" y="4754880"/>
            <a:ext cx="11064240" cy="137160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4983480"/>
            <a:ext cx="10515600" cy="274320"/>
          </a:xfrm>
          <a:prstGeom prst="rect">
            <a:avLst/>
          </a:prstGeom>
          <a:noFill/>
        </p:spPr>
        <p:txBody>
          <a:bodyPr wrap="square" lIns="0" rIns="0" tIns="0" bIns="0" anchor="t">
            <a:spAutoFit/>
          </a:bodyPr>
          <a:lstStyle/>
          <a:p>
            <a:pPr algn="l"/>
            <a:r>
              <a:rPr sz="1200" b="1" i="0">
                <a:solidFill>
                  <a:srgbClr val="E8762C"/>
                </a:solidFill>
                <a:latin typeface="Arial"/>
              </a:rPr>
              <a:t>OPERATING TARGETS</a:t>
            </a:r>
          </a:p>
        </p:txBody>
      </p:sp>
      <p:sp>
        <p:nvSpPr>
          <p:cNvPr id="9" name="TextBox 8"/>
          <p:cNvSpPr txBox="1"/>
          <p:nvPr/>
        </p:nvSpPr>
        <p:spPr>
          <a:xfrm>
            <a:off x="822959" y="5321808"/>
            <a:ext cx="10515600" cy="640080"/>
          </a:xfrm>
          <a:prstGeom prst="rect">
            <a:avLst/>
          </a:prstGeom>
          <a:noFill/>
        </p:spPr>
        <p:txBody>
          <a:bodyPr wrap="square" lIns="0" rIns="0" tIns="0" bIns="0" anchor="t">
            <a:spAutoFit/>
          </a:bodyPr>
          <a:lstStyle/>
          <a:p>
            <a:pPr algn="l">
              <a:lnSpc>
                <a:spcPct val="110000"/>
              </a:lnSpc>
            </a:pPr>
            <a:r>
              <a:rPr sz="1600" b="0" i="0">
                <a:solidFill>
                  <a:srgbClr val="1B1F2A"/>
                </a:solidFill>
                <a:latin typeface="Arial"/>
              </a:rPr>
              <a:t>Targets to manage to: PM compliance at or above 80%, maintenance within 60 days, lubricant quality above 50, backlog under 14 days.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8229600" cy="274320"/>
          </a:xfrm>
          <a:prstGeom prst="rect">
            <a:avLst/>
          </a:prstGeom>
          <a:noFill/>
        </p:spPr>
        <p:txBody>
          <a:bodyPr wrap="square" lIns="0" rIns="0" tIns="0" bIns="0" anchor="t">
            <a:spAutoFit/>
          </a:bodyPr>
          <a:lstStyle/>
          <a:p>
            <a:pPr algn="l"/>
            <a:r>
              <a:rPr sz="1200" b="1" i="0">
                <a:solidFill>
                  <a:srgbClr val="E8762C"/>
                </a:solidFill>
                <a:latin typeface="Arial"/>
              </a:rPr>
              <a:t>MEASURED INPUTS</a:t>
            </a:r>
          </a:p>
        </p:txBody>
      </p:sp>
      <p:sp>
        <p:nvSpPr>
          <p:cNvPr id="3" name="TextBox 2"/>
          <p:cNvSpPr txBox="1"/>
          <p:nvPr/>
        </p:nvSpPr>
        <p:spPr>
          <a:xfrm>
            <a:off x="548640" y="521208"/>
            <a:ext cx="11094415" cy="868680"/>
          </a:xfrm>
          <a:prstGeom prst="rect">
            <a:avLst/>
          </a:prstGeom>
          <a:noFill/>
        </p:spPr>
        <p:txBody>
          <a:bodyPr wrap="square" lIns="0" rIns="0" tIns="0" bIns="0" anchor="t">
            <a:spAutoFit/>
          </a:bodyPr>
          <a:lstStyle/>
          <a:p>
            <a:pPr algn="l"/>
            <a:r>
              <a:rPr sz="3000" b="1" i="0">
                <a:solidFill>
                  <a:srgbClr val="1B1F2A"/>
                </a:solidFill>
                <a:latin typeface="Arial"/>
              </a:rPr>
              <a:t>PM and lubrication cut downtime; backlog raises it</a:t>
            </a:r>
          </a:p>
        </p:txBody>
      </p:sp>
      <p:sp>
        <p:nvSpPr>
          <p:cNvPr id="4" name="TextBox 3"/>
          <p:cNvSpPr txBox="1"/>
          <p:nvPr/>
        </p:nvSpPr>
        <p:spPr>
          <a:xfrm>
            <a:off x="548640" y="6473952"/>
            <a:ext cx="8229600" cy="228600"/>
          </a:xfrm>
          <a:prstGeom prst="rect">
            <a:avLst/>
          </a:prstGeom>
          <a:noFill/>
        </p:spPr>
        <p:txBody>
          <a:bodyPr wrap="square" lIns="0" rIns="0" tIns="0" bIns="0" anchor="t">
            <a:spAutoFit/>
          </a:bodyPr>
          <a:lstStyle/>
          <a:p>
            <a:pPr algn="l"/>
            <a:r>
              <a:rPr sz="1000" b="0" i="0">
                <a:solidFill>
                  <a:srgbClr val="6B707C"/>
                </a:solidFill>
                <a:latin typeface="Arial"/>
              </a:rPr>
              <a:t>Source: Group_9230_Team1_PMARIS_Enterprise_Dataset.csv, 5,000 observation windows</a:t>
            </a:r>
          </a:p>
        </p:txBody>
      </p:sp>
      <p:sp>
        <p:nvSpPr>
          <p:cNvPr id="5" name="TextBox 4"/>
          <p:cNvSpPr txBox="1"/>
          <p:nvPr/>
        </p:nvSpPr>
        <p:spPr>
          <a:xfrm>
            <a:off x="10271455" y="6473952"/>
            <a:ext cx="1371600" cy="228600"/>
          </a:xfrm>
          <a:prstGeom prst="rect">
            <a:avLst/>
          </a:prstGeom>
          <a:noFill/>
        </p:spPr>
        <p:txBody>
          <a:bodyPr wrap="square" lIns="0" rIns="0" tIns="0" bIns="0" anchor="t">
            <a:spAutoFit/>
          </a:bodyPr>
          <a:lstStyle/>
          <a:p>
            <a:pPr algn="r"/>
            <a:r>
              <a:rPr sz="1000" b="0" i="0">
                <a:solidFill>
                  <a:srgbClr val="6B707C"/>
                </a:solidFill>
                <a:latin typeface="Arial"/>
              </a:rPr>
              <a:t>23 / 30</a:t>
            </a:r>
          </a:p>
        </p:txBody>
      </p:sp>
      <p:pic>
        <p:nvPicPr>
          <p:cNvPr id="6" name="Picture 5" descr="drivers.png"/>
          <p:cNvPicPr>
            <a:picLocks noChangeAspect="1"/>
          </p:cNvPicPr>
          <p:nvPr/>
        </p:nvPicPr>
        <p:blipFill>
          <a:blip r:embed="rId3"/>
          <a:stretch>
            <a:fillRect/>
          </a:stretch>
        </p:blipFill>
        <p:spPr>
          <a:xfrm>
            <a:off x="548640" y="2329587"/>
            <a:ext cx="7315200" cy="2930345"/>
          </a:xfrm>
          <a:prstGeom prst="rect">
            <a:avLst/>
          </a:prstGeom>
        </p:spPr>
      </p:pic>
      <p:sp>
        <p:nvSpPr>
          <p:cNvPr id="7" name="Rounded Rectangle 6"/>
          <p:cNvSpPr/>
          <p:nvPr/>
        </p:nvSpPr>
        <p:spPr>
          <a:xfrm>
            <a:off x="8229600" y="1645920"/>
            <a:ext cx="3383280" cy="420624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03920" y="1874519"/>
            <a:ext cx="2834640" cy="274320"/>
          </a:xfrm>
          <a:prstGeom prst="rect">
            <a:avLst/>
          </a:prstGeom>
          <a:noFill/>
        </p:spPr>
        <p:txBody>
          <a:bodyPr wrap="square" lIns="0" rIns="0" tIns="0" bIns="0" anchor="t">
            <a:spAutoFit/>
          </a:bodyPr>
          <a:lstStyle/>
          <a:p>
            <a:pPr algn="l"/>
            <a:r>
              <a:rPr sz="1200" b="1" i="0">
                <a:solidFill>
                  <a:srgbClr val="E8762C"/>
                </a:solidFill>
                <a:latin typeface="Arial"/>
              </a:rPr>
              <a:t>SO WHAT</a:t>
            </a:r>
          </a:p>
        </p:txBody>
      </p:sp>
      <p:sp>
        <p:nvSpPr>
          <p:cNvPr id="9" name="TextBox 8"/>
          <p:cNvSpPr txBox="1"/>
          <p:nvPr/>
        </p:nvSpPr>
        <p:spPr>
          <a:xfrm>
            <a:off x="8503920" y="2212848"/>
            <a:ext cx="2834640" cy="3474720"/>
          </a:xfrm>
          <a:prstGeom prst="rect">
            <a:avLst/>
          </a:prstGeom>
          <a:noFill/>
        </p:spPr>
        <p:txBody>
          <a:bodyPr wrap="square" lIns="0" rIns="0" tIns="0" bIns="0" anchor="t">
            <a:spAutoFit/>
          </a:bodyPr>
          <a:lstStyle/>
          <a:p>
            <a:pPr algn="l">
              <a:lnSpc>
                <a:spcPct val="110000"/>
              </a:lnSpc>
            </a:pPr>
            <a:r>
              <a:rPr sz="1600" b="0" i="0">
                <a:solidFill>
                  <a:srgbClr val="1B1F2A"/>
                </a:solidFill>
                <a:latin typeface="Arial"/>
              </a:rPr>
              <a:t>The strongest measured inputs are the ones maintenance controls: PM compliance, lubrication and backlog. Vibration is the best early-warning signal.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8229600" cy="274320"/>
          </a:xfrm>
          <a:prstGeom prst="rect">
            <a:avLst/>
          </a:prstGeom>
          <a:noFill/>
        </p:spPr>
        <p:txBody>
          <a:bodyPr wrap="square" lIns="0" rIns="0" tIns="0" bIns="0" anchor="t">
            <a:spAutoFit/>
          </a:bodyPr>
          <a:lstStyle/>
          <a:p>
            <a:pPr algn="l"/>
            <a:r>
              <a:rPr sz="1200" b="1" i="0">
                <a:solidFill>
                  <a:srgbClr val="E8762C"/>
                </a:solidFill>
                <a:latin typeface="Arial"/>
              </a:rPr>
              <a:t>WHAT THE LEVERS COULD BE WORTH</a:t>
            </a:r>
          </a:p>
        </p:txBody>
      </p:sp>
      <p:sp>
        <p:nvSpPr>
          <p:cNvPr id="3" name="TextBox 2"/>
          <p:cNvSpPr txBox="1"/>
          <p:nvPr/>
        </p:nvSpPr>
        <p:spPr>
          <a:xfrm>
            <a:off x="548640" y="521208"/>
            <a:ext cx="11094415" cy="868680"/>
          </a:xfrm>
          <a:prstGeom prst="rect">
            <a:avLst/>
          </a:prstGeom>
          <a:noFill/>
        </p:spPr>
        <p:txBody>
          <a:bodyPr wrap="square" lIns="0" rIns="0" tIns="0" bIns="0" anchor="t">
            <a:spAutoFit/>
          </a:bodyPr>
          <a:lstStyle/>
          <a:p>
            <a:pPr algn="l"/>
            <a:r>
              <a:rPr sz="3000" b="1" i="0">
                <a:solidFill>
                  <a:srgbClr val="1B1F2A"/>
                </a:solidFill>
                <a:latin typeface="Arial"/>
              </a:rPr>
              <a:t>Upper bound: up to a quarter of downtime is in play</a:t>
            </a:r>
          </a:p>
        </p:txBody>
      </p:sp>
      <p:sp>
        <p:nvSpPr>
          <p:cNvPr id="4" name="TextBox 3"/>
          <p:cNvSpPr txBox="1"/>
          <p:nvPr/>
        </p:nvSpPr>
        <p:spPr>
          <a:xfrm>
            <a:off x="548640" y="6473952"/>
            <a:ext cx="8229600" cy="228600"/>
          </a:xfrm>
          <a:prstGeom prst="rect">
            <a:avLst/>
          </a:prstGeom>
          <a:noFill/>
        </p:spPr>
        <p:txBody>
          <a:bodyPr wrap="square" lIns="0" rIns="0" tIns="0" bIns="0" anchor="t">
            <a:spAutoFit/>
          </a:bodyPr>
          <a:lstStyle/>
          <a:p>
            <a:pPr algn="l"/>
            <a:r>
              <a:rPr sz="1000" b="0" i="0">
                <a:solidFill>
                  <a:srgbClr val="6B707C"/>
                </a:solidFill>
                <a:latin typeface="Arial"/>
              </a:rPr>
              <a:t>Source: Group_9230_Team1_PMARIS_Enterprise_Dataset.csv, 5,000 observation windows</a:t>
            </a:r>
          </a:p>
        </p:txBody>
      </p:sp>
      <p:sp>
        <p:nvSpPr>
          <p:cNvPr id="5" name="TextBox 4"/>
          <p:cNvSpPr txBox="1"/>
          <p:nvPr/>
        </p:nvSpPr>
        <p:spPr>
          <a:xfrm>
            <a:off x="10271455" y="6473952"/>
            <a:ext cx="1371600" cy="228600"/>
          </a:xfrm>
          <a:prstGeom prst="rect">
            <a:avLst/>
          </a:prstGeom>
          <a:noFill/>
        </p:spPr>
        <p:txBody>
          <a:bodyPr wrap="square" lIns="0" rIns="0" tIns="0" bIns="0" anchor="t">
            <a:spAutoFit/>
          </a:bodyPr>
          <a:lstStyle/>
          <a:p>
            <a:pPr algn="r"/>
            <a:r>
              <a:rPr sz="1000" b="0" i="0">
                <a:solidFill>
                  <a:srgbClr val="6B707C"/>
                </a:solidFill>
                <a:latin typeface="Arial"/>
              </a:rPr>
              <a:t>24 / 30</a:t>
            </a:r>
          </a:p>
        </p:txBody>
      </p:sp>
      <p:sp>
        <p:nvSpPr>
          <p:cNvPr id="6" name="Rounded Rectangle 5"/>
          <p:cNvSpPr/>
          <p:nvPr/>
        </p:nvSpPr>
        <p:spPr>
          <a:xfrm>
            <a:off x="548640" y="1737360"/>
            <a:ext cx="5394960" cy="3017520"/>
          </a:xfrm>
          <a:prstGeom prst="roundRect">
            <a:avLst>
              <a:gd name="adj" fmla="val 6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65960"/>
            <a:ext cx="4572000" cy="365760"/>
          </a:xfrm>
          <a:prstGeom prst="rect">
            <a:avLst/>
          </a:prstGeom>
          <a:noFill/>
        </p:spPr>
        <p:txBody>
          <a:bodyPr wrap="square" lIns="0" rIns="0" tIns="0" bIns="0" anchor="t">
            <a:spAutoFit/>
          </a:bodyPr>
          <a:lstStyle/>
          <a:p>
            <a:pPr algn="l"/>
            <a:r>
              <a:rPr sz="1300" b="1" i="0">
                <a:solidFill>
                  <a:srgbClr val="E8762C"/>
                </a:solidFill>
                <a:latin typeface="Arial"/>
              </a:rPr>
              <a:t>STRATEGY</a:t>
            </a:r>
          </a:p>
        </p:txBody>
      </p:sp>
      <p:sp>
        <p:nvSpPr>
          <p:cNvPr id="8" name="TextBox 7"/>
          <p:cNvSpPr txBox="1"/>
          <p:nvPr/>
        </p:nvSpPr>
        <p:spPr>
          <a:xfrm>
            <a:off x="914400" y="2377440"/>
            <a:ext cx="4572000" cy="914400"/>
          </a:xfrm>
          <a:prstGeom prst="rect">
            <a:avLst/>
          </a:prstGeom>
          <a:noFill/>
        </p:spPr>
        <p:txBody>
          <a:bodyPr wrap="square" lIns="0" rIns="0" tIns="0" bIns="0" anchor="t">
            <a:spAutoFit/>
          </a:bodyPr>
          <a:lstStyle/>
          <a:p>
            <a:pPr algn="l"/>
            <a:r>
              <a:rPr sz="4800" b="1" i="0">
                <a:solidFill>
                  <a:srgbClr val="FFFFFF"/>
                </a:solidFill>
                <a:latin typeface="Arial"/>
              </a:rPr>
              <a:t>8,621 h</a:t>
            </a:r>
          </a:p>
        </p:txBody>
      </p:sp>
      <p:sp>
        <p:nvSpPr>
          <p:cNvPr id="9" name="TextBox 8"/>
          <p:cNvSpPr txBox="1"/>
          <p:nvPr/>
        </p:nvSpPr>
        <p:spPr>
          <a:xfrm>
            <a:off x="914400" y="3429000"/>
            <a:ext cx="4663440" cy="1097280"/>
          </a:xfrm>
          <a:prstGeom prst="rect">
            <a:avLst/>
          </a:prstGeom>
          <a:noFill/>
        </p:spPr>
        <p:txBody>
          <a:bodyPr wrap="square" lIns="0" rIns="0" tIns="0" bIns="0" anchor="t">
            <a:spAutoFit/>
          </a:bodyPr>
          <a:lstStyle/>
          <a:p>
            <a:pPr algn="l">
              <a:lnSpc>
                <a:spcPct val="110000"/>
              </a:lnSpc>
            </a:pPr>
            <a:r>
              <a:rPr sz="1600" b="0" i="0">
                <a:solidFill>
                  <a:srgbClr val="C9D6EA"/>
                </a:solidFill>
                <a:latin typeface="Arial"/>
              </a:rPr>
              <a:t>if reactive windows ran at the preventive average (16% of downtime)</a:t>
            </a:r>
          </a:p>
        </p:txBody>
      </p:sp>
      <p:sp>
        <p:nvSpPr>
          <p:cNvPr id="10" name="Rounded Rectangle 9"/>
          <p:cNvSpPr/>
          <p:nvPr/>
        </p:nvSpPr>
        <p:spPr>
          <a:xfrm>
            <a:off x="6172200" y="1737360"/>
            <a:ext cx="5394960" cy="3017520"/>
          </a:xfrm>
          <a:prstGeom prst="roundRect">
            <a:avLst>
              <a:gd name="adj" fmla="val 6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1965960"/>
            <a:ext cx="4572000" cy="365760"/>
          </a:xfrm>
          <a:prstGeom prst="rect">
            <a:avLst/>
          </a:prstGeom>
          <a:noFill/>
        </p:spPr>
        <p:txBody>
          <a:bodyPr wrap="square" lIns="0" rIns="0" tIns="0" bIns="0" anchor="t">
            <a:spAutoFit/>
          </a:bodyPr>
          <a:lstStyle/>
          <a:p>
            <a:pPr algn="l"/>
            <a:r>
              <a:rPr sz="1300" b="1" i="0">
                <a:solidFill>
                  <a:srgbClr val="E8762C"/>
                </a:solidFill>
                <a:latin typeface="Arial"/>
              </a:rPr>
              <a:t>SPARES</a:t>
            </a:r>
          </a:p>
        </p:txBody>
      </p:sp>
      <p:sp>
        <p:nvSpPr>
          <p:cNvPr id="12" name="TextBox 11"/>
          <p:cNvSpPr txBox="1"/>
          <p:nvPr/>
        </p:nvSpPr>
        <p:spPr>
          <a:xfrm>
            <a:off x="6537960" y="2377440"/>
            <a:ext cx="4572000" cy="914400"/>
          </a:xfrm>
          <a:prstGeom prst="rect">
            <a:avLst/>
          </a:prstGeom>
          <a:noFill/>
        </p:spPr>
        <p:txBody>
          <a:bodyPr wrap="square" lIns="0" rIns="0" tIns="0" bIns="0" anchor="t">
            <a:spAutoFit/>
          </a:bodyPr>
          <a:lstStyle/>
          <a:p>
            <a:pPr algn="l"/>
            <a:r>
              <a:rPr sz="4800" b="1" i="0">
                <a:solidFill>
                  <a:srgbClr val="FFFFFF"/>
                </a:solidFill>
                <a:latin typeface="Arial"/>
              </a:rPr>
              <a:t>5,800 h</a:t>
            </a:r>
          </a:p>
        </p:txBody>
      </p:sp>
      <p:sp>
        <p:nvSpPr>
          <p:cNvPr id="13" name="TextBox 12"/>
          <p:cNvSpPr txBox="1"/>
          <p:nvPr/>
        </p:nvSpPr>
        <p:spPr>
          <a:xfrm>
            <a:off x="6537960" y="3429000"/>
            <a:ext cx="4663440" cy="1097280"/>
          </a:xfrm>
          <a:prstGeom prst="rect">
            <a:avLst/>
          </a:prstGeom>
          <a:noFill/>
        </p:spPr>
        <p:txBody>
          <a:bodyPr wrap="square" lIns="0" rIns="0" tIns="0" bIns="0" anchor="t">
            <a:spAutoFit/>
          </a:bodyPr>
          <a:lstStyle/>
          <a:p>
            <a:pPr algn="l">
              <a:lnSpc>
                <a:spcPct val="110000"/>
              </a:lnSpc>
            </a:pPr>
            <a:r>
              <a:rPr sz="1600" b="0" i="0">
                <a:solidFill>
                  <a:srgbClr val="C9D6EA"/>
                </a:solidFill>
                <a:latin typeface="Arial"/>
              </a:rPr>
              <a:t>if shortage windows ran at the available-stock average (11%)</a:t>
            </a:r>
          </a:p>
        </p:txBody>
      </p:sp>
      <p:sp>
        <p:nvSpPr>
          <p:cNvPr id="14" name="TextBox 13"/>
          <p:cNvSpPr txBox="1"/>
          <p:nvPr/>
        </p:nvSpPr>
        <p:spPr>
          <a:xfrm>
            <a:off x="548640" y="5074920"/>
            <a:ext cx="11064240" cy="822960"/>
          </a:xfrm>
          <a:prstGeom prst="rect">
            <a:avLst/>
          </a:prstGeom>
          <a:noFill/>
        </p:spPr>
        <p:txBody>
          <a:bodyPr wrap="square" lIns="0" rIns="0" tIns="0" bIns="0" anchor="t">
            <a:spAutoFit/>
          </a:bodyPr>
          <a:lstStyle/>
          <a:p>
            <a:pPr algn="l"/>
            <a:r>
              <a:rPr sz="1500" b="1" i="0">
                <a:solidFill>
                  <a:srgbClr val="E8762C"/>
                </a:solidFill>
                <a:latin typeface="Arial"/>
              </a:rPr>
              <a:t>ESTIMATED, NOT MEASURED. </a:t>
            </a:r>
            <a:r>
              <a:rPr sz="1500" b="0" i="0">
                <a:solidFill>
                  <a:srgbClr val="4A4F5C"/>
                </a:solidFill>
                <a:latin typeface="Arial"/>
              </a:rPr>
              <a:t>Treat these as the ceiling a pilot would test, not as a forecast. The two overlap where reactive windows also lack parts.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8229600" cy="274320"/>
          </a:xfrm>
          <a:prstGeom prst="rect">
            <a:avLst/>
          </a:prstGeom>
          <a:noFill/>
        </p:spPr>
        <p:txBody>
          <a:bodyPr wrap="square" lIns="0" rIns="0" tIns="0" bIns="0" anchor="t">
            <a:spAutoFit/>
          </a:bodyPr>
          <a:lstStyle/>
          <a:p>
            <a:pPr algn="l"/>
            <a:r>
              <a:rPr sz="1200" b="1" i="0">
                <a:solidFill>
                  <a:srgbClr val="E8762C"/>
                </a:solidFill>
                <a:latin typeface="Arial"/>
              </a:rPr>
              <a:t>D · THE ESCALATION GAP</a:t>
            </a:r>
          </a:p>
        </p:txBody>
      </p:sp>
      <p:sp>
        <p:nvSpPr>
          <p:cNvPr id="3" name="TextBox 2"/>
          <p:cNvSpPr txBox="1"/>
          <p:nvPr/>
        </p:nvSpPr>
        <p:spPr>
          <a:xfrm>
            <a:off x="548640" y="521208"/>
            <a:ext cx="11094415" cy="868680"/>
          </a:xfrm>
          <a:prstGeom prst="rect">
            <a:avLst/>
          </a:prstGeom>
          <a:noFill/>
        </p:spPr>
        <p:txBody>
          <a:bodyPr wrap="square" lIns="0" rIns="0" tIns="0" bIns="0" anchor="t">
            <a:spAutoFit/>
          </a:bodyPr>
          <a:lstStyle/>
          <a:p>
            <a:pPr algn="l"/>
            <a:r>
              <a:rPr sz="3000" b="1" i="0">
                <a:solidFill>
                  <a:srgbClr val="1B1F2A"/>
                </a:solidFill>
                <a:latin typeface="Arial"/>
              </a:rPr>
              <a:t>The escalation flag misses 829 of 960 high-risk windows</a:t>
            </a:r>
          </a:p>
        </p:txBody>
      </p:sp>
      <p:sp>
        <p:nvSpPr>
          <p:cNvPr id="4" name="TextBox 3"/>
          <p:cNvSpPr txBox="1"/>
          <p:nvPr/>
        </p:nvSpPr>
        <p:spPr>
          <a:xfrm>
            <a:off x="548640" y="6473952"/>
            <a:ext cx="8229600" cy="228600"/>
          </a:xfrm>
          <a:prstGeom prst="rect">
            <a:avLst/>
          </a:prstGeom>
          <a:noFill/>
        </p:spPr>
        <p:txBody>
          <a:bodyPr wrap="square" lIns="0" rIns="0" tIns="0" bIns="0" anchor="t">
            <a:spAutoFit/>
          </a:bodyPr>
          <a:lstStyle/>
          <a:p>
            <a:pPr algn="l"/>
            <a:r>
              <a:rPr sz="1000" b="0" i="0">
                <a:solidFill>
                  <a:srgbClr val="6B707C"/>
                </a:solidFill>
                <a:latin typeface="Arial"/>
              </a:rPr>
              <a:t>Source: Group_9230_Team1_PMARIS_Enterprise_Dataset.csv, 5,000 observation windows</a:t>
            </a:r>
          </a:p>
        </p:txBody>
      </p:sp>
      <p:sp>
        <p:nvSpPr>
          <p:cNvPr id="5" name="TextBox 4"/>
          <p:cNvSpPr txBox="1"/>
          <p:nvPr/>
        </p:nvSpPr>
        <p:spPr>
          <a:xfrm>
            <a:off x="10271455" y="6473952"/>
            <a:ext cx="1371600" cy="228600"/>
          </a:xfrm>
          <a:prstGeom prst="rect">
            <a:avLst/>
          </a:prstGeom>
          <a:noFill/>
        </p:spPr>
        <p:txBody>
          <a:bodyPr wrap="square" lIns="0" rIns="0" tIns="0" bIns="0" anchor="t">
            <a:spAutoFit/>
          </a:bodyPr>
          <a:lstStyle/>
          <a:p>
            <a:pPr algn="r"/>
            <a:r>
              <a:rPr sz="1000" b="0" i="0">
                <a:solidFill>
                  <a:srgbClr val="6B707C"/>
                </a:solidFill>
                <a:latin typeface="Arial"/>
              </a:rPr>
              <a:t>25 / 30</a:t>
            </a:r>
          </a:p>
        </p:txBody>
      </p:sp>
      <p:sp>
        <p:nvSpPr>
          <p:cNvPr id="6" name="TextBox 5"/>
          <p:cNvSpPr txBox="1"/>
          <p:nvPr/>
        </p:nvSpPr>
        <p:spPr>
          <a:xfrm>
            <a:off x="548640" y="1554480"/>
            <a:ext cx="6766560" cy="365760"/>
          </a:xfrm>
          <a:prstGeom prst="rect">
            <a:avLst/>
          </a:prstGeom>
          <a:noFill/>
        </p:spPr>
        <p:txBody>
          <a:bodyPr wrap="square" lIns="0" rIns="0" tIns="0" bIns="0" anchor="t">
            <a:spAutoFit/>
          </a:bodyPr>
          <a:lstStyle/>
          <a:p>
            <a:pPr algn="l"/>
            <a:r>
              <a:rPr sz="1600" b="1" i="0">
                <a:solidFill>
                  <a:srgbClr val="1B1F2A"/>
                </a:solidFill>
                <a:latin typeface="Arial"/>
              </a:rPr>
              <a:t>Flag received by the 500 largest-loss windows</a:t>
            </a:r>
          </a:p>
        </p:txBody>
      </p:sp>
      <p:graphicFrame>
        <p:nvGraphicFramePr>
          <p:cNvPr id="7" name="Chart 6"/>
          <p:cNvGraphicFramePr>
            <a:graphicFrameLocks noGrp="1"/>
          </p:cNvGraphicFramePr>
          <p:nvPr/>
        </p:nvGraphicFramePr>
        <p:xfrm>
          <a:off x="548640" y="1920240"/>
          <a:ext cx="6766560" cy="4023360"/>
        </p:xfrm>
        <a:graphic>
          <a:graphicData uri="http://schemas.openxmlformats.org/drawingml/2006/chart">
            <c:chart xmlns:c="http://schemas.openxmlformats.org/drawingml/2006/chart" r:id="rId3"/>
          </a:graphicData>
        </a:graphic>
      </p:graphicFrame>
      <p:sp>
        <p:nvSpPr>
          <p:cNvPr id="8" name="Rounded Rectangle 7"/>
          <p:cNvSpPr/>
          <p:nvPr/>
        </p:nvSpPr>
        <p:spPr>
          <a:xfrm>
            <a:off x="7680960" y="1645920"/>
            <a:ext cx="3931920" cy="2011680"/>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09560" y="1847088"/>
            <a:ext cx="3474720" cy="685800"/>
          </a:xfrm>
          <a:prstGeom prst="rect">
            <a:avLst/>
          </a:prstGeom>
          <a:noFill/>
        </p:spPr>
        <p:txBody>
          <a:bodyPr wrap="square" lIns="0" rIns="0" tIns="0" bIns="0" anchor="t">
            <a:spAutoFit/>
          </a:bodyPr>
          <a:lstStyle/>
          <a:p>
            <a:pPr algn="l"/>
            <a:r>
              <a:rPr sz="4400" b="1" i="0">
                <a:solidFill>
                  <a:srgbClr val="E8762C"/>
                </a:solidFill>
                <a:latin typeface="Arial"/>
              </a:rPr>
              <a:t>829</a:t>
            </a:r>
          </a:p>
        </p:txBody>
      </p:sp>
      <p:sp>
        <p:nvSpPr>
          <p:cNvPr id="10" name="TextBox 9"/>
          <p:cNvSpPr txBox="1"/>
          <p:nvPr/>
        </p:nvSpPr>
        <p:spPr>
          <a:xfrm>
            <a:off x="7909560" y="2545588"/>
            <a:ext cx="3474720" cy="855980"/>
          </a:xfrm>
          <a:prstGeom prst="rect">
            <a:avLst/>
          </a:prstGeom>
          <a:noFill/>
        </p:spPr>
        <p:txBody>
          <a:bodyPr wrap="square" lIns="0" rIns="0" tIns="0" bIns="0" anchor="t">
            <a:spAutoFit/>
          </a:bodyPr>
          <a:lstStyle/>
          <a:p>
            <a:pPr algn="l"/>
            <a:r>
              <a:rPr sz="1400" b="0" i="0">
                <a:solidFill>
                  <a:srgbClr val="FFFFFF"/>
                </a:solidFill>
                <a:latin typeface="Arial"/>
              </a:rPr>
              <a:t>high-risk windows flagged only P3 or P4</a:t>
            </a:r>
          </a:p>
        </p:txBody>
      </p:sp>
      <p:sp>
        <p:nvSpPr>
          <p:cNvPr id="11" name="Rounded Rectangle 10"/>
          <p:cNvSpPr/>
          <p:nvPr/>
        </p:nvSpPr>
        <p:spPr>
          <a:xfrm>
            <a:off x="7680960" y="3886200"/>
            <a:ext cx="3931920" cy="201168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09560" y="4087368"/>
            <a:ext cx="3474720" cy="685800"/>
          </a:xfrm>
          <a:prstGeom prst="rect">
            <a:avLst/>
          </a:prstGeom>
          <a:noFill/>
        </p:spPr>
        <p:txBody>
          <a:bodyPr wrap="square" lIns="0" rIns="0" tIns="0" bIns="0" anchor="t">
            <a:spAutoFit/>
          </a:bodyPr>
          <a:lstStyle/>
          <a:p>
            <a:pPr algn="l"/>
            <a:r>
              <a:rPr sz="3600" b="1" i="0">
                <a:solidFill>
                  <a:srgbClr val="1B1F2A"/>
                </a:solidFill>
                <a:latin typeface="Arial"/>
              </a:rPr>
              <a:t>EGP 723M</a:t>
            </a:r>
          </a:p>
        </p:txBody>
      </p:sp>
      <p:sp>
        <p:nvSpPr>
          <p:cNvPr id="13" name="TextBox 12"/>
          <p:cNvSpPr txBox="1"/>
          <p:nvPr/>
        </p:nvSpPr>
        <p:spPr>
          <a:xfrm>
            <a:off x="7909560" y="4658868"/>
            <a:ext cx="3474720" cy="982980"/>
          </a:xfrm>
          <a:prstGeom prst="rect">
            <a:avLst/>
          </a:prstGeom>
          <a:noFill/>
        </p:spPr>
        <p:txBody>
          <a:bodyPr wrap="square" lIns="0" rIns="0" tIns="0" bIns="0" anchor="t">
            <a:spAutoFit/>
          </a:bodyPr>
          <a:lstStyle/>
          <a:p>
            <a:pPr algn="l"/>
            <a:r>
              <a:rPr sz="1400" b="0" i="0">
                <a:solidFill>
                  <a:srgbClr val="4A4F5C"/>
                </a:solidFill>
                <a:latin typeface="Arial"/>
              </a:rPr>
              <a:t>financial exposure sitting in that gap</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8229600" cy="274320"/>
          </a:xfrm>
          <a:prstGeom prst="rect">
            <a:avLst/>
          </a:prstGeom>
          <a:noFill/>
        </p:spPr>
        <p:txBody>
          <a:bodyPr wrap="square" lIns="0" rIns="0" tIns="0" bIns="0" anchor="t">
            <a:spAutoFit/>
          </a:bodyPr>
          <a:lstStyle/>
          <a:p>
            <a:pPr algn="l"/>
            <a:r>
              <a:rPr sz="1200" b="1" i="0">
                <a:solidFill>
                  <a:srgbClr val="E8762C"/>
                </a:solidFill>
                <a:latin typeface="Arial"/>
              </a:rPr>
              <a:t>D · THE PROPOSED RULE</a:t>
            </a:r>
          </a:p>
        </p:txBody>
      </p:sp>
      <p:sp>
        <p:nvSpPr>
          <p:cNvPr id="3" name="TextBox 2"/>
          <p:cNvSpPr txBox="1"/>
          <p:nvPr/>
        </p:nvSpPr>
        <p:spPr>
          <a:xfrm>
            <a:off x="548640" y="521208"/>
            <a:ext cx="11094415" cy="868680"/>
          </a:xfrm>
          <a:prstGeom prst="rect">
            <a:avLst/>
          </a:prstGeom>
          <a:noFill/>
        </p:spPr>
        <p:txBody>
          <a:bodyPr wrap="square" lIns="0" rIns="0" tIns="0" bIns="0" anchor="t">
            <a:spAutoFit/>
          </a:bodyPr>
          <a:lstStyle/>
          <a:p>
            <a:pPr algn="l"/>
            <a:r>
              <a:rPr sz="3000" b="1" i="0">
                <a:solidFill>
                  <a:srgbClr val="1B1F2A"/>
                </a:solidFill>
                <a:latin typeface="Arial"/>
              </a:rPr>
              <a:t>Add a second trigger: FP ≥ 50% on High or Critical assets</a:t>
            </a:r>
          </a:p>
        </p:txBody>
      </p:sp>
      <p:sp>
        <p:nvSpPr>
          <p:cNvPr id="4" name="TextBox 3"/>
          <p:cNvSpPr txBox="1"/>
          <p:nvPr/>
        </p:nvSpPr>
        <p:spPr>
          <a:xfrm>
            <a:off x="548640" y="6473952"/>
            <a:ext cx="8229600" cy="228600"/>
          </a:xfrm>
          <a:prstGeom prst="rect">
            <a:avLst/>
          </a:prstGeom>
          <a:noFill/>
        </p:spPr>
        <p:txBody>
          <a:bodyPr wrap="square" lIns="0" rIns="0" tIns="0" bIns="0" anchor="t">
            <a:spAutoFit/>
          </a:bodyPr>
          <a:lstStyle/>
          <a:p>
            <a:pPr algn="l"/>
            <a:r>
              <a:rPr sz="1000" b="0" i="0">
                <a:solidFill>
                  <a:srgbClr val="6B707C"/>
                </a:solidFill>
                <a:latin typeface="Arial"/>
              </a:rPr>
              <a:t>Source: Group_9230_Team1_PMARIS_Enterprise_Dataset.csv, 5,000 observation windows</a:t>
            </a:r>
          </a:p>
        </p:txBody>
      </p:sp>
      <p:sp>
        <p:nvSpPr>
          <p:cNvPr id="5" name="TextBox 4"/>
          <p:cNvSpPr txBox="1"/>
          <p:nvPr/>
        </p:nvSpPr>
        <p:spPr>
          <a:xfrm>
            <a:off x="10271455" y="6473952"/>
            <a:ext cx="1371600" cy="228600"/>
          </a:xfrm>
          <a:prstGeom prst="rect">
            <a:avLst/>
          </a:prstGeom>
          <a:noFill/>
        </p:spPr>
        <p:txBody>
          <a:bodyPr wrap="square" lIns="0" rIns="0" tIns="0" bIns="0" anchor="t">
            <a:spAutoFit/>
          </a:bodyPr>
          <a:lstStyle/>
          <a:p>
            <a:pPr algn="r"/>
            <a:r>
              <a:rPr sz="1000" b="0" i="0">
                <a:solidFill>
                  <a:srgbClr val="6B707C"/>
                </a:solidFill>
                <a:latin typeface="Arial"/>
              </a:rPr>
              <a:t>26 / 30</a:t>
            </a:r>
          </a:p>
        </p:txBody>
      </p:sp>
      <p:pic>
        <p:nvPicPr>
          <p:cNvPr id="6" name="Picture 5" descr="gap_by_site.png"/>
          <p:cNvPicPr>
            <a:picLocks noChangeAspect="1"/>
          </p:cNvPicPr>
          <p:nvPr/>
        </p:nvPicPr>
        <p:blipFill>
          <a:blip r:embed="rId3"/>
          <a:stretch>
            <a:fillRect/>
          </a:stretch>
        </p:blipFill>
        <p:spPr>
          <a:xfrm>
            <a:off x="548640" y="2561383"/>
            <a:ext cx="6583680" cy="2466753"/>
          </a:xfrm>
          <a:prstGeom prst="rect">
            <a:avLst/>
          </a:prstGeom>
        </p:spPr>
      </p:pic>
      <p:sp>
        <p:nvSpPr>
          <p:cNvPr id="7" name="Rounded Rectangle 6"/>
          <p:cNvSpPr/>
          <p:nvPr/>
        </p:nvSpPr>
        <p:spPr>
          <a:xfrm>
            <a:off x="7498079" y="1554480"/>
            <a:ext cx="4114800" cy="132588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26679" y="1755648"/>
            <a:ext cx="3657600" cy="685800"/>
          </a:xfrm>
          <a:prstGeom prst="rect">
            <a:avLst/>
          </a:prstGeom>
          <a:noFill/>
        </p:spPr>
        <p:txBody>
          <a:bodyPr wrap="square" lIns="0" rIns="0" tIns="0" bIns="0" anchor="t">
            <a:spAutoFit/>
          </a:bodyPr>
          <a:lstStyle/>
          <a:p>
            <a:pPr algn="l"/>
            <a:r>
              <a:rPr sz="2800" b="1" i="0">
                <a:solidFill>
                  <a:srgbClr val="1B1F2A"/>
                </a:solidFill>
                <a:latin typeface="Arial"/>
              </a:rPr>
              <a:t>+433</a:t>
            </a:r>
          </a:p>
        </p:txBody>
      </p:sp>
      <p:sp>
        <p:nvSpPr>
          <p:cNvPr id="9" name="TextBox 8"/>
          <p:cNvSpPr txBox="1"/>
          <p:nvPr/>
        </p:nvSpPr>
        <p:spPr>
          <a:xfrm>
            <a:off x="7726679" y="2200148"/>
            <a:ext cx="3657600" cy="424179"/>
          </a:xfrm>
          <a:prstGeom prst="rect">
            <a:avLst/>
          </a:prstGeom>
          <a:noFill/>
        </p:spPr>
        <p:txBody>
          <a:bodyPr wrap="square" lIns="0" rIns="0" tIns="0" bIns="0" anchor="t">
            <a:spAutoFit/>
          </a:bodyPr>
          <a:lstStyle/>
          <a:p>
            <a:pPr algn="l"/>
            <a:r>
              <a:rPr sz="1400" b="0" i="0">
                <a:solidFill>
                  <a:srgbClr val="4A4F5C"/>
                </a:solidFill>
                <a:latin typeface="Arial"/>
              </a:rPr>
              <a:t>windows escalated by the rule</a:t>
            </a:r>
          </a:p>
        </p:txBody>
      </p:sp>
      <p:sp>
        <p:nvSpPr>
          <p:cNvPr id="10" name="Rounded Rectangle 9"/>
          <p:cNvSpPr/>
          <p:nvPr/>
        </p:nvSpPr>
        <p:spPr>
          <a:xfrm>
            <a:off x="7498079" y="3063240"/>
            <a:ext cx="4114800" cy="132588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26679" y="3264408"/>
            <a:ext cx="3657600" cy="685800"/>
          </a:xfrm>
          <a:prstGeom prst="rect">
            <a:avLst/>
          </a:prstGeom>
          <a:noFill/>
        </p:spPr>
        <p:txBody>
          <a:bodyPr wrap="square" lIns="0" rIns="0" tIns="0" bIns="0" anchor="t">
            <a:spAutoFit/>
          </a:bodyPr>
          <a:lstStyle/>
          <a:p>
            <a:pPr algn="l"/>
            <a:r>
              <a:rPr sz="2800" b="1" i="0">
                <a:solidFill>
                  <a:srgbClr val="1B1F2A"/>
                </a:solidFill>
                <a:latin typeface="Arial"/>
              </a:rPr>
              <a:t>EGP 434M</a:t>
            </a:r>
          </a:p>
        </p:txBody>
      </p:sp>
      <p:sp>
        <p:nvSpPr>
          <p:cNvPr id="12" name="TextBox 11"/>
          <p:cNvSpPr txBox="1"/>
          <p:nvPr/>
        </p:nvSpPr>
        <p:spPr>
          <a:xfrm>
            <a:off x="7726679" y="3708908"/>
            <a:ext cx="3657600" cy="424179"/>
          </a:xfrm>
          <a:prstGeom prst="rect">
            <a:avLst/>
          </a:prstGeom>
          <a:noFill/>
        </p:spPr>
        <p:txBody>
          <a:bodyPr wrap="square" lIns="0" rIns="0" tIns="0" bIns="0" anchor="t">
            <a:spAutoFit/>
          </a:bodyPr>
          <a:lstStyle/>
          <a:p>
            <a:pPr algn="l"/>
            <a:r>
              <a:rPr sz="1400" b="0" i="0">
                <a:solidFill>
                  <a:srgbClr val="4A4F5C"/>
                </a:solidFill>
                <a:latin typeface="Arial"/>
              </a:rPr>
              <a:t>exposure covered (60% of the gap)</a:t>
            </a:r>
          </a:p>
        </p:txBody>
      </p:sp>
      <p:sp>
        <p:nvSpPr>
          <p:cNvPr id="13" name="Rounded Rectangle 12"/>
          <p:cNvSpPr/>
          <p:nvPr/>
        </p:nvSpPr>
        <p:spPr>
          <a:xfrm>
            <a:off x="7498079" y="4572000"/>
            <a:ext cx="4114800" cy="132588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26679" y="4773168"/>
            <a:ext cx="3657600" cy="685800"/>
          </a:xfrm>
          <a:prstGeom prst="rect">
            <a:avLst/>
          </a:prstGeom>
          <a:noFill/>
        </p:spPr>
        <p:txBody>
          <a:bodyPr wrap="square" lIns="0" rIns="0" tIns="0" bIns="0" anchor="t">
            <a:spAutoFit/>
          </a:bodyPr>
          <a:lstStyle/>
          <a:p>
            <a:pPr algn="l"/>
            <a:r>
              <a:rPr sz="2800" b="1" i="0">
                <a:solidFill>
                  <a:srgbClr val="1B1F2A"/>
                </a:solidFill>
                <a:latin typeface="Arial"/>
              </a:rPr>
              <a:t>134 → 567</a:t>
            </a:r>
          </a:p>
        </p:txBody>
      </p:sp>
      <p:sp>
        <p:nvSpPr>
          <p:cNvPr id="15" name="TextBox 14"/>
          <p:cNvSpPr txBox="1"/>
          <p:nvPr/>
        </p:nvSpPr>
        <p:spPr>
          <a:xfrm>
            <a:off x="7726679" y="5217667"/>
            <a:ext cx="3657600" cy="424179"/>
          </a:xfrm>
          <a:prstGeom prst="rect">
            <a:avLst/>
          </a:prstGeom>
          <a:noFill/>
        </p:spPr>
        <p:txBody>
          <a:bodyPr wrap="square" lIns="0" rIns="0" tIns="0" bIns="0" anchor="t">
            <a:spAutoFit/>
          </a:bodyPr>
          <a:lstStyle/>
          <a:p>
            <a:pPr algn="l"/>
            <a:r>
              <a:rPr sz="1400" b="0" i="0">
                <a:solidFill>
                  <a:srgbClr val="4A4F5C"/>
                </a:solidFill>
                <a:latin typeface="Arial"/>
              </a:rPr>
              <a:t>escalated windows: check capacity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8229600" cy="274320"/>
          </a:xfrm>
          <a:prstGeom prst="rect">
            <a:avLst/>
          </a:prstGeom>
          <a:noFill/>
        </p:spPr>
        <p:txBody>
          <a:bodyPr wrap="square" lIns="0" rIns="0" tIns="0" bIns="0" anchor="t">
            <a:spAutoFit/>
          </a:bodyPr>
          <a:lstStyle/>
          <a:p>
            <a:pPr algn="l"/>
            <a:r>
              <a:rPr sz="1200" b="1" i="0">
                <a:solidFill>
                  <a:srgbClr val="E8762C"/>
                </a:solidFill>
                <a:latin typeface="Arial"/>
              </a:rPr>
              <a:t>CONTEXT</a:t>
            </a:r>
          </a:p>
        </p:txBody>
      </p:sp>
      <p:sp>
        <p:nvSpPr>
          <p:cNvPr id="3" name="TextBox 2"/>
          <p:cNvSpPr txBox="1"/>
          <p:nvPr/>
        </p:nvSpPr>
        <p:spPr>
          <a:xfrm>
            <a:off x="548640" y="521208"/>
            <a:ext cx="11094415" cy="868680"/>
          </a:xfrm>
          <a:prstGeom prst="rect">
            <a:avLst/>
          </a:prstGeom>
          <a:noFill/>
        </p:spPr>
        <p:txBody>
          <a:bodyPr wrap="square" lIns="0" rIns="0" tIns="0" bIns="0" anchor="t">
            <a:spAutoFit/>
          </a:bodyPr>
          <a:lstStyle/>
          <a:p>
            <a:pPr algn="l"/>
            <a:r>
              <a:rPr sz="3000" b="1" i="0">
                <a:solidFill>
                  <a:srgbClr val="1B1F2A"/>
                </a:solidFill>
                <a:latin typeface="Arial"/>
              </a:rPr>
              <a:t>What does not matter, and should not get budget on its own</a:t>
            </a:r>
          </a:p>
        </p:txBody>
      </p:sp>
      <p:sp>
        <p:nvSpPr>
          <p:cNvPr id="4" name="TextBox 3"/>
          <p:cNvSpPr txBox="1"/>
          <p:nvPr/>
        </p:nvSpPr>
        <p:spPr>
          <a:xfrm>
            <a:off x="548640" y="6473952"/>
            <a:ext cx="8229600" cy="228600"/>
          </a:xfrm>
          <a:prstGeom prst="rect">
            <a:avLst/>
          </a:prstGeom>
          <a:noFill/>
        </p:spPr>
        <p:txBody>
          <a:bodyPr wrap="square" lIns="0" rIns="0" tIns="0" bIns="0" anchor="t">
            <a:spAutoFit/>
          </a:bodyPr>
          <a:lstStyle/>
          <a:p>
            <a:pPr algn="l"/>
            <a:r>
              <a:rPr sz="1000" b="0" i="0">
                <a:solidFill>
                  <a:srgbClr val="6B707C"/>
                </a:solidFill>
                <a:latin typeface="Arial"/>
              </a:rPr>
              <a:t>Source: Group_9230_Team1_PMARIS_Enterprise_Dataset.csv, 5,000 observation windows</a:t>
            </a:r>
          </a:p>
        </p:txBody>
      </p:sp>
      <p:sp>
        <p:nvSpPr>
          <p:cNvPr id="5" name="TextBox 4"/>
          <p:cNvSpPr txBox="1"/>
          <p:nvPr/>
        </p:nvSpPr>
        <p:spPr>
          <a:xfrm>
            <a:off x="10271455" y="6473952"/>
            <a:ext cx="1371600" cy="228600"/>
          </a:xfrm>
          <a:prstGeom prst="rect">
            <a:avLst/>
          </a:prstGeom>
          <a:noFill/>
        </p:spPr>
        <p:txBody>
          <a:bodyPr wrap="square" lIns="0" rIns="0" tIns="0" bIns="0" anchor="t">
            <a:spAutoFit/>
          </a:bodyPr>
          <a:lstStyle/>
          <a:p>
            <a:pPr algn="r"/>
            <a:r>
              <a:rPr sz="1000" b="0" i="0">
                <a:solidFill>
                  <a:srgbClr val="6B707C"/>
                </a:solidFill>
                <a:latin typeface="Arial"/>
              </a:rPr>
              <a:t>27 / 30</a:t>
            </a:r>
          </a:p>
        </p:txBody>
      </p:sp>
      <p:sp>
        <p:nvSpPr>
          <p:cNvPr id="6" name="Rounded Rectangle 5"/>
          <p:cNvSpPr/>
          <p:nvPr/>
        </p:nvSpPr>
        <p:spPr>
          <a:xfrm>
            <a:off x="548640" y="1645920"/>
            <a:ext cx="2606040" cy="438912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74520"/>
            <a:ext cx="2194560" cy="731520"/>
          </a:xfrm>
          <a:prstGeom prst="rect">
            <a:avLst/>
          </a:prstGeom>
          <a:noFill/>
        </p:spPr>
        <p:txBody>
          <a:bodyPr wrap="square" lIns="0" rIns="0" tIns="0" bIns="0" anchor="t">
            <a:spAutoFit/>
          </a:bodyPr>
          <a:lstStyle/>
          <a:p>
            <a:pPr algn="l"/>
            <a:r>
              <a:rPr sz="1900" b="1" i="0">
                <a:solidFill>
                  <a:srgbClr val="1B1F2A"/>
                </a:solidFill>
                <a:latin typeface="Arial"/>
              </a:rPr>
              <a:t>Site</a:t>
            </a:r>
          </a:p>
        </p:txBody>
      </p:sp>
      <p:sp>
        <p:nvSpPr>
          <p:cNvPr id="8" name="TextBox 7"/>
          <p:cNvSpPr txBox="1"/>
          <p:nvPr/>
        </p:nvSpPr>
        <p:spPr>
          <a:xfrm>
            <a:off x="777240" y="2697480"/>
            <a:ext cx="2194560" cy="2103120"/>
          </a:xfrm>
          <a:prstGeom prst="rect">
            <a:avLst/>
          </a:prstGeom>
          <a:noFill/>
        </p:spPr>
        <p:txBody>
          <a:bodyPr wrap="square" lIns="0" rIns="0" tIns="0" bIns="0" anchor="t">
            <a:spAutoFit/>
          </a:bodyPr>
          <a:lstStyle/>
          <a:p>
            <a:pPr algn="l">
              <a:lnSpc>
                <a:spcPct val="110000"/>
              </a:lnSpc>
            </a:pPr>
            <a:r>
              <a:rPr sz="1400" b="0" i="0">
                <a:solidFill>
                  <a:srgbClr val="4A4F5C"/>
                </a:solidFill>
                <a:latin typeface="Arial"/>
              </a:rPr>
              <a:t>Real but small: explains 1.3% of loss variance. Heavy-industry sites lose about 1.5x per window, largely through the same levers.</a:t>
            </a:r>
          </a:p>
        </p:txBody>
      </p:sp>
      <p:sp>
        <p:nvSpPr>
          <p:cNvPr id="9" name="TextBox 8"/>
          <p:cNvSpPr txBox="1"/>
          <p:nvPr/>
        </p:nvSpPr>
        <p:spPr>
          <a:xfrm>
            <a:off x="777240" y="4983480"/>
            <a:ext cx="2194560" cy="914400"/>
          </a:xfrm>
          <a:prstGeom prst="rect">
            <a:avLst/>
          </a:prstGeom>
          <a:noFill/>
        </p:spPr>
        <p:txBody>
          <a:bodyPr wrap="square" lIns="0" rIns="0" tIns="0" bIns="0" anchor="t">
            <a:spAutoFit/>
          </a:bodyPr>
          <a:lstStyle/>
          <a:p>
            <a:pPr algn="l">
              <a:lnSpc>
                <a:spcPct val="105000"/>
              </a:lnSpc>
            </a:pPr>
            <a:r>
              <a:rPr sz="1400" b="1" i="0">
                <a:solidFill>
                  <a:srgbClr val="E8762C"/>
                </a:solidFill>
                <a:latin typeface="Arial"/>
              </a:rPr>
              <a:t>Do not run a site-vs-site campaign</a:t>
            </a:r>
          </a:p>
        </p:txBody>
      </p:sp>
      <p:sp>
        <p:nvSpPr>
          <p:cNvPr id="10" name="Rounded Rectangle 9"/>
          <p:cNvSpPr/>
          <p:nvPr/>
        </p:nvSpPr>
        <p:spPr>
          <a:xfrm>
            <a:off x="3355848" y="1645920"/>
            <a:ext cx="2606040" cy="438912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84448" y="1874520"/>
            <a:ext cx="2194560" cy="731520"/>
          </a:xfrm>
          <a:prstGeom prst="rect">
            <a:avLst/>
          </a:prstGeom>
          <a:noFill/>
        </p:spPr>
        <p:txBody>
          <a:bodyPr wrap="square" lIns="0" rIns="0" tIns="0" bIns="0" anchor="t">
            <a:spAutoFit/>
          </a:bodyPr>
          <a:lstStyle/>
          <a:p>
            <a:pPr algn="l"/>
            <a:r>
              <a:rPr sz="1900" b="1" i="0">
                <a:solidFill>
                  <a:srgbClr val="1B1F2A"/>
                </a:solidFill>
                <a:latin typeface="Arial"/>
              </a:rPr>
              <a:t>Manufacturer (OEM)</a:t>
            </a:r>
          </a:p>
        </p:txBody>
      </p:sp>
      <p:sp>
        <p:nvSpPr>
          <p:cNvPr id="12" name="TextBox 11"/>
          <p:cNvSpPr txBox="1"/>
          <p:nvPr/>
        </p:nvSpPr>
        <p:spPr>
          <a:xfrm>
            <a:off x="3584448" y="2697480"/>
            <a:ext cx="2194560" cy="2103120"/>
          </a:xfrm>
          <a:prstGeom prst="rect">
            <a:avLst/>
          </a:prstGeom>
          <a:noFill/>
        </p:spPr>
        <p:txBody>
          <a:bodyPr wrap="square" lIns="0" rIns="0" tIns="0" bIns="0" anchor="t">
            <a:spAutoFit/>
          </a:bodyPr>
          <a:lstStyle/>
          <a:p>
            <a:pPr algn="l">
              <a:lnSpc>
                <a:spcPct val="110000"/>
              </a:lnSpc>
            </a:pPr>
            <a:r>
              <a:rPr sz="1400" b="0" i="0">
                <a:solidFill>
                  <a:srgbClr val="4A4F5C"/>
                </a:solidFill>
                <a:latin typeface="Arial"/>
              </a:rPr>
              <a:t>No difference on downtime, loss or failure probability (p ≥ 0.57).</a:t>
            </a:r>
          </a:p>
        </p:txBody>
      </p:sp>
      <p:sp>
        <p:nvSpPr>
          <p:cNvPr id="13" name="TextBox 12"/>
          <p:cNvSpPr txBox="1"/>
          <p:nvPr/>
        </p:nvSpPr>
        <p:spPr>
          <a:xfrm>
            <a:off x="3584448" y="4983480"/>
            <a:ext cx="2194560" cy="914400"/>
          </a:xfrm>
          <a:prstGeom prst="rect">
            <a:avLst/>
          </a:prstGeom>
          <a:noFill/>
        </p:spPr>
        <p:txBody>
          <a:bodyPr wrap="square" lIns="0" rIns="0" tIns="0" bIns="0" anchor="t">
            <a:spAutoFit/>
          </a:bodyPr>
          <a:lstStyle/>
          <a:p>
            <a:pPr algn="l">
              <a:lnSpc>
                <a:spcPct val="105000"/>
              </a:lnSpc>
            </a:pPr>
            <a:r>
              <a:rPr sz="1400" b="1" i="0">
                <a:solidFill>
                  <a:srgbClr val="E8762C"/>
                </a:solidFill>
                <a:latin typeface="Arial"/>
              </a:rPr>
              <a:t>No OEM switch on this evidence</a:t>
            </a:r>
          </a:p>
        </p:txBody>
      </p:sp>
      <p:sp>
        <p:nvSpPr>
          <p:cNvPr id="14" name="Rounded Rectangle 13"/>
          <p:cNvSpPr/>
          <p:nvPr/>
        </p:nvSpPr>
        <p:spPr>
          <a:xfrm>
            <a:off x="6163055" y="1645920"/>
            <a:ext cx="2606040" cy="438912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91655" y="1874520"/>
            <a:ext cx="2194560" cy="731520"/>
          </a:xfrm>
          <a:prstGeom prst="rect">
            <a:avLst/>
          </a:prstGeom>
          <a:noFill/>
        </p:spPr>
        <p:txBody>
          <a:bodyPr wrap="square" lIns="0" rIns="0" tIns="0" bIns="0" anchor="t">
            <a:spAutoFit/>
          </a:bodyPr>
          <a:lstStyle/>
          <a:p>
            <a:pPr algn="l"/>
            <a:r>
              <a:rPr sz="1900" b="1" i="0">
                <a:solidFill>
                  <a:srgbClr val="1B1F2A"/>
                </a:solidFill>
                <a:latin typeface="Arial"/>
              </a:rPr>
              <a:t>Operating shift</a:t>
            </a:r>
          </a:p>
        </p:txBody>
      </p:sp>
      <p:sp>
        <p:nvSpPr>
          <p:cNvPr id="16" name="TextBox 15"/>
          <p:cNvSpPr txBox="1"/>
          <p:nvPr/>
        </p:nvSpPr>
        <p:spPr>
          <a:xfrm>
            <a:off x="6391655" y="2697480"/>
            <a:ext cx="2194560" cy="2103120"/>
          </a:xfrm>
          <a:prstGeom prst="rect">
            <a:avLst/>
          </a:prstGeom>
          <a:noFill/>
        </p:spPr>
        <p:txBody>
          <a:bodyPr wrap="square" lIns="0" rIns="0" tIns="0" bIns="0" anchor="t">
            <a:spAutoFit/>
          </a:bodyPr>
          <a:lstStyle/>
          <a:p>
            <a:pPr algn="l">
              <a:lnSpc>
                <a:spcPct val="110000"/>
              </a:lnSpc>
            </a:pPr>
            <a:r>
              <a:rPr sz="1400" b="0" i="0">
                <a:solidFill>
                  <a:srgbClr val="4A4F5C"/>
                </a:solidFill>
                <a:latin typeface="Arial"/>
              </a:rPr>
              <a:t>No difference on any measure (downtime p = 0.49).</a:t>
            </a:r>
          </a:p>
        </p:txBody>
      </p:sp>
      <p:sp>
        <p:nvSpPr>
          <p:cNvPr id="17" name="TextBox 16"/>
          <p:cNvSpPr txBox="1"/>
          <p:nvPr/>
        </p:nvSpPr>
        <p:spPr>
          <a:xfrm>
            <a:off x="6391655" y="4983480"/>
            <a:ext cx="2194560" cy="914400"/>
          </a:xfrm>
          <a:prstGeom prst="rect">
            <a:avLst/>
          </a:prstGeom>
          <a:noFill/>
        </p:spPr>
        <p:txBody>
          <a:bodyPr wrap="square" lIns="0" rIns="0" tIns="0" bIns="0" anchor="t">
            <a:spAutoFit/>
          </a:bodyPr>
          <a:lstStyle/>
          <a:p>
            <a:pPr algn="l">
              <a:lnSpc>
                <a:spcPct val="105000"/>
              </a:lnSpc>
            </a:pPr>
            <a:r>
              <a:rPr sz="1400" b="1" i="0">
                <a:solidFill>
                  <a:srgbClr val="E8762C"/>
                </a:solidFill>
                <a:latin typeface="Arial"/>
              </a:rPr>
              <a:t>No shift restructuring</a:t>
            </a:r>
          </a:p>
        </p:txBody>
      </p:sp>
      <p:sp>
        <p:nvSpPr>
          <p:cNvPr id="18" name="Rounded Rectangle 17"/>
          <p:cNvSpPr/>
          <p:nvPr/>
        </p:nvSpPr>
        <p:spPr>
          <a:xfrm>
            <a:off x="8970263" y="1645920"/>
            <a:ext cx="2606040" cy="438912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98863" y="1874520"/>
            <a:ext cx="2194560" cy="731520"/>
          </a:xfrm>
          <a:prstGeom prst="rect">
            <a:avLst/>
          </a:prstGeom>
          <a:noFill/>
        </p:spPr>
        <p:txBody>
          <a:bodyPr wrap="square" lIns="0" rIns="0" tIns="0" bIns="0" anchor="t">
            <a:spAutoFit/>
          </a:bodyPr>
          <a:lstStyle/>
          <a:p>
            <a:pPr algn="l"/>
            <a:r>
              <a:rPr sz="1900" b="1" i="0">
                <a:solidFill>
                  <a:srgbClr val="1B1F2A"/>
                </a:solidFill>
                <a:latin typeface="Arial"/>
              </a:rPr>
              <a:t>Calendar month</a:t>
            </a:r>
          </a:p>
        </p:txBody>
      </p:sp>
      <p:sp>
        <p:nvSpPr>
          <p:cNvPr id="20" name="TextBox 19"/>
          <p:cNvSpPr txBox="1"/>
          <p:nvPr/>
        </p:nvSpPr>
        <p:spPr>
          <a:xfrm>
            <a:off x="9198863" y="2697480"/>
            <a:ext cx="2194560" cy="2103120"/>
          </a:xfrm>
          <a:prstGeom prst="rect">
            <a:avLst/>
          </a:prstGeom>
          <a:noFill/>
        </p:spPr>
        <p:txBody>
          <a:bodyPr wrap="square" lIns="0" rIns="0" tIns="0" bIns="0" anchor="t">
            <a:spAutoFit/>
          </a:bodyPr>
          <a:lstStyle/>
          <a:p>
            <a:pPr algn="l">
              <a:lnSpc>
                <a:spcPct val="110000"/>
              </a:lnSpc>
            </a:pPr>
            <a:r>
              <a:rPr sz="1400" b="0" i="0">
                <a:solidFill>
                  <a:srgbClr val="4A4F5C"/>
                </a:solidFill>
                <a:latin typeface="Arial"/>
              </a:rPr>
              <a:t>Flat year, no momentum between months.</a:t>
            </a:r>
          </a:p>
        </p:txBody>
      </p:sp>
      <p:sp>
        <p:nvSpPr>
          <p:cNvPr id="21" name="TextBox 20"/>
          <p:cNvSpPr txBox="1"/>
          <p:nvPr/>
        </p:nvSpPr>
        <p:spPr>
          <a:xfrm>
            <a:off x="9198863" y="4983480"/>
            <a:ext cx="2194560" cy="914400"/>
          </a:xfrm>
          <a:prstGeom prst="rect">
            <a:avLst/>
          </a:prstGeom>
          <a:noFill/>
        </p:spPr>
        <p:txBody>
          <a:bodyPr wrap="square" lIns="0" rIns="0" tIns="0" bIns="0" anchor="t">
            <a:spAutoFit/>
          </a:bodyPr>
          <a:lstStyle/>
          <a:p>
            <a:pPr algn="l">
              <a:lnSpc>
                <a:spcPct val="105000"/>
              </a:lnSpc>
            </a:pPr>
            <a:r>
              <a:rPr sz="1400" b="1" i="0">
                <a:solidFill>
                  <a:srgbClr val="E8762C"/>
                </a:solidFill>
                <a:latin typeface="Arial"/>
              </a:rPr>
              <a:t>Plan by condition, not calendar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8229600" cy="274320"/>
          </a:xfrm>
          <a:prstGeom prst="rect">
            <a:avLst/>
          </a:prstGeom>
          <a:noFill/>
        </p:spPr>
        <p:txBody>
          <a:bodyPr wrap="square" lIns="0" rIns="0" tIns="0" bIns="0" anchor="t">
            <a:spAutoFit/>
          </a:bodyPr>
          <a:lstStyle/>
          <a:p>
            <a:pPr algn="l"/>
            <a:r>
              <a:rPr sz="1200" b="1" i="0">
                <a:solidFill>
                  <a:srgbClr val="E8762C"/>
                </a:solidFill>
                <a:latin typeface="Arial"/>
              </a:rPr>
              <a:t>THE BUILD</a:t>
            </a:r>
          </a:p>
        </p:txBody>
      </p:sp>
      <p:sp>
        <p:nvSpPr>
          <p:cNvPr id="3" name="TextBox 2"/>
          <p:cNvSpPr txBox="1"/>
          <p:nvPr/>
        </p:nvSpPr>
        <p:spPr>
          <a:xfrm>
            <a:off x="548640" y="521208"/>
            <a:ext cx="11094415" cy="868680"/>
          </a:xfrm>
          <a:prstGeom prst="rect">
            <a:avLst/>
          </a:prstGeom>
          <a:noFill/>
        </p:spPr>
        <p:txBody>
          <a:bodyPr wrap="square" lIns="0" rIns="0" tIns="0" bIns="0" anchor="t">
            <a:spAutoFit/>
          </a:bodyPr>
          <a:lstStyle/>
          <a:p>
            <a:pPr algn="l"/>
            <a:r>
              <a:rPr sz="3000" b="1" i="0">
                <a:solidFill>
                  <a:srgbClr val="1B1F2A"/>
                </a:solidFill>
                <a:latin typeface="Arial"/>
              </a:rPr>
              <a:t>A live, six-page dashboard keeps these numbers current</a:t>
            </a:r>
          </a:p>
        </p:txBody>
      </p:sp>
      <p:sp>
        <p:nvSpPr>
          <p:cNvPr id="4" name="TextBox 3"/>
          <p:cNvSpPr txBox="1"/>
          <p:nvPr/>
        </p:nvSpPr>
        <p:spPr>
          <a:xfrm>
            <a:off x="548640" y="6473952"/>
            <a:ext cx="8229600" cy="228600"/>
          </a:xfrm>
          <a:prstGeom prst="rect">
            <a:avLst/>
          </a:prstGeom>
          <a:noFill/>
        </p:spPr>
        <p:txBody>
          <a:bodyPr wrap="square" lIns="0" rIns="0" tIns="0" bIns="0" anchor="t">
            <a:spAutoFit/>
          </a:bodyPr>
          <a:lstStyle/>
          <a:p>
            <a:pPr algn="l"/>
            <a:r>
              <a:rPr sz="1000" b="0" i="0">
                <a:solidFill>
                  <a:srgbClr val="6B707C"/>
                </a:solidFill>
                <a:latin typeface="Arial"/>
              </a:rPr>
              <a:t>Source: Group_9230_Team1_PMARIS_Enterprise_Dataset.csv, 5,000 observation windows</a:t>
            </a:r>
          </a:p>
        </p:txBody>
      </p:sp>
      <p:sp>
        <p:nvSpPr>
          <p:cNvPr id="5" name="TextBox 4"/>
          <p:cNvSpPr txBox="1"/>
          <p:nvPr/>
        </p:nvSpPr>
        <p:spPr>
          <a:xfrm>
            <a:off x="10271455" y="6473952"/>
            <a:ext cx="1371600" cy="228600"/>
          </a:xfrm>
          <a:prstGeom prst="rect">
            <a:avLst/>
          </a:prstGeom>
          <a:noFill/>
        </p:spPr>
        <p:txBody>
          <a:bodyPr wrap="square" lIns="0" rIns="0" tIns="0" bIns="0" anchor="t">
            <a:spAutoFit/>
          </a:bodyPr>
          <a:lstStyle/>
          <a:p>
            <a:pPr algn="r"/>
            <a:r>
              <a:rPr sz="1000" b="0" i="0">
                <a:solidFill>
                  <a:srgbClr val="6B707C"/>
                </a:solidFill>
                <a:latin typeface="Arial"/>
              </a:rPr>
              <a:t>28 / 30</a:t>
            </a:r>
          </a:p>
        </p:txBody>
      </p:sp>
      <p:pic>
        <p:nvPicPr>
          <p:cNvPr id="6" name="Picture 5" descr="dash_index.png"/>
          <p:cNvPicPr>
            <a:picLocks noChangeAspect="1"/>
          </p:cNvPicPr>
          <p:nvPr/>
        </p:nvPicPr>
        <p:blipFill>
          <a:blip r:embed="rId3"/>
          <a:stretch>
            <a:fillRect/>
          </a:stretch>
        </p:blipFill>
        <p:spPr>
          <a:xfrm>
            <a:off x="548640" y="1663065"/>
            <a:ext cx="7498079" cy="4217670"/>
          </a:xfrm>
          <a:prstGeom prst="rect">
            <a:avLst/>
          </a:prstGeom>
          <a:ln>
            <a:solidFill>
              <a:srgbClr val="E1E0D9"/>
            </a:solidFill>
          </a:ln>
        </p:spPr>
      </p:pic>
      <p:sp>
        <p:nvSpPr>
          <p:cNvPr id="7" name="Rounded Rectangle 6"/>
          <p:cNvSpPr/>
          <p:nvPr/>
        </p:nvSpPr>
        <p:spPr>
          <a:xfrm>
            <a:off x="8412480" y="1508760"/>
            <a:ext cx="3200400" cy="137160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41080" y="1709928"/>
            <a:ext cx="2743200" cy="685800"/>
          </a:xfrm>
          <a:prstGeom prst="rect">
            <a:avLst/>
          </a:prstGeom>
          <a:noFill/>
        </p:spPr>
        <p:txBody>
          <a:bodyPr wrap="square" lIns="0" rIns="0" tIns="0" bIns="0" anchor="t">
            <a:spAutoFit/>
          </a:bodyPr>
          <a:lstStyle/>
          <a:p>
            <a:pPr algn="l"/>
            <a:r>
              <a:rPr sz="2800" b="1" i="0">
                <a:solidFill>
                  <a:srgbClr val="1B1F2A"/>
                </a:solidFill>
                <a:latin typeface="Arial"/>
              </a:rPr>
              <a:t>376 ms</a:t>
            </a:r>
          </a:p>
        </p:txBody>
      </p:sp>
      <p:sp>
        <p:nvSpPr>
          <p:cNvPr id="9" name="TextBox 8"/>
          <p:cNvSpPr txBox="1"/>
          <p:nvPr/>
        </p:nvSpPr>
        <p:spPr>
          <a:xfrm>
            <a:off x="8641080" y="2154428"/>
            <a:ext cx="2743200" cy="469899"/>
          </a:xfrm>
          <a:prstGeom prst="rect">
            <a:avLst/>
          </a:prstGeom>
          <a:noFill/>
        </p:spPr>
        <p:txBody>
          <a:bodyPr wrap="square" lIns="0" rIns="0" tIns="0" bIns="0" anchor="t">
            <a:spAutoFit/>
          </a:bodyPr>
          <a:lstStyle/>
          <a:p>
            <a:pPr algn="l"/>
            <a:r>
              <a:rPr sz="1400" b="0" i="0">
                <a:solidFill>
                  <a:srgbClr val="4A4F5C"/>
                </a:solidFill>
                <a:latin typeface="Arial"/>
              </a:rPr>
              <a:t>mean save-to-screen refresh</a:t>
            </a:r>
          </a:p>
        </p:txBody>
      </p:sp>
      <p:sp>
        <p:nvSpPr>
          <p:cNvPr id="10" name="Rounded Rectangle 9"/>
          <p:cNvSpPr/>
          <p:nvPr/>
        </p:nvSpPr>
        <p:spPr>
          <a:xfrm>
            <a:off x="8412480" y="3063240"/>
            <a:ext cx="3200400" cy="137160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41080" y="3264408"/>
            <a:ext cx="2743200" cy="685800"/>
          </a:xfrm>
          <a:prstGeom prst="rect">
            <a:avLst/>
          </a:prstGeom>
          <a:noFill/>
        </p:spPr>
        <p:txBody>
          <a:bodyPr wrap="square" lIns="0" rIns="0" tIns="0" bIns="0" anchor="t">
            <a:spAutoFit/>
          </a:bodyPr>
          <a:lstStyle/>
          <a:p>
            <a:pPr algn="l"/>
            <a:r>
              <a:rPr sz="2800" b="1" i="0">
                <a:solidFill>
                  <a:srgbClr val="1B1F2A"/>
                </a:solidFill>
                <a:latin typeface="Arial"/>
              </a:rPr>
              <a:t>6</a:t>
            </a:r>
          </a:p>
        </p:txBody>
      </p:sp>
      <p:sp>
        <p:nvSpPr>
          <p:cNvPr id="12" name="TextBox 11"/>
          <p:cNvSpPr txBox="1"/>
          <p:nvPr/>
        </p:nvSpPr>
        <p:spPr>
          <a:xfrm>
            <a:off x="8641080" y="3708908"/>
            <a:ext cx="2743200" cy="469899"/>
          </a:xfrm>
          <a:prstGeom prst="rect">
            <a:avLst/>
          </a:prstGeom>
          <a:noFill/>
        </p:spPr>
        <p:txBody>
          <a:bodyPr wrap="square" lIns="0" rIns="0" tIns="0" bIns="0" anchor="t">
            <a:spAutoFit/>
          </a:bodyPr>
          <a:lstStyle/>
          <a:p>
            <a:pPr algn="l"/>
            <a:r>
              <a:rPr sz="1400" b="0" i="0">
                <a:solidFill>
                  <a:srgbClr val="4A4F5C"/>
                </a:solidFill>
                <a:latin typeface="Arial"/>
              </a:rPr>
              <a:t>linked pages, light + dark</a:t>
            </a:r>
          </a:p>
        </p:txBody>
      </p:sp>
      <p:sp>
        <p:nvSpPr>
          <p:cNvPr id="13" name="Rounded Rectangle 12"/>
          <p:cNvSpPr/>
          <p:nvPr/>
        </p:nvSpPr>
        <p:spPr>
          <a:xfrm>
            <a:off x="8412480" y="4617720"/>
            <a:ext cx="3200400" cy="137160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4818888"/>
            <a:ext cx="2743200" cy="685800"/>
          </a:xfrm>
          <a:prstGeom prst="rect">
            <a:avLst/>
          </a:prstGeom>
          <a:noFill/>
        </p:spPr>
        <p:txBody>
          <a:bodyPr wrap="square" lIns="0" rIns="0" tIns="0" bIns="0" anchor="t">
            <a:spAutoFit/>
          </a:bodyPr>
          <a:lstStyle/>
          <a:p>
            <a:pPr algn="l"/>
            <a:r>
              <a:rPr sz="2800" b="1" i="0">
                <a:solidFill>
                  <a:srgbClr val="1B1F2A"/>
                </a:solidFill>
                <a:latin typeface="Arial"/>
              </a:rPr>
              <a:t>0</a:t>
            </a:r>
          </a:p>
        </p:txBody>
      </p:sp>
      <p:sp>
        <p:nvSpPr>
          <p:cNvPr id="15" name="TextBox 14"/>
          <p:cNvSpPr txBox="1"/>
          <p:nvPr/>
        </p:nvSpPr>
        <p:spPr>
          <a:xfrm>
            <a:off x="8641080" y="5263387"/>
            <a:ext cx="2743200" cy="469899"/>
          </a:xfrm>
          <a:prstGeom prst="rect">
            <a:avLst/>
          </a:prstGeom>
          <a:noFill/>
        </p:spPr>
        <p:txBody>
          <a:bodyPr wrap="square" lIns="0" rIns="0" tIns="0" bIns="0" anchor="t">
            <a:spAutoFit/>
          </a:bodyPr>
          <a:lstStyle/>
          <a:p>
            <a:pPr algn="l"/>
            <a:r>
              <a:rPr sz="1400" b="0" i="0">
                <a:solidFill>
                  <a:srgbClr val="4A4F5C"/>
                </a:solidFill>
                <a:latin typeface="Arial"/>
              </a:rPr>
              <a:t>console errors on any page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8229600" cy="274320"/>
          </a:xfrm>
          <a:prstGeom prst="rect">
            <a:avLst/>
          </a:prstGeom>
          <a:noFill/>
        </p:spPr>
        <p:txBody>
          <a:bodyPr wrap="square" lIns="0" rIns="0" tIns="0" bIns="0" anchor="t">
            <a:spAutoFit/>
          </a:bodyPr>
          <a:lstStyle/>
          <a:p>
            <a:pPr algn="l"/>
            <a:r>
              <a:rPr sz="1200" b="1" i="0">
                <a:solidFill>
                  <a:srgbClr val="E8762C"/>
                </a:solidFill>
                <a:latin typeface="Arial"/>
              </a:rPr>
              <a:t>WHAT TO DO</a:t>
            </a:r>
          </a:p>
        </p:txBody>
      </p:sp>
      <p:sp>
        <p:nvSpPr>
          <p:cNvPr id="3" name="TextBox 2"/>
          <p:cNvSpPr txBox="1"/>
          <p:nvPr/>
        </p:nvSpPr>
        <p:spPr>
          <a:xfrm>
            <a:off x="548640" y="521208"/>
            <a:ext cx="11094415" cy="868680"/>
          </a:xfrm>
          <a:prstGeom prst="rect">
            <a:avLst/>
          </a:prstGeom>
          <a:noFill/>
        </p:spPr>
        <p:txBody>
          <a:bodyPr wrap="square" lIns="0" rIns="0" tIns="0" bIns="0" anchor="t">
            <a:spAutoFit/>
          </a:bodyPr>
          <a:lstStyle/>
          <a:p>
            <a:pPr algn="l"/>
            <a:r>
              <a:rPr sz="3000" b="1" i="0">
                <a:solidFill>
                  <a:srgbClr val="1B1F2A"/>
                </a:solidFill>
                <a:latin typeface="Arial"/>
              </a:rPr>
              <a:t>Seven recommendations</a:t>
            </a:r>
          </a:p>
        </p:txBody>
      </p:sp>
      <p:sp>
        <p:nvSpPr>
          <p:cNvPr id="4" name="TextBox 3"/>
          <p:cNvSpPr txBox="1"/>
          <p:nvPr/>
        </p:nvSpPr>
        <p:spPr>
          <a:xfrm>
            <a:off x="548640" y="6473952"/>
            <a:ext cx="8229600" cy="228600"/>
          </a:xfrm>
          <a:prstGeom prst="rect">
            <a:avLst/>
          </a:prstGeom>
          <a:noFill/>
        </p:spPr>
        <p:txBody>
          <a:bodyPr wrap="square" lIns="0" rIns="0" tIns="0" bIns="0" anchor="t">
            <a:spAutoFit/>
          </a:bodyPr>
          <a:lstStyle/>
          <a:p>
            <a:pPr algn="l"/>
            <a:r>
              <a:rPr sz="1000" b="0" i="0">
                <a:solidFill>
                  <a:srgbClr val="6B707C"/>
                </a:solidFill>
                <a:latin typeface="Arial"/>
              </a:rPr>
              <a:t>Source: Group_9230_Team1_PMARIS_Enterprise_Dataset.csv, 5,000 observation windows</a:t>
            </a:r>
          </a:p>
        </p:txBody>
      </p:sp>
      <p:sp>
        <p:nvSpPr>
          <p:cNvPr id="5" name="TextBox 4"/>
          <p:cNvSpPr txBox="1"/>
          <p:nvPr/>
        </p:nvSpPr>
        <p:spPr>
          <a:xfrm>
            <a:off x="10271455" y="6473952"/>
            <a:ext cx="1371600" cy="228600"/>
          </a:xfrm>
          <a:prstGeom prst="rect">
            <a:avLst/>
          </a:prstGeom>
          <a:noFill/>
        </p:spPr>
        <p:txBody>
          <a:bodyPr wrap="square" lIns="0" rIns="0" tIns="0" bIns="0" anchor="t">
            <a:spAutoFit/>
          </a:bodyPr>
          <a:lstStyle/>
          <a:p>
            <a:pPr algn="r"/>
            <a:r>
              <a:rPr sz="1000" b="0" i="0">
                <a:solidFill>
                  <a:srgbClr val="6B707C"/>
                </a:solidFill>
                <a:latin typeface="Arial"/>
              </a:rPr>
              <a:t>29 / 30</a:t>
            </a:r>
          </a:p>
        </p:txBody>
      </p:sp>
      <p:sp>
        <p:nvSpPr>
          <p:cNvPr id="6" name="Oval 5"/>
          <p:cNvSpPr/>
          <p:nvPr/>
        </p:nvSpPr>
        <p:spPr>
          <a:xfrm>
            <a:off x="548640" y="1645920"/>
            <a:ext cx="548640" cy="548640"/>
          </a:xfrm>
          <a:prstGeom prst="ellipse">
            <a:avLst/>
          </a:prstGeom>
          <a:solidFill>
            <a:srgbClr val="E87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Arial"/>
              </a:rPr>
              <a:t>1</a:t>
            </a:r>
          </a:p>
        </p:txBody>
      </p:sp>
      <p:sp>
        <p:nvSpPr>
          <p:cNvPr id="7" name="TextBox 6"/>
          <p:cNvSpPr txBox="1"/>
          <p:nvPr/>
        </p:nvSpPr>
        <p:spPr>
          <a:xfrm>
            <a:off x="1280160" y="1572768"/>
            <a:ext cx="4754880" cy="457200"/>
          </a:xfrm>
          <a:prstGeom prst="rect">
            <a:avLst/>
          </a:prstGeom>
          <a:noFill/>
        </p:spPr>
        <p:txBody>
          <a:bodyPr wrap="square" lIns="0" rIns="0" tIns="0" bIns="0" anchor="t">
            <a:spAutoFit/>
          </a:bodyPr>
          <a:lstStyle/>
          <a:p>
            <a:pPr algn="l"/>
            <a:r>
              <a:rPr sz="1700" b="1" i="0">
                <a:solidFill>
                  <a:srgbClr val="1B1F2A"/>
                </a:solidFill>
                <a:latin typeface="Arial"/>
              </a:rPr>
              <a:t>Leave reactive maintenance</a:t>
            </a:r>
          </a:p>
        </p:txBody>
      </p:sp>
      <p:sp>
        <p:nvSpPr>
          <p:cNvPr id="8" name="TextBox 7"/>
          <p:cNvSpPr txBox="1"/>
          <p:nvPr/>
        </p:nvSpPr>
        <p:spPr>
          <a:xfrm>
            <a:off x="1280160" y="2029968"/>
            <a:ext cx="4754880" cy="365760"/>
          </a:xfrm>
          <a:prstGeom prst="rect">
            <a:avLst/>
          </a:prstGeom>
          <a:noFill/>
        </p:spPr>
        <p:txBody>
          <a:bodyPr wrap="square" lIns="0" rIns="0" tIns="0" bIns="0" anchor="t">
            <a:spAutoFit/>
          </a:bodyPr>
          <a:lstStyle/>
          <a:p>
            <a:pPr algn="l"/>
            <a:r>
              <a:rPr sz="1400" b="0" i="0">
                <a:solidFill>
                  <a:srgbClr val="4A4F5C"/>
                </a:solidFill>
                <a:latin typeface="Arial"/>
              </a:rPr>
              <a:t>critical and high-criticality assets first</a:t>
            </a:r>
          </a:p>
        </p:txBody>
      </p:sp>
      <p:sp>
        <p:nvSpPr>
          <p:cNvPr id="9" name="Oval 8"/>
          <p:cNvSpPr/>
          <p:nvPr/>
        </p:nvSpPr>
        <p:spPr>
          <a:xfrm>
            <a:off x="6172200" y="1645920"/>
            <a:ext cx="548640" cy="548640"/>
          </a:xfrm>
          <a:prstGeom prst="ellipse">
            <a:avLst/>
          </a:prstGeom>
          <a:solidFill>
            <a:srgbClr val="E87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Arial"/>
              </a:rPr>
              <a:t>2</a:t>
            </a:r>
          </a:p>
        </p:txBody>
      </p:sp>
      <p:sp>
        <p:nvSpPr>
          <p:cNvPr id="10" name="TextBox 9"/>
          <p:cNvSpPr txBox="1"/>
          <p:nvPr/>
        </p:nvSpPr>
        <p:spPr>
          <a:xfrm>
            <a:off x="6903720" y="1572768"/>
            <a:ext cx="4754880" cy="457200"/>
          </a:xfrm>
          <a:prstGeom prst="rect">
            <a:avLst/>
          </a:prstGeom>
          <a:noFill/>
        </p:spPr>
        <p:txBody>
          <a:bodyPr wrap="square" lIns="0" rIns="0" tIns="0" bIns="0" anchor="t">
            <a:spAutoFit/>
          </a:bodyPr>
          <a:lstStyle/>
          <a:p>
            <a:pPr algn="l"/>
            <a:r>
              <a:rPr sz="1700" b="1" i="0">
                <a:solidFill>
                  <a:srgbClr val="1B1F2A"/>
                </a:solidFill>
                <a:latin typeface="Arial"/>
              </a:rPr>
              <a:t>Fund spare-parts availability</a:t>
            </a:r>
          </a:p>
        </p:txBody>
      </p:sp>
      <p:sp>
        <p:nvSpPr>
          <p:cNvPr id="11" name="TextBox 10"/>
          <p:cNvSpPr txBox="1"/>
          <p:nvPr/>
        </p:nvSpPr>
        <p:spPr>
          <a:xfrm>
            <a:off x="6903720" y="2029968"/>
            <a:ext cx="4754880" cy="365760"/>
          </a:xfrm>
          <a:prstGeom prst="rect">
            <a:avLst/>
          </a:prstGeom>
          <a:noFill/>
        </p:spPr>
        <p:txBody>
          <a:bodyPr wrap="square" lIns="0" rIns="0" tIns="0" bIns="0" anchor="t">
            <a:spAutoFit/>
          </a:bodyPr>
          <a:lstStyle/>
          <a:p>
            <a:pPr algn="l"/>
            <a:r>
              <a:rPr sz="1400" b="0" i="0">
                <a:solidFill>
                  <a:srgbClr val="4A4F5C"/>
                </a:solidFill>
                <a:latin typeface="Arial"/>
              </a:rPr>
              <a:t>for the classes that hit shortage</a:t>
            </a:r>
          </a:p>
        </p:txBody>
      </p:sp>
      <p:sp>
        <p:nvSpPr>
          <p:cNvPr id="12" name="Oval 11"/>
          <p:cNvSpPr/>
          <p:nvPr/>
        </p:nvSpPr>
        <p:spPr>
          <a:xfrm>
            <a:off x="548640" y="2788920"/>
            <a:ext cx="548640" cy="548640"/>
          </a:xfrm>
          <a:prstGeom prst="ellipse">
            <a:avLst/>
          </a:prstGeom>
          <a:solidFill>
            <a:srgbClr val="E87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Arial"/>
              </a:rPr>
              <a:t>3</a:t>
            </a:r>
          </a:p>
        </p:txBody>
      </p:sp>
      <p:sp>
        <p:nvSpPr>
          <p:cNvPr id="13" name="TextBox 12"/>
          <p:cNvSpPr txBox="1"/>
          <p:nvPr/>
        </p:nvSpPr>
        <p:spPr>
          <a:xfrm>
            <a:off x="1280160" y="2715768"/>
            <a:ext cx="4754880" cy="457200"/>
          </a:xfrm>
          <a:prstGeom prst="rect">
            <a:avLst/>
          </a:prstGeom>
          <a:noFill/>
        </p:spPr>
        <p:txBody>
          <a:bodyPr wrap="square" lIns="0" rIns="0" tIns="0" bIns="0" anchor="t">
            <a:spAutoFit/>
          </a:bodyPr>
          <a:lstStyle/>
          <a:p>
            <a:pPr algn="l"/>
            <a:r>
              <a:rPr sz="1700" b="1" i="0">
                <a:solidFill>
                  <a:srgbClr val="1B1F2A"/>
                </a:solidFill>
                <a:latin typeface="Arial"/>
              </a:rPr>
              <a:t>PM at 80%+, backlog under 14 days</a:t>
            </a:r>
          </a:p>
        </p:txBody>
      </p:sp>
      <p:sp>
        <p:nvSpPr>
          <p:cNvPr id="14" name="TextBox 13"/>
          <p:cNvSpPr txBox="1"/>
          <p:nvPr/>
        </p:nvSpPr>
        <p:spPr>
          <a:xfrm>
            <a:off x="1280160" y="3172968"/>
            <a:ext cx="4754880" cy="365760"/>
          </a:xfrm>
          <a:prstGeom prst="rect">
            <a:avLst/>
          </a:prstGeom>
          <a:noFill/>
        </p:spPr>
        <p:txBody>
          <a:bodyPr wrap="square" lIns="0" rIns="0" tIns="0" bIns="0" anchor="t">
            <a:spAutoFit/>
          </a:bodyPr>
          <a:lstStyle/>
          <a:p>
            <a:pPr algn="l"/>
            <a:r>
              <a:rPr sz="1400" b="0" i="0">
                <a:solidFill>
                  <a:srgbClr val="4A4F5C"/>
                </a:solidFill>
                <a:latin typeface="Arial"/>
              </a:rPr>
              <a:t>the operating targets</a:t>
            </a:r>
          </a:p>
        </p:txBody>
      </p:sp>
      <p:sp>
        <p:nvSpPr>
          <p:cNvPr id="15" name="Oval 14"/>
          <p:cNvSpPr/>
          <p:nvPr/>
        </p:nvSpPr>
        <p:spPr>
          <a:xfrm>
            <a:off x="6172200" y="2788920"/>
            <a:ext cx="548640" cy="548640"/>
          </a:xfrm>
          <a:prstGeom prst="ellipse">
            <a:avLst/>
          </a:prstGeom>
          <a:solidFill>
            <a:srgbClr val="E87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Arial"/>
              </a:rPr>
              <a:t>4</a:t>
            </a:r>
          </a:p>
        </p:txBody>
      </p:sp>
      <p:sp>
        <p:nvSpPr>
          <p:cNvPr id="16" name="TextBox 15"/>
          <p:cNvSpPr txBox="1"/>
          <p:nvPr/>
        </p:nvSpPr>
        <p:spPr>
          <a:xfrm>
            <a:off x="6903720" y="2715768"/>
            <a:ext cx="4754880" cy="457200"/>
          </a:xfrm>
          <a:prstGeom prst="rect">
            <a:avLst/>
          </a:prstGeom>
          <a:noFill/>
        </p:spPr>
        <p:txBody>
          <a:bodyPr wrap="square" lIns="0" rIns="0" tIns="0" bIns="0" anchor="t">
            <a:spAutoFit/>
          </a:bodyPr>
          <a:lstStyle/>
          <a:p>
            <a:pPr algn="l"/>
            <a:r>
              <a:rPr sz="1700" b="1" i="0">
                <a:solidFill>
                  <a:srgbClr val="1B1F2A"/>
                </a:solidFill>
                <a:latin typeface="Arial"/>
              </a:rPr>
              <a:t>Upskill basic and intermediate crews</a:t>
            </a:r>
          </a:p>
        </p:txBody>
      </p:sp>
      <p:sp>
        <p:nvSpPr>
          <p:cNvPr id="17" name="TextBox 16"/>
          <p:cNvSpPr txBox="1"/>
          <p:nvPr/>
        </p:nvSpPr>
        <p:spPr>
          <a:xfrm>
            <a:off x="6903720" y="3172968"/>
            <a:ext cx="4754880" cy="365760"/>
          </a:xfrm>
          <a:prstGeom prst="rect">
            <a:avLst/>
          </a:prstGeom>
          <a:noFill/>
        </p:spPr>
        <p:txBody>
          <a:bodyPr wrap="square" lIns="0" rIns="0" tIns="0" bIns="0" anchor="t">
            <a:spAutoFit/>
          </a:bodyPr>
          <a:lstStyle/>
          <a:p>
            <a:pPr algn="l"/>
            <a:r>
              <a:rPr sz="1400" b="0" i="0">
                <a:solidFill>
                  <a:srgbClr val="4A4F5C"/>
                </a:solidFill>
                <a:latin typeface="Arial"/>
              </a:rPr>
              <a:t>pair with experts on high-risk work</a:t>
            </a:r>
          </a:p>
        </p:txBody>
      </p:sp>
      <p:sp>
        <p:nvSpPr>
          <p:cNvPr id="18" name="Oval 17"/>
          <p:cNvSpPr/>
          <p:nvPr/>
        </p:nvSpPr>
        <p:spPr>
          <a:xfrm>
            <a:off x="548640" y="3931920"/>
            <a:ext cx="548640" cy="548640"/>
          </a:xfrm>
          <a:prstGeom prst="ellipse">
            <a:avLst/>
          </a:prstGeom>
          <a:solidFill>
            <a:srgbClr val="E87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Arial"/>
              </a:rPr>
              <a:t>5</a:t>
            </a:r>
          </a:p>
        </p:txBody>
      </p:sp>
      <p:sp>
        <p:nvSpPr>
          <p:cNvPr id="19" name="TextBox 18"/>
          <p:cNvSpPr txBox="1"/>
          <p:nvPr/>
        </p:nvSpPr>
        <p:spPr>
          <a:xfrm>
            <a:off x="1280160" y="3858768"/>
            <a:ext cx="4754880" cy="457200"/>
          </a:xfrm>
          <a:prstGeom prst="rect">
            <a:avLst/>
          </a:prstGeom>
          <a:noFill/>
        </p:spPr>
        <p:txBody>
          <a:bodyPr wrap="square" lIns="0" rIns="0" tIns="0" bIns="0" anchor="t">
            <a:spAutoFit/>
          </a:bodyPr>
          <a:lstStyle/>
          <a:p>
            <a:pPr algn="l"/>
            <a:r>
              <a:rPr sz="1700" b="1" i="0">
                <a:solidFill>
                  <a:srgbClr val="1B1F2A"/>
                </a:solidFill>
                <a:latin typeface="Arial"/>
              </a:rPr>
              <a:t>Add the second escalation trigger</a:t>
            </a:r>
          </a:p>
        </p:txBody>
      </p:sp>
      <p:sp>
        <p:nvSpPr>
          <p:cNvPr id="20" name="TextBox 19"/>
          <p:cNvSpPr txBox="1"/>
          <p:nvPr/>
        </p:nvSpPr>
        <p:spPr>
          <a:xfrm>
            <a:off x="1280160" y="4315968"/>
            <a:ext cx="4754880" cy="365760"/>
          </a:xfrm>
          <a:prstGeom prst="rect">
            <a:avLst/>
          </a:prstGeom>
          <a:noFill/>
        </p:spPr>
        <p:txBody>
          <a:bodyPr wrap="square" lIns="0" rIns="0" tIns="0" bIns="0" anchor="t">
            <a:spAutoFit/>
          </a:bodyPr>
          <a:lstStyle/>
          <a:p>
            <a:pPr algn="l"/>
            <a:r>
              <a:rPr sz="1400" b="0" i="0">
                <a:solidFill>
                  <a:srgbClr val="4A4F5C"/>
                </a:solidFill>
                <a:latin typeface="Arial"/>
              </a:rPr>
              <a:t>+433 windows, after a capacity check</a:t>
            </a:r>
          </a:p>
        </p:txBody>
      </p:sp>
      <p:sp>
        <p:nvSpPr>
          <p:cNvPr id="21" name="Oval 20"/>
          <p:cNvSpPr/>
          <p:nvPr/>
        </p:nvSpPr>
        <p:spPr>
          <a:xfrm>
            <a:off x="6172200" y="3931920"/>
            <a:ext cx="548640" cy="548640"/>
          </a:xfrm>
          <a:prstGeom prst="ellipse">
            <a:avLst/>
          </a:prstGeom>
          <a:solidFill>
            <a:srgbClr val="E87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Arial"/>
              </a:rPr>
              <a:t>6</a:t>
            </a:r>
          </a:p>
        </p:txBody>
      </p:sp>
      <p:sp>
        <p:nvSpPr>
          <p:cNvPr id="22" name="TextBox 21"/>
          <p:cNvSpPr txBox="1"/>
          <p:nvPr/>
        </p:nvSpPr>
        <p:spPr>
          <a:xfrm>
            <a:off x="6903720" y="3858768"/>
            <a:ext cx="4754880" cy="457200"/>
          </a:xfrm>
          <a:prstGeom prst="rect">
            <a:avLst/>
          </a:prstGeom>
          <a:noFill/>
        </p:spPr>
        <p:txBody>
          <a:bodyPr wrap="square" lIns="0" rIns="0" tIns="0" bIns="0" anchor="t">
            <a:spAutoFit/>
          </a:bodyPr>
          <a:lstStyle/>
          <a:p>
            <a:pPr algn="l"/>
            <a:r>
              <a:rPr sz="1700" b="1" i="0">
                <a:solidFill>
                  <a:srgbClr val="1B1F2A"/>
                </a:solidFill>
                <a:latin typeface="Arial"/>
              </a:rPr>
              <a:t>Pilot before scaling</a:t>
            </a:r>
          </a:p>
        </p:txBody>
      </p:sp>
      <p:sp>
        <p:nvSpPr>
          <p:cNvPr id="23" name="TextBox 22"/>
          <p:cNvSpPr txBox="1"/>
          <p:nvPr/>
        </p:nvSpPr>
        <p:spPr>
          <a:xfrm>
            <a:off x="6903720" y="4315968"/>
            <a:ext cx="4754880" cy="365760"/>
          </a:xfrm>
          <a:prstGeom prst="rect">
            <a:avLst/>
          </a:prstGeom>
          <a:noFill/>
        </p:spPr>
        <p:txBody>
          <a:bodyPr wrap="square" lIns="0" rIns="0" tIns="0" bIns="0" anchor="t">
            <a:spAutoFit/>
          </a:bodyPr>
          <a:lstStyle/>
          <a:p>
            <a:pPr algn="l"/>
            <a:r>
              <a:rPr sz="1400" b="0" i="0">
                <a:solidFill>
                  <a:srgbClr val="4A4F5C"/>
                </a:solidFill>
                <a:latin typeface="Arial"/>
              </a:rPr>
              <a:t>one site converted, one matched site as control</a:t>
            </a:r>
          </a:p>
        </p:txBody>
      </p:sp>
      <p:sp>
        <p:nvSpPr>
          <p:cNvPr id="24" name="Oval 23"/>
          <p:cNvSpPr/>
          <p:nvPr/>
        </p:nvSpPr>
        <p:spPr>
          <a:xfrm>
            <a:off x="548640" y="5074920"/>
            <a:ext cx="548640" cy="548640"/>
          </a:xfrm>
          <a:prstGeom prst="ellipse">
            <a:avLst/>
          </a:prstGeom>
          <a:solidFill>
            <a:srgbClr val="E87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Arial"/>
              </a:rPr>
              <a:t>7</a:t>
            </a:r>
          </a:p>
        </p:txBody>
      </p:sp>
      <p:sp>
        <p:nvSpPr>
          <p:cNvPr id="25" name="TextBox 24"/>
          <p:cNvSpPr txBox="1"/>
          <p:nvPr/>
        </p:nvSpPr>
        <p:spPr>
          <a:xfrm>
            <a:off x="1280160" y="5001768"/>
            <a:ext cx="4754880" cy="457200"/>
          </a:xfrm>
          <a:prstGeom prst="rect">
            <a:avLst/>
          </a:prstGeom>
          <a:noFill/>
        </p:spPr>
        <p:txBody>
          <a:bodyPr wrap="square" lIns="0" rIns="0" tIns="0" bIns="0" anchor="t">
            <a:spAutoFit/>
          </a:bodyPr>
          <a:lstStyle/>
          <a:p>
            <a:pPr algn="l"/>
            <a:r>
              <a:rPr sz="1700" b="1" i="0">
                <a:solidFill>
                  <a:srgbClr val="1B1F2A"/>
                </a:solidFill>
                <a:latin typeface="Arial"/>
              </a:rPr>
              <a:t>Fix the asset key in the next export</a:t>
            </a:r>
          </a:p>
        </p:txBody>
      </p:sp>
      <p:sp>
        <p:nvSpPr>
          <p:cNvPr id="26" name="TextBox 25"/>
          <p:cNvSpPr txBox="1"/>
          <p:nvPr/>
        </p:nvSpPr>
        <p:spPr>
          <a:xfrm>
            <a:off x="1280160" y="5458968"/>
            <a:ext cx="4754880" cy="365760"/>
          </a:xfrm>
          <a:prstGeom prst="rect">
            <a:avLst/>
          </a:prstGeom>
          <a:noFill/>
        </p:spPr>
        <p:txBody>
          <a:bodyPr wrap="square" lIns="0" rIns="0" tIns="0" bIns="0" anchor="t">
            <a:spAutoFit/>
          </a:bodyPr>
          <a:lstStyle/>
          <a:p>
            <a:pPr algn="l"/>
            <a:r>
              <a:rPr sz="1400" b="0" i="0">
                <a:solidFill>
                  <a:srgbClr val="4A4F5C"/>
                </a:solidFill>
                <a:latin typeface="Arial"/>
              </a:rPr>
              <a:t>unlocks per-asset history and replacement planning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548640" y="502920"/>
            <a:ext cx="8229600" cy="320040"/>
          </a:xfrm>
          <a:prstGeom prst="rect">
            <a:avLst/>
          </a:prstGeom>
          <a:noFill/>
        </p:spPr>
        <p:txBody>
          <a:bodyPr wrap="square" lIns="0" rIns="0" tIns="0" bIns="0" anchor="t">
            <a:spAutoFit/>
          </a:bodyPr>
          <a:lstStyle/>
          <a:p>
            <a:pPr algn="l"/>
            <a:r>
              <a:rPr sz="1300" b="1" i="0">
                <a:solidFill>
                  <a:srgbClr val="E8762C"/>
                </a:solidFill>
                <a:latin typeface="Arial"/>
              </a:rPr>
              <a:t>DECISIONS NEEDED</a:t>
            </a:r>
          </a:p>
        </p:txBody>
      </p:sp>
      <p:sp>
        <p:nvSpPr>
          <p:cNvPr id="3" name="TextBox 2"/>
          <p:cNvSpPr txBox="1"/>
          <p:nvPr/>
        </p:nvSpPr>
        <p:spPr>
          <a:xfrm>
            <a:off x="548640" y="1097280"/>
            <a:ext cx="10972800" cy="914400"/>
          </a:xfrm>
          <a:prstGeom prst="rect">
            <a:avLst/>
          </a:prstGeom>
          <a:noFill/>
        </p:spPr>
        <p:txBody>
          <a:bodyPr wrap="square" lIns="0" rIns="0" tIns="0" bIns="0" anchor="t">
            <a:spAutoFit/>
          </a:bodyPr>
          <a:lstStyle/>
          <a:p>
            <a:pPr algn="l"/>
            <a:r>
              <a:rPr sz="4000" b="1" i="0">
                <a:solidFill>
                  <a:srgbClr val="FFFFFF"/>
                </a:solidFill>
                <a:latin typeface="Arial"/>
              </a:rPr>
              <a:t>Three decisions for this quarter</a:t>
            </a:r>
          </a:p>
        </p:txBody>
      </p:sp>
      <p:sp>
        <p:nvSpPr>
          <p:cNvPr id="4" name="Oval 3"/>
          <p:cNvSpPr/>
          <p:nvPr/>
        </p:nvSpPr>
        <p:spPr>
          <a:xfrm>
            <a:off x="548640" y="2331720"/>
            <a:ext cx="640080" cy="640080"/>
          </a:xfrm>
          <a:prstGeom prst="ellipse">
            <a:avLst/>
          </a:prstGeom>
          <a:solidFill>
            <a:srgbClr val="E87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1</a:t>
            </a:r>
          </a:p>
        </p:txBody>
      </p:sp>
      <p:sp>
        <p:nvSpPr>
          <p:cNvPr id="5" name="TextBox 4"/>
          <p:cNvSpPr txBox="1"/>
          <p:nvPr/>
        </p:nvSpPr>
        <p:spPr>
          <a:xfrm>
            <a:off x="1463040" y="2313432"/>
            <a:ext cx="10058400" cy="457200"/>
          </a:xfrm>
          <a:prstGeom prst="rect">
            <a:avLst/>
          </a:prstGeom>
          <a:noFill/>
        </p:spPr>
        <p:txBody>
          <a:bodyPr wrap="square" lIns="0" rIns="0" tIns="0" bIns="0" anchor="t">
            <a:spAutoFit/>
          </a:bodyPr>
          <a:lstStyle/>
          <a:p>
            <a:pPr algn="l"/>
            <a:r>
              <a:rPr sz="2200" b="1" i="0">
                <a:solidFill>
                  <a:srgbClr val="FFFFFF"/>
                </a:solidFill>
                <a:latin typeface="Arial"/>
              </a:rPr>
              <a:t>Approve the reactive-to-planned pilot</a:t>
            </a:r>
          </a:p>
        </p:txBody>
      </p:sp>
      <p:sp>
        <p:nvSpPr>
          <p:cNvPr id="6" name="TextBox 5"/>
          <p:cNvSpPr txBox="1"/>
          <p:nvPr/>
        </p:nvSpPr>
        <p:spPr>
          <a:xfrm>
            <a:off x="1463040" y="2788920"/>
            <a:ext cx="10058400" cy="411480"/>
          </a:xfrm>
          <a:prstGeom prst="rect">
            <a:avLst/>
          </a:prstGeom>
          <a:noFill/>
        </p:spPr>
        <p:txBody>
          <a:bodyPr wrap="square" lIns="0" rIns="0" tIns="0" bIns="0" anchor="t">
            <a:spAutoFit/>
          </a:bodyPr>
          <a:lstStyle/>
          <a:p>
            <a:pPr algn="l"/>
            <a:r>
              <a:rPr sz="1500" b="0" i="0">
                <a:solidFill>
                  <a:srgbClr val="C9D6EA"/>
                </a:solidFill>
                <a:latin typeface="Arial"/>
              </a:rPr>
              <a:t>One site, one matched control, measured on the live dashboard</a:t>
            </a:r>
          </a:p>
        </p:txBody>
      </p:sp>
      <p:sp>
        <p:nvSpPr>
          <p:cNvPr id="7" name="Oval 6"/>
          <p:cNvSpPr/>
          <p:nvPr/>
        </p:nvSpPr>
        <p:spPr>
          <a:xfrm>
            <a:off x="548640" y="3566160"/>
            <a:ext cx="640080" cy="640080"/>
          </a:xfrm>
          <a:prstGeom prst="ellipse">
            <a:avLst/>
          </a:prstGeom>
          <a:solidFill>
            <a:srgbClr val="E87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2</a:t>
            </a:r>
          </a:p>
        </p:txBody>
      </p:sp>
      <p:sp>
        <p:nvSpPr>
          <p:cNvPr id="8" name="TextBox 7"/>
          <p:cNvSpPr txBox="1"/>
          <p:nvPr/>
        </p:nvSpPr>
        <p:spPr>
          <a:xfrm>
            <a:off x="1463040" y="3547872"/>
            <a:ext cx="10058400" cy="457200"/>
          </a:xfrm>
          <a:prstGeom prst="rect">
            <a:avLst/>
          </a:prstGeom>
          <a:noFill/>
        </p:spPr>
        <p:txBody>
          <a:bodyPr wrap="square" lIns="0" rIns="0" tIns="0" bIns="0" anchor="t">
            <a:spAutoFit/>
          </a:bodyPr>
          <a:lstStyle/>
          <a:p>
            <a:pPr algn="l"/>
            <a:r>
              <a:rPr sz="2200" b="1" i="0">
                <a:solidFill>
                  <a:srgbClr val="FFFFFF"/>
                </a:solidFill>
                <a:latin typeface="Arial"/>
              </a:rPr>
              <a:t>Approve the second escalation trigger</a:t>
            </a:r>
          </a:p>
        </p:txBody>
      </p:sp>
      <p:sp>
        <p:nvSpPr>
          <p:cNvPr id="9" name="TextBox 8"/>
          <p:cNvSpPr txBox="1"/>
          <p:nvPr/>
        </p:nvSpPr>
        <p:spPr>
          <a:xfrm>
            <a:off x="1463040" y="4023360"/>
            <a:ext cx="10058400" cy="411480"/>
          </a:xfrm>
          <a:prstGeom prst="rect">
            <a:avLst/>
          </a:prstGeom>
          <a:noFill/>
        </p:spPr>
        <p:txBody>
          <a:bodyPr wrap="square" lIns="0" rIns="0" tIns="0" bIns="0" anchor="t">
            <a:spAutoFit/>
          </a:bodyPr>
          <a:lstStyle/>
          <a:p>
            <a:pPr algn="l"/>
            <a:r>
              <a:rPr sz="1500" b="0" i="0">
                <a:solidFill>
                  <a:srgbClr val="C9D6EA"/>
                </a:solidFill>
                <a:latin typeface="Arial"/>
              </a:rPr>
              <a:t>Subject to a capacity check for 567 escalated windows</a:t>
            </a:r>
          </a:p>
        </p:txBody>
      </p:sp>
      <p:sp>
        <p:nvSpPr>
          <p:cNvPr id="10" name="Oval 9"/>
          <p:cNvSpPr/>
          <p:nvPr/>
        </p:nvSpPr>
        <p:spPr>
          <a:xfrm>
            <a:off x="548640" y="4800600"/>
            <a:ext cx="640080" cy="640080"/>
          </a:xfrm>
          <a:prstGeom prst="ellipse">
            <a:avLst/>
          </a:prstGeom>
          <a:solidFill>
            <a:srgbClr val="E87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3</a:t>
            </a:r>
          </a:p>
        </p:txBody>
      </p:sp>
      <p:sp>
        <p:nvSpPr>
          <p:cNvPr id="11" name="TextBox 10"/>
          <p:cNvSpPr txBox="1"/>
          <p:nvPr/>
        </p:nvSpPr>
        <p:spPr>
          <a:xfrm>
            <a:off x="1463040" y="4782312"/>
            <a:ext cx="10058400" cy="457200"/>
          </a:xfrm>
          <a:prstGeom prst="rect">
            <a:avLst/>
          </a:prstGeom>
          <a:noFill/>
        </p:spPr>
        <p:txBody>
          <a:bodyPr wrap="square" lIns="0" rIns="0" tIns="0" bIns="0" anchor="t">
            <a:spAutoFit/>
          </a:bodyPr>
          <a:lstStyle/>
          <a:p>
            <a:pPr algn="l"/>
            <a:r>
              <a:rPr sz="2200" b="1" i="0">
                <a:solidFill>
                  <a:srgbClr val="FFFFFF"/>
                </a:solidFill>
                <a:latin typeface="Arial"/>
              </a:rPr>
              <a:t>Request a fixed Asset_ID in the next export</a:t>
            </a:r>
          </a:p>
        </p:txBody>
      </p:sp>
      <p:sp>
        <p:nvSpPr>
          <p:cNvPr id="12" name="TextBox 11"/>
          <p:cNvSpPr txBox="1"/>
          <p:nvPr/>
        </p:nvSpPr>
        <p:spPr>
          <a:xfrm>
            <a:off x="1463040" y="5257800"/>
            <a:ext cx="10058400" cy="411480"/>
          </a:xfrm>
          <a:prstGeom prst="rect">
            <a:avLst/>
          </a:prstGeom>
          <a:noFill/>
        </p:spPr>
        <p:txBody>
          <a:bodyPr wrap="square" lIns="0" rIns="0" tIns="0" bIns="0" anchor="t">
            <a:spAutoFit/>
          </a:bodyPr>
          <a:lstStyle/>
          <a:p>
            <a:pPr algn="l"/>
            <a:r>
              <a:rPr sz="1500" b="0" i="0">
                <a:solidFill>
                  <a:srgbClr val="C9D6EA"/>
                </a:solidFill>
                <a:latin typeface="Arial"/>
              </a:rPr>
              <a:t>So the next review can plan replacement per asset</a:t>
            </a:r>
          </a:p>
        </p:txBody>
      </p:sp>
      <p:sp>
        <p:nvSpPr>
          <p:cNvPr id="13" name="TextBox 12"/>
          <p:cNvSpPr txBox="1"/>
          <p:nvPr/>
        </p:nvSpPr>
        <p:spPr>
          <a:xfrm>
            <a:off x="548640" y="6473952"/>
            <a:ext cx="10058400" cy="228600"/>
          </a:xfrm>
          <a:prstGeom prst="rect">
            <a:avLst/>
          </a:prstGeom>
          <a:noFill/>
        </p:spPr>
        <p:txBody>
          <a:bodyPr wrap="square" lIns="0" rIns="0" tIns="0" bIns="0" anchor="t">
            <a:spAutoFit/>
          </a:bodyPr>
          <a:lstStyle/>
          <a:p>
            <a:pPr algn="l"/>
            <a:r>
              <a:rPr sz="1000" b="0" i="0">
                <a:solidFill>
                  <a:srgbClr val="C9D6EA"/>
                </a:solidFill>
                <a:latin typeface="Arial"/>
              </a:rPr>
              <a:t>Analysis: 02_Analysis/analyze_pmaris.py · Dashboard: 03_Dashboard · Report: PMARIS_Reliability_Assessment.pdf</a:t>
            </a:r>
          </a:p>
        </p:txBody>
      </p:sp>
      <p:sp>
        <p:nvSpPr>
          <p:cNvPr id="14" name="TextBox 13"/>
          <p:cNvSpPr txBox="1"/>
          <p:nvPr/>
        </p:nvSpPr>
        <p:spPr>
          <a:xfrm>
            <a:off x="10271455" y="6473952"/>
            <a:ext cx="1371600" cy="228600"/>
          </a:xfrm>
          <a:prstGeom prst="rect">
            <a:avLst/>
          </a:prstGeom>
          <a:noFill/>
        </p:spPr>
        <p:txBody>
          <a:bodyPr wrap="square" lIns="0" rIns="0" tIns="0" bIns="0" anchor="t">
            <a:spAutoFit/>
          </a:bodyPr>
          <a:lstStyle/>
          <a:p>
            <a:pPr algn="r"/>
            <a:r>
              <a:rPr sz="1000" b="0" i="0">
                <a:solidFill>
                  <a:srgbClr val="C9D6EA"/>
                </a:solidFill>
                <a:latin typeface="Arial"/>
              </a:rP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