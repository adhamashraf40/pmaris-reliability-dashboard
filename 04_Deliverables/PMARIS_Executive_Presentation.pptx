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66" r:id="rId18"/>
    <p:sldId id="267" r:id="rId19"/>
    <p:sldId id="271" r:id="rId23"/>
    <p:sldId id="273" r:id="rId25"/>
    <p:sldId id="274" r:id="rId26"/>
    <p:sldId id="275" r:id="rId27"/>
    <p:sldId id="276" r:id="rId28"/>
    <p:sldId id="279" r:id="rId31"/>
    <p:sldId id="280" r:id="rId32"/>
    <p:sldId id="281" r:id="rId33"/>
    <p:sldId id="282" r:id="rId34"/>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8" Type="http://schemas.openxmlformats.org/officeDocument/2006/relationships/slide" Target="slides/slide11.xml"/><Relationship Id="rId19" Type="http://schemas.openxmlformats.org/officeDocument/2006/relationships/slide" Target="slides/slide12.xml"/><Relationship Id="rId23" Type="http://schemas.openxmlformats.org/officeDocument/2006/relationships/slide" Target="slides/slide16.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6" Type="http://schemas.openxmlformats.org/officeDocument/2006/relationships/slide" Target="slides/slide29.xml"/><Relationship Id="rId37" Type="http://schemas.openxmlformats.org/officeDocument/2006/relationships/slide" Target="slides/slide30.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c:v>
                </c:pt>
              </c:strCache>
            </c:strRef>
          </c:tx>
          <c:dPt>
            <c:idx val="0"/>
            <c:spPr>
              <a:solidFill>
                <a:srgbClr val="E8762C"/>
              </a:solidFill>
              <a:ln>
                <a:solidFill>
                  <a:srgbClr val="FFFFFF"/>
                </a:solidFill>
              </a:ln>
            </c:spPr>
          </c:dPt>
          <c:dPt>
            <c:idx val="1"/>
            <c:spPr>
              <a:solidFill>
                <a:srgbClr val="C3C2B7"/>
              </a:solidFill>
              <a:ln>
                <a:solidFill>
                  <a:srgbClr val="FFFFFF"/>
                </a:solidFill>
              </a:ln>
            </c:spPr>
          </c:dPt>
          <c:cat>
            <c:strRef>
              <c:f>Sheet1!$A$2:$A$3</c:f>
              <c:strCache>
                <c:ptCount val="2"/>
                <c:pt idx="0">
                  <c:v>High-risk windows</c:v>
                </c:pt>
                <c:pt idx="1">
                  <c:v>All other windows</c:v>
                </c:pt>
              </c:strCache>
            </c:strRef>
          </c:cat>
          <c:val>
            <c:numRef>
              <c:f>Sheet1!$B$2:$B$3</c:f>
              <c:numCache>
                <c:formatCode>General</c:formatCode>
                <c:ptCount val="2"/>
                <c:pt idx="0">
                  <c:v>0.4667822782110091</c:v>
                </c:pt>
                <c:pt idx="1">
                  <c:v>0.5332177217889909</c:v>
                </c:pt>
              </c:numCache>
            </c:numRef>
          </c:val>
        </c:ser>
        <c:dLbls>
          <c:numFmt formatCode="0%" sourceLinked="0"/>
          <c:txPr>
            <a:bodyPr/>
            <a:lstStyle/>
            <a:p>
              <a:pPr>
                <a:defRPr sz="12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c:overlay val="0"/>
      <c:txPr>
        <a:bodyPr/>
        <a:lstStyle/>
        <a:p>
          <a:pPr>
            <a:defRPr sz="1300"/>
          </a:pPr>
        </a:p>
      </c:txPr>
    </c:legend>
    <c:plotVisOnly val="1"/>
    <c:dispBlanksAs val="gap"/>
    <c:showDLblsOverMax val="0"/>
  </c:chart>
  <c:txPr>
    <a:bodyPr/>
    <a:lstStyle/>
    <a:p>
      <a:pPr>
        <a:defRPr sz="1200">
          <a:solidFill>
            <a:srgbClr val="4A4F5C"/>
          </a:solidFill>
          <a:latin typeface="Arial"/>
        </a:defRPr>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0D366B"/>
              </a:solidFill>
            </c:spPr>
          </c:dPt>
          <c:dPt>
            <c:idx val="1"/>
            <c:spPr>
              <a:solidFill>
                <a:srgbClr val="184F95"/>
              </a:solidFill>
            </c:spPr>
          </c:dPt>
          <c:dPt>
            <c:idx val="2"/>
            <c:spPr>
              <a:solidFill>
                <a:srgbClr val="184F95"/>
              </a:solidFill>
            </c:spPr>
          </c:dPt>
          <c:dPt>
            <c:idx val="3"/>
            <c:spPr>
              <a:solidFill>
                <a:srgbClr val="256ABF"/>
              </a:solidFill>
            </c:spPr>
          </c:dPt>
          <c:cat>
            <c:strRef>
              <c:f>Sheet1!$A$2:$A$5</c:f>
              <c:strCache>
                <c:ptCount val="4"/>
                <c:pt idx="0">
                  <c:v>Basic</c:v>
                </c:pt>
                <c:pt idx="1">
                  <c:v>Intermediate</c:v>
                </c:pt>
                <c:pt idx="2">
                  <c:v>Advanced</c:v>
                </c:pt>
                <c:pt idx="3">
                  <c:v>Expert</c:v>
                </c:pt>
              </c:strCache>
            </c:strRef>
          </c:cat>
          <c:val>
            <c:numRef>
              <c:f>Sheet1!$B$2:$B$5</c:f>
              <c:numCache>
                <c:formatCode>General</c:formatCode>
                <c:ptCount val="4"/>
                <c:pt idx="0">
                  <c:v>14.778293515358362</c:v>
                </c:pt>
                <c:pt idx="1">
                  <c:v>12.417602704108164</c:v>
                </c:pt>
                <c:pt idx="2">
                  <c:v>9.378982671883733</c:v>
                </c:pt>
                <c:pt idx="3">
                  <c:v>8.005982905982906</c:v>
                </c:pt>
              </c:numCache>
            </c:numRef>
          </c:val>
        </c:ser>
        <c:dLbls>
          <c:numFmt formatCode="0.0&quot; h&quot;"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18.029518088737202"/>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s</c:v>
                </c:pt>
              </c:strCache>
            </c:strRef>
          </c:tx>
          <c:dPt>
            <c:idx val="0"/>
            <c:spPr>
              <a:solidFill>
                <a:srgbClr val="256ABF"/>
              </a:solidFill>
            </c:spPr>
          </c:dPt>
          <c:dPt>
            <c:idx val="1"/>
            <c:spPr>
              <a:solidFill>
                <a:srgbClr val="256ABF"/>
              </a:solidFill>
            </c:spPr>
          </c:dPt>
          <c:dPt>
            <c:idx val="2"/>
            <c:spPr>
              <a:solidFill>
                <a:srgbClr val="256ABF"/>
              </a:solidFill>
            </c:spPr>
          </c:dPt>
          <c:dPt>
            <c:idx val="3"/>
            <c:spPr>
              <a:solidFill>
                <a:srgbClr val="256ABF"/>
              </a:solidFill>
            </c:spPr>
          </c:dPt>
          <c:dPt>
            <c:idx val="4"/>
            <c:spPr>
              <a:solidFill>
                <a:srgbClr val="256ABF"/>
              </a:solidFill>
            </c:spPr>
          </c:dPt>
          <c:dPt>
            <c:idx val="5"/>
            <c:spPr>
              <a:solidFill>
                <a:srgbClr val="256ABF"/>
              </a:solidFill>
            </c:spPr>
          </c:dPt>
          <c:dPt>
            <c:idx val="6"/>
            <c:spPr>
              <a:solidFill>
                <a:srgbClr val="256ABF"/>
              </a:solidFill>
            </c:spPr>
          </c:dPt>
          <c:dPt>
            <c:idx val="7"/>
            <c:spPr>
              <a:solidFill>
                <a:srgbClr val="256ABF"/>
              </a:solidFill>
            </c:spPr>
          </c:dPt>
          <c:dPt>
            <c:idx val="8"/>
            <c:spPr>
              <a:solidFill>
                <a:srgbClr val="256ABF"/>
              </a:solidFill>
            </c:spPr>
          </c:dPt>
          <c:dPt>
            <c:idx val="9"/>
            <c:spPr>
              <a:solidFill>
                <a:srgbClr val="256ABF"/>
              </a:solidFill>
            </c:spPr>
          </c:dPt>
          <c:cat>
            <c:strRef>
              <c:f>Sheet1!$A$2:$A$11</c:f>
              <c:strCache>
                <c:ptCount val="10"/>
                <c:pt idx="0">
                  <c:v>D1 · 50%</c:v>
                </c:pt>
                <c:pt idx="1">
                  <c:v>D2 · 63%</c:v>
                </c:pt>
                <c:pt idx="2">
                  <c:v>D3 · 70%</c:v>
                </c:pt>
                <c:pt idx="3">
                  <c:v>D4 · 76%</c:v>
                </c:pt>
                <c:pt idx="4">
                  <c:v>D5 · 81%</c:v>
                </c:pt>
                <c:pt idx="5">
                  <c:v>D6 · 85%</c:v>
                </c:pt>
                <c:pt idx="6">
                  <c:v>D7 · 90%</c:v>
                </c:pt>
                <c:pt idx="7">
                  <c:v>D8 · 95%</c:v>
                </c:pt>
                <c:pt idx="8">
                  <c:v>D9 · 100%</c:v>
                </c:pt>
                <c:pt idx="9">
                  <c:v>D10 · 100%</c:v>
                </c:pt>
              </c:strCache>
            </c:strRef>
          </c:cat>
          <c:val>
            <c:numRef>
              <c:f>Sheet1!$B$2:$B$11</c:f>
              <c:numCache>
                <c:formatCode>General</c:formatCode>
                <c:ptCount val="10"/>
                <c:pt idx="0">
                  <c:v>22.83306</c:v>
                </c:pt>
                <c:pt idx="1">
                  <c:v>17.3326</c:v>
                </c:pt>
                <c:pt idx="2">
                  <c:v>13.75594</c:v>
                </c:pt>
                <c:pt idx="3">
                  <c:v>11.52946</c:v>
                </c:pt>
                <c:pt idx="4">
                  <c:v>9.3642</c:v>
                </c:pt>
                <c:pt idx="5">
                  <c:v>8.6504</c:v>
                </c:pt>
                <c:pt idx="6">
                  <c:v>7.18862</c:v>
                </c:pt>
                <c:pt idx="7">
                  <c:v>7.12294</c:v>
                </c:pt>
                <c:pt idx="8">
                  <c:v>5.5762</c:v>
                </c:pt>
                <c:pt idx="9">
                  <c:v>6.52324</c:v>
                </c:pt>
              </c:numCache>
            </c:numRef>
          </c:val>
        </c:ser>
        <c:dLbls>
          <c:numFmt formatCode="0.0" sourceLinked="0"/>
          <c:txPr>
            <a:bodyPr/>
            <a:lstStyle/>
            <a:p>
              <a:pPr>
                <a:defRPr sz="1300" b="1">
                  <a:solidFill>
                    <a:srgbClr val="1B1F2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26.258018999999997"/>
          <c:min val="0.0"/>
        </c:scaling>
        <c:delete/>
        <c:axPos val="l"/>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D03B3B"/>
              </a:solidFill>
            </c:spPr>
          </c:dPt>
          <c:dPt>
            <c:idx val="1"/>
            <c:spPr>
              <a:solidFill>
                <a:srgbClr val="E8762C"/>
              </a:solidFill>
            </c:spPr>
          </c:dPt>
          <c:dPt>
            <c:idx val="2"/>
            <c:spPr>
              <a:solidFill>
                <a:srgbClr val="FAB219"/>
              </a:solidFill>
            </c:spPr>
          </c:dPt>
          <c:dPt>
            <c:idx val="3"/>
            <c:spPr>
              <a:solidFill>
                <a:srgbClr val="9A988F"/>
              </a:solidFill>
            </c:spPr>
          </c:dPt>
          <c:cat>
            <c:strRef>
              <c:f>Sheet1!$A$2:$A$5</c:f>
              <c:strCache>
                <c:ptCount val="4"/>
                <c:pt idx="0">
                  <c:v>P1 - Immediate</c:v>
                </c:pt>
                <c:pt idx="1">
                  <c:v>P2 - High</c:v>
                </c:pt>
                <c:pt idx="2">
                  <c:v>P3 - Planned</c:v>
                </c:pt>
                <c:pt idx="3">
                  <c:v>P4 - Monitor</c:v>
                </c:pt>
              </c:strCache>
            </c:strRef>
          </c:cat>
          <c:val>
            <c:numRef>
              <c:f>Sheet1!$B$2:$B$5</c:f>
              <c:numCache>
                <c:formatCode>General</c:formatCode>
                <c:ptCount val="4"/>
                <c:pt idx="0">
                  <c:v>2</c:v>
                </c:pt>
                <c:pt idx="1">
                  <c:v>97</c:v>
                </c:pt>
                <c:pt idx="2">
                  <c:v>335</c:v>
                </c:pt>
                <c:pt idx="3">
                  <c:v>66</c:v>
                </c:pt>
              </c:numCache>
            </c:numRef>
          </c:val>
        </c:ser>
        <c:dLbls>
          <c:numFmt formatCode="#,##0" sourceLinked="0"/>
          <c:txPr>
            <a:bodyPr/>
            <a:lstStyle/>
            <a:p>
              <a:pPr>
                <a:defRPr sz="1400" b="1">
                  <a:solidFill>
                    <a:srgbClr val="1B1F2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300">
                <a:solidFill>
                  <a:srgbClr val="4A4F5C"/>
                </a:solidFill>
              </a:defRPr>
            </a:pPr>
          </a:p>
        </c:txPr>
        <c:crossAx val="-2113994440"/>
        <c:crosses val="autoZero"/>
        <c:auto val="1"/>
        <c:lblAlgn val="ctr"/>
        <c:lblOffset val="100"/>
        <c:noMultiLvlLbl val="0"/>
      </c:catAx>
      <c:valAx>
        <c:axId val="-2113994440"/>
        <c:scaling>
          <c:max val="408.7"/>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4F5C"/>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one question for the Head of Reliability and Maintenance: where should the next Egyptian pound of maintenance budget go? The three numbers at the bottom are the whole story: loss is concentrated, a controllable lever doubles downtime, and the escalation flag misses most of the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answer, Pyramid style. Everything after this slide is support for these three arguments.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KPIs agreed in the scope brief. Totals add overlapping 30-day windows, so compare means per window, not totals.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Gini 0.63. The playbook calls this the most decision-relevant number. Effort spread evenly across the fleet is mostly spent where little is lost.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95% intervals. The three planned strategies overlap each other: the step that matters is leaving reactive, not choosing among the planned ones.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clean staircase with no interval touching the next. Spares status explains 6.5% of revenue-loss variance, five times what site explains.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downtime by strategy and spares status, with counts. Reactive plus shortage is the cell to empty first; predictive plus available is the target state.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downtime by technician skill level. Basic and intermediate sit clearly above advanced and expert; intervals do not overlap.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 compliance deciles, least compliant on the left, median compliance under each bar. A dose-response shape is stronger evidence than a single split.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estimates, not measurements. They assume the association is fully causal, which it is not: reactive windows also start in worse health. That is why recommendation 6 is a pilot.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priority is a fixed banding of an index that correlates only 0.75 with failure probability. P1/P2 cover 26.5% of the loss in the worst 10% of windows. Most of the worst windows were filed as P3 Planned.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file the rule adds 433 windows and EGP 434M of exposure to the watched list. Escalated count goes from 134 to 567, so confirm crew capacity before switching it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 is real but small (η² 0.013 on loss). Manufacturer (p = 0.57) and shift (p = 0.49) show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size of effect and ease. Number 6 is what turns these associations into causal, budgetable estimates.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decisions, not a thank-you slide. The pilot is the most important: it converts the 2x associations into a causal number the budget can rest on. The live dashboard will measure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nchor="t">
            <a:spAutoFit/>
          </a:bodyPr>
          <a:lstStyle/>
          <a:p>
            <a:pPr algn="l"/>
            <a:r>
              <a:rPr sz="1300" b="1" i="0">
                <a:solidFill>
                  <a:srgbClr val="E8762C"/>
                </a:solidFill>
                <a:latin typeface="Arial"/>
              </a:rPr>
              <a:t>EXECUTIVE PRESENTATION · AIB902 · GROUP 9230 TEAM 1</a:t>
            </a:r>
          </a:p>
        </p:txBody>
      </p:sp>
      <p:sp>
        <p:nvSpPr>
          <p:cNvPr id="3" name="TextBox 2"/>
          <p:cNvSpPr txBox="1"/>
          <p:nvPr/>
        </p:nvSpPr>
        <p:spPr>
          <a:xfrm>
            <a:off x="548640" y="1737360"/>
            <a:ext cx="10515600" cy="1828800"/>
          </a:xfrm>
          <a:prstGeom prst="rect">
            <a:avLst/>
          </a:prstGeom>
          <a:noFill/>
        </p:spPr>
        <p:txBody>
          <a:bodyPr wrap="square" lIns="0" rIns="0" tIns="0" bIns="0" anchor="t">
            <a:spAutoFit/>
          </a:bodyPr>
          <a:lstStyle/>
          <a:p>
            <a:pPr algn="l">
              <a:lnSpc>
                <a:spcPct val="100000"/>
              </a:lnSpc>
            </a:pPr>
            <a:r>
              <a:rPr sz="4800" b="1" i="0">
                <a:solidFill>
                  <a:srgbClr val="FFFFFF"/>
                </a:solidFill>
                <a:latin typeface="Arial"/>
              </a:rPr>
              <a:t>Where the next EGP of maintenance should go</a:t>
            </a:r>
          </a:p>
        </p:txBody>
      </p:sp>
      <p:sp>
        <p:nvSpPr>
          <p:cNvPr id="4" name="TextBox 3"/>
          <p:cNvSpPr txBox="1"/>
          <p:nvPr/>
        </p:nvSpPr>
        <p:spPr>
          <a:xfrm>
            <a:off x="548640" y="3611880"/>
            <a:ext cx="10058400" cy="914400"/>
          </a:xfrm>
          <a:prstGeom prst="rect">
            <a:avLst/>
          </a:prstGeom>
          <a:noFill/>
        </p:spPr>
        <p:txBody>
          <a:bodyPr wrap="square" lIns="0" rIns="0" tIns="0" bIns="0" anchor="t">
            <a:spAutoFit/>
          </a:bodyPr>
          <a:lstStyle/>
          <a:p>
            <a:pPr algn="l"/>
            <a:r>
              <a:rPr sz="2200" b="0" i="0">
                <a:solidFill>
                  <a:srgbClr val="C9D6EA"/>
                </a:solidFill>
                <a:latin typeface="Arial"/>
              </a:rPr>
              <a:t>PMARIS asset reliability: 5,000 observation windows, six sites, twelve months</a:t>
            </a:r>
          </a:p>
        </p:txBody>
      </p:sp>
      <p:sp>
        <p:nvSpPr>
          <p:cNvPr id="5" name="TextBox 4"/>
          <p:cNvSpPr txBox="1"/>
          <p:nvPr/>
        </p:nvSpPr>
        <p:spPr>
          <a:xfrm>
            <a:off x="548640"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45%</a:t>
            </a:r>
          </a:p>
        </p:txBody>
      </p:sp>
      <p:sp>
        <p:nvSpPr>
          <p:cNvPr id="6" name="TextBox 5"/>
          <p:cNvSpPr txBox="1"/>
          <p:nvPr/>
        </p:nvSpPr>
        <p:spPr>
          <a:xfrm>
            <a:off x="548640"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of loss in the top 10% of windows</a:t>
            </a:r>
          </a:p>
        </p:txBody>
      </p:sp>
      <p:sp>
        <p:nvSpPr>
          <p:cNvPr id="7" name="TextBox 6"/>
          <p:cNvSpPr txBox="1"/>
          <p:nvPr/>
        </p:nvSpPr>
        <p:spPr>
          <a:xfrm>
            <a:off x="4251959"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2.3x</a:t>
            </a:r>
          </a:p>
        </p:txBody>
      </p:sp>
      <p:sp>
        <p:nvSpPr>
          <p:cNvPr id="8" name="TextBox 7"/>
          <p:cNvSpPr txBox="1"/>
          <p:nvPr/>
        </p:nvSpPr>
        <p:spPr>
          <a:xfrm>
            <a:off x="4251959"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reactive vs predictive downtime</a:t>
            </a:r>
          </a:p>
        </p:txBody>
      </p:sp>
      <p:sp>
        <p:nvSpPr>
          <p:cNvPr id="9" name="TextBox 8"/>
          <p:cNvSpPr txBox="1"/>
          <p:nvPr/>
        </p:nvSpPr>
        <p:spPr>
          <a:xfrm>
            <a:off x="7955279" y="4800600"/>
            <a:ext cx="3474720" cy="640080"/>
          </a:xfrm>
          <a:prstGeom prst="rect">
            <a:avLst/>
          </a:prstGeom>
          <a:noFill/>
        </p:spPr>
        <p:txBody>
          <a:bodyPr wrap="square" lIns="0" rIns="0" tIns="0" bIns="0" anchor="t">
            <a:spAutoFit/>
          </a:bodyPr>
          <a:lstStyle/>
          <a:p>
            <a:pPr algn="l"/>
            <a:r>
              <a:rPr sz="3400" b="1" i="0">
                <a:solidFill>
                  <a:srgbClr val="E8762C"/>
                </a:solidFill>
                <a:latin typeface="Arial"/>
              </a:rPr>
              <a:t>829</a:t>
            </a:r>
          </a:p>
        </p:txBody>
      </p:sp>
      <p:sp>
        <p:nvSpPr>
          <p:cNvPr id="10" name="TextBox 9"/>
          <p:cNvSpPr txBox="1"/>
          <p:nvPr/>
        </p:nvSpPr>
        <p:spPr>
          <a:xfrm>
            <a:off x="7955279" y="5440680"/>
            <a:ext cx="3474720" cy="457200"/>
          </a:xfrm>
          <a:prstGeom prst="rect">
            <a:avLst/>
          </a:prstGeom>
          <a:noFill/>
        </p:spPr>
        <p:txBody>
          <a:bodyPr wrap="square" lIns="0" rIns="0" tIns="0" bIns="0" anchor="t">
            <a:spAutoFit/>
          </a:bodyPr>
          <a:lstStyle/>
          <a:p>
            <a:pPr algn="l"/>
            <a:r>
              <a:rPr sz="1400" b="0" i="0">
                <a:solidFill>
                  <a:srgbClr val="C9D6EA"/>
                </a:solidFill>
                <a:latin typeface="Arial"/>
              </a:rPr>
              <a:t>high-risk windows not escalated</a:t>
            </a:r>
          </a:p>
        </p:txBody>
      </p:sp>
      <p:sp>
        <p:nvSpPr>
          <p:cNvPr id="11" name="TextBox 10"/>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C9D6EA"/>
                </a:solidFill>
                <a:latin typeface="Arial"/>
              </a:rPr>
              <a:t>Prepared for the Head of Reliability &amp; Maintenance · 11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ANSWER</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answer: fund four levers and widen the escalation list</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2 / 15</a:t>
            </a:r>
          </a:p>
        </p:txBody>
      </p:sp>
      <p:sp>
        <p:nvSpPr>
          <p:cNvPr id="6" name="Rounded Rectangle 5"/>
          <p:cNvSpPr/>
          <p:nvPr/>
        </p:nvSpPr>
        <p:spPr>
          <a:xfrm>
            <a:off x="548640"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8" name="TextBox 7"/>
          <p:cNvSpPr txBox="1"/>
          <p:nvPr/>
        </p:nvSpPr>
        <p:spPr>
          <a:xfrm>
            <a:off x="822959"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Loss is concentrated</a:t>
            </a:r>
          </a:p>
        </p:txBody>
      </p:sp>
      <p:sp>
        <p:nvSpPr>
          <p:cNvPr id="9" name="TextBox 8"/>
          <p:cNvSpPr txBox="1"/>
          <p:nvPr/>
        </p:nvSpPr>
        <p:spPr>
          <a:xfrm>
            <a:off x="822959"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Top 10% of windows carry 44.7% of revenue loss. High-risk windows carry 46.7%.</a:t>
            </a:r>
          </a:p>
        </p:txBody>
      </p:sp>
      <p:sp>
        <p:nvSpPr>
          <p:cNvPr id="10" name="Rounded Rectangle 9"/>
          <p:cNvSpPr/>
          <p:nvPr/>
        </p:nvSpPr>
        <p:spPr>
          <a:xfrm>
            <a:off x="4297679"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12" name="TextBox 11"/>
          <p:cNvSpPr txBox="1"/>
          <p:nvPr/>
        </p:nvSpPr>
        <p:spPr>
          <a:xfrm>
            <a:off x="4571999"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It tracks controllable levers</a:t>
            </a:r>
          </a:p>
        </p:txBody>
      </p:sp>
      <p:sp>
        <p:nvSpPr>
          <p:cNvPr id="13" name="TextBox 12"/>
          <p:cNvSpPr txBox="1"/>
          <p:nvPr/>
        </p:nvSpPr>
        <p:spPr>
          <a:xfrm>
            <a:off x="4571999"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Strategy, spares, crew skill and PM discipline each split downtime about 2x to 3x, all statistically real.</a:t>
            </a:r>
          </a:p>
        </p:txBody>
      </p:sp>
      <p:sp>
        <p:nvSpPr>
          <p:cNvPr id="14" name="Rounded Rectangle 13"/>
          <p:cNvSpPr/>
          <p:nvPr/>
        </p:nvSpPr>
        <p:spPr>
          <a:xfrm>
            <a:off x="8046719" y="1737360"/>
            <a:ext cx="3520440" cy="33832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201168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16" name="TextBox 15"/>
          <p:cNvSpPr txBox="1"/>
          <p:nvPr/>
        </p:nvSpPr>
        <p:spPr>
          <a:xfrm>
            <a:off x="8321040" y="2788920"/>
            <a:ext cx="3017520" cy="822960"/>
          </a:xfrm>
          <a:prstGeom prst="rect">
            <a:avLst/>
          </a:prstGeom>
          <a:noFill/>
        </p:spPr>
        <p:txBody>
          <a:bodyPr wrap="square" lIns="0" rIns="0" tIns="0" bIns="0" anchor="t">
            <a:spAutoFit/>
          </a:bodyPr>
          <a:lstStyle/>
          <a:p>
            <a:pPr algn="l"/>
            <a:r>
              <a:rPr sz="2200" b="1" i="0">
                <a:solidFill>
                  <a:srgbClr val="1B1F2A"/>
                </a:solidFill>
                <a:latin typeface="Arial"/>
              </a:rPr>
              <a:t>The escalation flag misses it</a:t>
            </a:r>
          </a:p>
        </p:txBody>
      </p:sp>
      <p:sp>
        <p:nvSpPr>
          <p:cNvPr id="17" name="TextBox 16"/>
          <p:cNvSpPr txBox="1"/>
          <p:nvPr/>
        </p:nvSpPr>
        <p:spPr>
          <a:xfrm>
            <a:off x="8321040" y="3703320"/>
            <a:ext cx="3017520" cy="1828800"/>
          </a:xfrm>
          <a:prstGeom prst="rect">
            <a:avLst/>
          </a:prstGeom>
          <a:noFill/>
        </p:spPr>
        <p:txBody>
          <a:bodyPr wrap="square" lIns="0" rIns="0" tIns="0" bIns="0" anchor="t">
            <a:spAutoFit/>
          </a:bodyPr>
          <a:lstStyle/>
          <a:p>
            <a:pPr algn="l">
              <a:lnSpc>
                <a:spcPct val="110000"/>
              </a:lnSpc>
            </a:pPr>
            <a:r>
              <a:rPr sz="1600" b="0" i="0">
                <a:solidFill>
                  <a:srgbClr val="4A4F5C"/>
                </a:solidFill>
                <a:latin typeface="Arial"/>
              </a:rPr>
              <a:t>829 of 960 high-risk windows sit at P3/P4, carrying EGP 723M of exposure.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THE HEADLINE NUMBERS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EGP 1.88B lost to 54,938 hours of downtime</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3 / 15</a:t>
            </a:r>
          </a:p>
        </p:txBody>
      </p:sp>
      <p:sp>
        <p:nvSpPr>
          <p:cNvPr id="6" name="Rounded Rectangle 5"/>
          <p:cNvSpPr/>
          <p:nvPr/>
        </p:nvSpPr>
        <p:spPr>
          <a:xfrm>
            <a:off x="54864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1.88B</a:t>
            </a:r>
          </a:p>
        </p:txBody>
      </p:sp>
      <p:sp>
        <p:nvSpPr>
          <p:cNvPr id="8" name="TextBox 7"/>
          <p:cNvSpPr txBox="1"/>
          <p:nvPr/>
        </p:nvSpPr>
        <p:spPr>
          <a:xfrm>
            <a:off x="77724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EGP revenue loss, all windows</a:t>
            </a:r>
          </a:p>
        </p:txBody>
      </p:sp>
      <p:sp>
        <p:nvSpPr>
          <p:cNvPr id="9" name="Rounded Rectangle 8"/>
          <p:cNvSpPr/>
          <p:nvPr/>
        </p:nvSpPr>
        <p:spPr>
          <a:xfrm>
            <a:off x="338328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11.0 h</a:t>
            </a:r>
          </a:p>
        </p:txBody>
      </p:sp>
      <p:sp>
        <p:nvSpPr>
          <p:cNvPr id="11" name="TextBox 10"/>
          <p:cNvSpPr txBox="1"/>
          <p:nvPr/>
        </p:nvSpPr>
        <p:spPr>
          <a:xfrm>
            <a:off x="361188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mean unplanned downtime per window</a:t>
            </a:r>
          </a:p>
        </p:txBody>
      </p:sp>
      <p:sp>
        <p:nvSpPr>
          <p:cNvPr id="12" name="Rounded Rectangle 11"/>
          <p:cNvSpPr/>
          <p:nvPr/>
        </p:nvSpPr>
        <p:spPr>
          <a:xfrm>
            <a:off x="6217920" y="1691640"/>
            <a:ext cx="2606040" cy="21031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92808"/>
            <a:ext cx="2148840" cy="685800"/>
          </a:xfrm>
          <a:prstGeom prst="rect">
            <a:avLst/>
          </a:prstGeom>
          <a:noFill/>
        </p:spPr>
        <p:txBody>
          <a:bodyPr wrap="square" lIns="0" rIns="0" tIns="0" bIns="0" anchor="t">
            <a:spAutoFit/>
          </a:bodyPr>
          <a:lstStyle/>
          <a:p>
            <a:pPr algn="l"/>
            <a:r>
              <a:rPr sz="3800" b="1" i="0">
                <a:solidFill>
                  <a:srgbClr val="1B1F2A"/>
                </a:solidFill>
                <a:latin typeface="Arial"/>
              </a:rPr>
              <a:t>19.2%</a:t>
            </a:r>
          </a:p>
        </p:txBody>
      </p:sp>
      <p:sp>
        <p:nvSpPr>
          <p:cNvPr id="14" name="TextBox 13"/>
          <p:cNvSpPr txBox="1"/>
          <p:nvPr/>
        </p:nvSpPr>
        <p:spPr>
          <a:xfrm>
            <a:off x="6446520" y="2496058"/>
            <a:ext cx="2148840" cy="1042669"/>
          </a:xfrm>
          <a:prstGeom prst="rect">
            <a:avLst/>
          </a:prstGeom>
          <a:noFill/>
        </p:spPr>
        <p:txBody>
          <a:bodyPr wrap="square" lIns="0" rIns="0" tIns="0" bIns="0" anchor="t">
            <a:spAutoFit/>
          </a:bodyPr>
          <a:lstStyle/>
          <a:p>
            <a:pPr algn="l"/>
            <a:r>
              <a:rPr sz="1400" b="0" i="0">
                <a:solidFill>
                  <a:srgbClr val="4A4F5C"/>
                </a:solidFill>
                <a:latin typeface="Arial"/>
              </a:rPr>
              <a:t>of windows high-risk (failure probability ≥ 50%)</a:t>
            </a:r>
          </a:p>
        </p:txBody>
      </p:sp>
      <p:sp>
        <p:nvSpPr>
          <p:cNvPr id="15" name="Rounded Rectangle 14"/>
          <p:cNvSpPr/>
          <p:nvPr/>
        </p:nvSpPr>
        <p:spPr>
          <a:xfrm>
            <a:off x="9052560" y="1691640"/>
            <a:ext cx="2606040" cy="210312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892808"/>
            <a:ext cx="2148840" cy="685800"/>
          </a:xfrm>
          <a:prstGeom prst="rect">
            <a:avLst/>
          </a:prstGeom>
          <a:noFill/>
        </p:spPr>
        <p:txBody>
          <a:bodyPr wrap="square" lIns="0" rIns="0" tIns="0" bIns="0" anchor="t">
            <a:spAutoFit/>
          </a:bodyPr>
          <a:lstStyle/>
          <a:p>
            <a:pPr algn="l"/>
            <a:r>
              <a:rPr sz="3800" b="1" i="0">
                <a:solidFill>
                  <a:srgbClr val="E8762C"/>
                </a:solidFill>
                <a:latin typeface="Arial"/>
              </a:rPr>
              <a:t>46.7%</a:t>
            </a:r>
          </a:p>
        </p:txBody>
      </p:sp>
      <p:sp>
        <p:nvSpPr>
          <p:cNvPr id="17" name="TextBox 16"/>
          <p:cNvSpPr txBox="1"/>
          <p:nvPr/>
        </p:nvSpPr>
        <p:spPr>
          <a:xfrm>
            <a:off x="9281160" y="2496058"/>
            <a:ext cx="2148840" cy="1042669"/>
          </a:xfrm>
          <a:prstGeom prst="rect">
            <a:avLst/>
          </a:prstGeom>
          <a:noFill/>
        </p:spPr>
        <p:txBody>
          <a:bodyPr wrap="square" lIns="0" rIns="0" tIns="0" bIns="0" anchor="t">
            <a:spAutoFit/>
          </a:bodyPr>
          <a:lstStyle/>
          <a:p>
            <a:pPr algn="l"/>
            <a:r>
              <a:rPr sz="1400" b="0" i="0">
                <a:solidFill>
                  <a:srgbClr val="FFFFFF"/>
                </a:solidFill>
                <a:latin typeface="Arial"/>
              </a:rPr>
              <a:t>of revenue loss sits in those windows</a:t>
            </a:r>
          </a:p>
        </p:txBody>
      </p:sp>
      <p:graphicFrame>
        <p:nvGraphicFramePr>
          <p:cNvPr id="18" name="Chart 17"/>
          <p:cNvGraphicFramePr>
            <a:graphicFrameLocks noGrp="1"/>
          </p:cNvGraphicFramePr>
          <p:nvPr/>
        </p:nvGraphicFramePr>
        <p:xfrm>
          <a:off x="548640" y="4023360"/>
          <a:ext cx="5120640" cy="2377440"/>
        </p:xfrm>
        <a:graphic>
          <a:graphicData uri="http://schemas.openxmlformats.org/drawingml/2006/chart">
            <c:chart xmlns:c="http://schemas.openxmlformats.org/drawingml/2006/chart" r:id="rId3"/>
          </a:graphicData>
        </a:graphic>
      </p:graphicFrame>
      <p:sp>
        <p:nvSpPr>
          <p:cNvPr id="19" name="TextBox 18"/>
          <p:cNvSpPr txBox="1"/>
          <p:nvPr/>
        </p:nvSpPr>
        <p:spPr>
          <a:xfrm>
            <a:off x="6126479" y="4206240"/>
            <a:ext cx="5486400" cy="2194560"/>
          </a:xfrm>
          <a:prstGeom prst="rect">
            <a:avLst/>
          </a:prstGeom>
          <a:noFill/>
        </p:spPr>
        <p:txBody>
          <a:bodyPr wrap="square" lIns="0" rIns="0" tIns="0" bIns="0" anchor="t">
            <a:spAutoFit/>
          </a:bodyPr>
          <a:lstStyle/>
          <a:p>
            <a:pPr algn="l">
              <a:lnSpc>
                <a:spcPct val="115000"/>
              </a:lnSpc>
            </a:pPr>
            <a:r>
              <a:rPr sz="1800" b="1" i="0">
                <a:solidFill>
                  <a:srgbClr val="1B1F2A"/>
                </a:solidFill>
                <a:latin typeface="Arial"/>
              </a:rPr>
              <a:t>19% of windows, 47% of the loss. </a:t>
            </a:r>
            <a:r>
              <a:rPr sz="1800" b="0" i="0">
                <a:solidFill>
                  <a:srgbClr val="1B1F2A"/>
                </a:solidFill>
                <a:latin typeface="Arial"/>
              </a:rPr>
              <a:t>The high-risk slice is small enough to target and large enough to matter.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CONCENTRATION</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 tenth of the windows carry 45% of the loss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4 / 15</a:t>
            </a:r>
          </a:p>
        </p:txBody>
      </p:sp>
      <p:pic>
        <p:nvPicPr>
          <p:cNvPr id="6" name="Picture 5" descr="lorenz.png"/>
          <p:cNvPicPr>
            <a:picLocks noChangeAspect="1"/>
          </p:cNvPicPr>
          <p:nvPr/>
        </p:nvPicPr>
        <p:blipFill>
          <a:blip r:embed="rId3"/>
          <a:stretch>
            <a:fillRect/>
          </a:stretch>
        </p:blipFill>
        <p:spPr>
          <a:xfrm>
            <a:off x="548640" y="1641877"/>
            <a:ext cx="5852160" cy="4305764"/>
          </a:xfrm>
          <a:prstGeom prst="rect">
            <a:avLst/>
          </a:prstGeom>
        </p:spPr>
      </p:pic>
      <p:sp>
        <p:nvSpPr>
          <p:cNvPr id="7" name="Rounded Rectangle 6"/>
          <p:cNvSpPr/>
          <p:nvPr/>
        </p:nvSpPr>
        <p:spPr>
          <a:xfrm>
            <a:off x="6949440" y="155448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1755648"/>
            <a:ext cx="4206240" cy="685800"/>
          </a:xfrm>
          <a:prstGeom prst="rect">
            <a:avLst/>
          </a:prstGeom>
          <a:noFill/>
        </p:spPr>
        <p:txBody>
          <a:bodyPr wrap="square" lIns="0" rIns="0" tIns="0" bIns="0" anchor="t">
            <a:spAutoFit/>
          </a:bodyPr>
          <a:lstStyle/>
          <a:p>
            <a:pPr algn="l"/>
            <a:r>
              <a:rPr sz="3000" b="1" i="0">
                <a:solidFill>
                  <a:srgbClr val="1B1F2A"/>
                </a:solidFill>
                <a:latin typeface="Arial"/>
              </a:rPr>
              <a:t>44.7%</a:t>
            </a:r>
          </a:p>
        </p:txBody>
      </p:sp>
      <p:sp>
        <p:nvSpPr>
          <p:cNvPr id="9" name="TextBox 8"/>
          <p:cNvSpPr txBox="1"/>
          <p:nvPr/>
        </p:nvSpPr>
        <p:spPr>
          <a:xfrm>
            <a:off x="7178040" y="2231898"/>
            <a:ext cx="4206240" cy="392429"/>
          </a:xfrm>
          <a:prstGeom prst="rect">
            <a:avLst/>
          </a:prstGeom>
          <a:noFill/>
        </p:spPr>
        <p:txBody>
          <a:bodyPr wrap="square" lIns="0" rIns="0" tIns="0" bIns="0" anchor="t">
            <a:spAutoFit/>
          </a:bodyPr>
          <a:lstStyle/>
          <a:p>
            <a:pPr algn="l"/>
            <a:r>
              <a:rPr sz="1400" b="0" i="0">
                <a:solidFill>
                  <a:srgbClr val="4A4F5C"/>
                </a:solidFill>
                <a:latin typeface="Arial"/>
              </a:rPr>
              <a:t>of loss in the top 10% of windows</a:t>
            </a:r>
          </a:p>
        </p:txBody>
      </p:sp>
      <p:sp>
        <p:nvSpPr>
          <p:cNvPr id="10" name="Rounded Rectangle 9"/>
          <p:cNvSpPr/>
          <p:nvPr/>
        </p:nvSpPr>
        <p:spPr>
          <a:xfrm>
            <a:off x="6949440" y="306324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3264408"/>
            <a:ext cx="4206240" cy="685800"/>
          </a:xfrm>
          <a:prstGeom prst="rect">
            <a:avLst/>
          </a:prstGeom>
          <a:noFill/>
        </p:spPr>
        <p:txBody>
          <a:bodyPr wrap="square" lIns="0" rIns="0" tIns="0" bIns="0" anchor="t">
            <a:spAutoFit/>
          </a:bodyPr>
          <a:lstStyle/>
          <a:p>
            <a:pPr algn="l"/>
            <a:r>
              <a:rPr sz="3000" b="1" i="0">
                <a:solidFill>
                  <a:srgbClr val="1B1F2A"/>
                </a:solidFill>
                <a:latin typeface="Arial"/>
              </a:rPr>
              <a:t>64.8%</a:t>
            </a:r>
          </a:p>
        </p:txBody>
      </p:sp>
      <p:sp>
        <p:nvSpPr>
          <p:cNvPr id="12" name="TextBox 11"/>
          <p:cNvSpPr txBox="1"/>
          <p:nvPr/>
        </p:nvSpPr>
        <p:spPr>
          <a:xfrm>
            <a:off x="7178040" y="3740658"/>
            <a:ext cx="4206240" cy="392429"/>
          </a:xfrm>
          <a:prstGeom prst="rect">
            <a:avLst/>
          </a:prstGeom>
          <a:noFill/>
        </p:spPr>
        <p:txBody>
          <a:bodyPr wrap="square" lIns="0" rIns="0" tIns="0" bIns="0" anchor="t">
            <a:spAutoFit/>
          </a:bodyPr>
          <a:lstStyle/>
          <a:p>
            <a:pPr algn="l"/>
            <a:r>
              <a:rPr sz="1400" b="0" i="0">
                <a:solidFill>
                  <a:srgbClr val="4A4F5C"/>
                </a:solidFill>
                <a:latin typeface="Arial"/>
              </a:rPr>
              <a:t>in the top 20%</a:t>
            </a:r>
          </a:p>
        </p:txBody>
      </p:sp>
      <p:sp>
        <p:nvSpPr>
          <p:cNvPr id="13" name="Rounded Rectangle 12"/>
          <p:cNvSpPr/>
          <p:nvPr/>
        </p:nvSpPr>
        <p:spPr>
          <a:xfrm>
            <a:off x="6949440" y="4572000"/>
            <a:ext cx="466344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4773168"/>
            <a:ext cx="4206240" cy="685800"/>
          </a:xfrm>
          <a:prstGeom prst="rect">
            <a:avLst/>
          </a:prstGeom>
          <a:noFill/>
        </p:spPr>
        <p:txBody>
          <a:bodyPr wrap="square" lIns="0" rIns="0" tIns="0" bIns="0" anchor="t">
            <a:spAutoFit/>
          </a:bodyPr>
          <a:lstStyle/>
          <a:p>
            <a:pPr algn="l"/>
            <a:r>
              <a:rPr sz="3000" b="1" i="0">
                <a:solidFill>
                  <a:srgbClr val="1B1F2A"/>
                </a:solidFill>
                <a:latin typeface="Arial"/>
              </a:rPr>
              <a:t>0.63</a:t>
            </a:r>
          </a:p>
        </p:txBody>
      </p:sp>
      <p:sp>
        <p:nvSpPr>
          <p:cNvPr id="15" name="TextBox 14"/>
          <p:cNvSpPr txBox="1"/>
          <p:nvPr/>
        </p:nvSpPr>
        <p:spPr>
          <a:xfrm>
            <a:off x="7178040" y="5249417"/>
            <a:ext cx="4206240" cy="392429"/>
          </a:xfrm>
          <a:prstGeom prst="rect">
            <a:avLst/>
          </a:prstGeom>
          <a:noFill/>
        </p:spPr>
        <p:txBody>
          <a:bodyPr wrap="square" lIns="0" rIns="0" tIns="0" bIns="0" anchor="t">
            <a:spAutoFit/>
          </a:bodyPr>
          <a:lstStyle/>
          <a:p>
            <a:pPr algn="l"/>
            <a:r>
              <a:rPr sz="1400" b="0" i="0">
                <a:solidFill>
                  <a:srgbClr val="4A4F5C"/>
                </a:solidFill>
                <a:latin typeface="Arial"/>
              </a:rPr>
              <a:t>Gini coefficient of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1: STRATEGY</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Reactive maintenance runs 2.3x the downtime of predictive</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5 / 15</a:t>
            </a:r>
          </a:p>
        </p:txBody>
      </p:sp>
      <p:pic>
        <p:nvPicPr>
          <p:cNvPr id="6" name="Picture 5" descr="ci_strategy.png"/>
          <p:cNvPicPr>
            <a:picLocks noChangeAspect="1"/>
          </p:cNvPicPr>
          <p:nvPr/>
        </p:nvPicPr>
        <p:blipFill>
          <a:blip r:embed="rId3"/>
          <a:stretch>
            <a:fillRect/>
          </a:stretch>
        </p:blipFill>
        <p:spPr>
          <a:xfrm>
            <a:off x="548640" y="2234503"/>
            <a:ext cx="7132319" cy="3029072"/>
          </a:xfrm>
          <a:prstGeom prst="rect">
            <a:avLst/>
          </a:prstGeom>
        </p:spPr>
      </p:pic>
      <p:sp>
        <p:nvSpPr>
          <p:cNvPr id="7" name="Rounded Rectangle 6"/>
          <p:cNvSpPr/>
          <p:nvPr/>
        </p:nvSpPr>
        <p:spPr>
          <a:xfrm>
            <a:off x="8046719" y="1645920"/>
            <a:ext cx="356616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874519"/>
            <a:ext cx="3017520"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321040" y="2212848"/>
            <a:ext cx="3017520"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Reactive 19.0 h per window; planned strategies 8.4 to 9.5 h. 906 windows (18%) are still reactive.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2: SPARE PARTS</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Parts shortages run 2.9x the downtime of available stock</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6 / 15</a:t>
            </a:r>
          </a:p>
        </p:txBody>
      </p:sp>
      <p:pic>
        <p:nvPicPr>
          <p:cNvPr id="6" name="Picture 5" descr="ci_spares.png"/>
          <p:cNvPicPr>
            <a:picLocks noChangeAspect="1"/>
          </p:cNvPicPr>
          <p:nvPr/>
        </p:nvPicPr>
        <p:blipFill>
          <a:blip r:embed="rId3"/>
          <a:stretch>
            <a:fillRect/>
          </a:stretch>
        </p:blipFill>
        <p:spPr>
          <a:xfrm>
            <a:off x="548640" y="2326968"/>
            <a:ext cx="7132319" cy="2844143"/>
          </a:xfrm>
          <a:prstGeom prst="rect">
            <a:avLst/>
          </a:prstGeom>
        </p:spPr>
      </p:pic>
      <p:sp>
        <p:nvSpPr>
          <p:cNvPr id="7" name="Rounded Rectangle 6"/>
          <p:cNvSpPr/>
          <p:nvPr/>
        </p:nvSpPr>
        <p:spPr>
          <a:xfrm>
            <a:off x="8046719" y="164592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75319" y="2011680"/>
            <a:ext cx="457200" cy="4572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9" name="TextBox 8"/>
          <p:cNvSpPr txBox="1"/>
          <p:nvPr/>
        </p:nvSpPr>
        <p:spPr>
          <a:xfrm>
            <a:off x="8961119" y="1783080"/>
            <a:ext cx="2560320" cy="457200"/>
          </a:xfrm>
          <a:prstGeom prst="rect">
            <a:avLst/>
          </a:prstGeom>
          <a:noFill/>
        </p:spPr>
        <p:txBody>
          <a:bodyPr wrap="square" lIns="0" rIns="0" tIns="0" bIns="0" anchor="t">
            <a:spAutoFit/>
          </a:bodyPr>
          <a:lstStyle/>
          <a:p>
            <a:pPr algn="l"/>
            <a:r>
              <a:rPr sz="2600" b="1" i="0">
                <a:solidFill>
                  <a:srgbClr val="1B1F2A"/>
                </a:solidFill>
                <a:latin typeface="Arial"/>
              </a:rPr>
              <a:t>20.8 h</a:t>
            </a:r>
          </a:p>
        </p:txBody>
      </p:sp>
      <p:sp>
        <p:nvSpPr>
          <p:cNvPr id="10" name="TextBox 9"/>
          <p:cNvSpPr txBox="1"/>
          <p:nvPr/>
        </p:nvSpPr>
        <p:spPr>
          <a:xfrm>
            <a:off x="8961119" y="2286000"/>
            <a:ext cx="2560320" cy="457200"/>
          </a:xfrm>
          <a:prstGeom prst="rect">
            <a:avLst/>
          </a:prstGeom>
          <a:noFill/>
        </p:spPr>
        <p:txBody>
          <a:bodyPr wrap="square" lIns="0" rIns="0" tIns="0" bIns="0" anchor="t">
            <a:spAutoFit/>
          </a:bodyPr>
          <a:lstStyle/>
          <a:p>
            <a:pPr algn="l"/>
            <a:r>
              <a:rPr sz="1400" b="0" i="0">
                <a:solidFill>
                  <a:srgbClr val="4A4F5C"/>
                </a:solidFill>
                <a:latin typeface="Arial"/>
              </a:rPr>
              <a:t>Shortage · 426 windows</a:t>
            </a:r>
          </a:p>
        </p:txBody>
      </p:sp>
      <p:sp>
        <p:nvSpPr>
          <p:cNvPr id="11" name="Rounded Rectangle 10"/>
          <p:cNvSpPr/>
          <p:nvPr/>
        </p:nvSpPr>
        <p:spPr>
          <a:xfrm>
            <a:off x="8046719" y="310896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75319" y="3474720"/>
            <a:ext cx="457200" cy="457200"/>
          </a:xfrm>
          <a:prstGeom prst="ellipse">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13" name="TextBox 12"/>
          <p:cNvSpPr txBox="1"/>
          <p:nvPr/>
        </p:nvSpPr>
        <p:spPr>
          <a:xfrm>
            <a:off x="8961119" y="3246120"/>
            <a:ext cx="2560320" cy="457200"/>
          </a:xfrm>
          <a:prstGeom prst="rect">
            <a:avLst/>
          </a:prstGeom>
          <a:noFill/>
        </p:spPr>
        <p:txBody>
          <a:bodyPr wrap="square" lIns="0" rIns="0" tIns="0" bIns="0" anchor="t">
            <a:spAutoFit/>
          </a:bodyPr>
          <a:lstStyle/>
          <a:p>
            <a:pPr algn="l"/>
            <a:r>
              <a:rPr sz="2600" b="1" i="0">
                <a:solidFill>
                  <a:srgbClr val="1B1F2A"/>
                </a:solidFill>
                <a:latin typeface="Arial"/>
              </a:rPr>
              <a:t>13.2 h</a:t>
            </a:r>
          </a:p>
        </p:txBody>
      </p:sp>
      <p:sp>
        <p:nvSpPr>
          <p:cNvPr id="14" name="TextBox 13"/>
          <p:cNvSpPr txBox="1"/>
          <p:nvPr/>
        </p:nvSpPr>
        <p:spPr>
          <a:xfrm>
            <a:off x="8961119" y="3749039"/>
            <a:ext cx="2560320" cy="457200"/>
          </a:xfrm>
          <a:prstGeom prst="rect">
            <a:avLst/>
          </a:prstGeom>
          <a:noFill/>
        </p:spPr>
        <p:txBody>
          <a:bodyPr wrap="square" lIns="0" rIns="0" tIns="0" bIns="0" anchor="t">
            <a:spAutoFit/>
          </a:bodyPr>
          <a:lstStyle/>
          <a:p>
            <a:pPr algn="l"/>
            <a:r>
              <a:rPr sz="1400" b="0" i="0">
                <a:solidFill>
                  <a:srgbClr val="4A4F5C"/>
                </a:solidFill>
                <a:latin typeface="Arial"/>
              </a:rPr>
              <a:t>Limited · 2,196 windows</a:t>
            </a:r>
          </a:p>
        </p:txBody>
      </p:sp>
      <p:sp>
        <p:nvSpPr>
          <p:cNvPr id="15" name="Rounded Rectangle 14"/>
          <p:cNvSpPr/>
          <p:nvPr/>
        </p:nvSpPr>
        <p:spPr>
          <a:xfrm>
            <a:off x="8046719" y="4572000"/>
            <a:ext cx="3566160" cy="128016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75319" y="4937760"/>
            <a:ext cx="457200" cy="4572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
            </a:r>
          </a:p>
        </p:txBody>
      </p:sp>
      <p:sp>
        <p:nvSpPr>
          <p:cNvPr id="17" name="TextBox 16"/>
          <p:cNvSpPr txBox="1"/>
          <p:nvPr/>
        </p:nvSpPr>
        <p:spPr>
          <a:xfrm>
            <a:off x="8961119" y="4709160"/>
            <a:ext cx="2560320" cy="457200"/>
          </a:xfrm>
          <a:prstGeom prst="rect">
            <a:avLst/>
          </a:prstGeom>
          <a:noFill/>
        </p:spPr>
        <p:txBody>
          <a:bodyPr wrap="square" lIns="0" rIns="0" tIns="0" bIns="0" anchor="t">
            <a:spAutoFit/>
          </a:bodyPr>
          <a:lstStyle/>
          <a:p>
            <a:pPr algn="l"/>
            <a:r>
              <a:rPr sz="2600" b="1" i="0">
                <a:solidFill>
                  <a:srgbClr val="1B1F2A"/>
                </a:solidFill>
                <a:latin typeface="Arial"/>
              </a:rPr>
              <a:t>7.2 h</a:t>
            </a:r>
          </a:p>
        </p:txBody>
      </p:sp>
      <p:sp>
        <p:nvSpPr>
          <p:cNvPr id="18" name="TextBox 17"/>
          <p:cNvSpPr txBox="1"/>
          <p:nvPr/>
        </p:nvSpPr>
        <p:spPr>
          <a:xfrm>
            <a:off x="8961119" y="5212080"/>
            <a:ext cx="2560320" cy="457200"/>
          </a:xfrm>
          <a:prstGeom prst="rect">
            <a:avLst/>
          </a:prstGeom>
          <a:noFill/>
        </p:spPr>
        <p:txBody>
          <a:bodyPr wrap="square" lIns="0" rIns="0" tIns="0" bIns="0" anchor="t">
            <a:spAutoFit/>
          </a:bodyPr>
          <a:lstStyle/>
          <a:p>
            <a:pPr algn="l"/>
            <a:r>
              <a:rPr sz="1400" b="0" i="0">
                <a:solidFill>
                  <a:srgbClr val="4A4F5C"/>
                </a:solidFill>
                <a:latin typeface="Arial"/>
              </a:rPr>
              <a:t>Available · 2,378 windows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LEVERS 1 + 2 TOGETHER</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levers compound: worst combination 26 h, best 6 h</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7 / 15</a:t>
            </a:r>
          </a:p>
        </p:txBody>
      </p:sp>
      <p:pic>
        <p:nvPicPr>
          <p:cNvPr id="6" name="Picture 5" descr="heatmap.png"/>
          <p:cNvPicPr>
            <a:picLocks noChangeAspect="1"/>
          </p:cNvPicPr>
          <p:nvPr/>
        </p:nvPicPr>
        <p:blipFill>
          <a:blip r:embed="rId3"/>
          <a:stretch>
            <a:fillRect/>
          </a:stretch>
        </p:blipFill>
        <p:spPr>
          <a:xfrm>
            <a:off x="548640" y="2175265"/>
            <a:ext cx="7132319" cy="3238989"/>
          </a:xfrm>
          <a:prstGeom prst="rect">
            <a:avLst/>
          </a:prstGeom>
        </p:spPr>
      </p:pic>
      <p:sp>
        <p:nvSpPr>
          <p:cNvPr id="7" name="Rounded Rectangle 6"/>
          <p:cNvSpPr/>
          <p:nvPr/>
        </p:nvSpPr>
        <p:spPr>
          <a:xfrm>
            <a:off x="8046719" y="1645920"/>
            <a:ext cx="3566160"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874519"/>
            <a:ext cx="3017520"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321040" y="2212848"/>
            <a:ext cx="3017520"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A 4.5x spread between the worst and best cell. Even with parts available, reactive runs 11.4 h against 5.9 h for predictive.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3: CREW SKILL</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Basic crews run 1.8x the downtime of expert crews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8 / 15</a:t>
            </a:r>
          </a:p>
        </p:txBody>
      </p:sp>
      <p:graphicFrame>
        <p:nvGraphicFramePr>
          <p:cNvPr id="6" name="Chart 5"/>
          <p:cNvGraphicFramePr>
            <a:graphicFrameLocks noGrp="1"/>
          </p:cNvGraphicFramePr>
          <p:nvPr/>
        </p:nvGraphicFramePr>
        <p:xfrm>
          <a:off x="548640" y="1554480"/>
          <a:ext cx="6949440" cy="4389120"/>
        </p:xfrm>
        <a:graphic>
          <a:graphicData uri="http://schemas.openxmlformats.org/drawingml/2006/chart">
            <c:chart xmlns:c="http://schemas.openxmlformats.org/drawingml/2006/chart" r:id="rId3"/>
          </a:graphicData>
        </a:graphic>
      </p:graphicFrame>
      <p:sp>
        <p:nvSpPr>
          <p:cNvPr id="7" name="Rounded Rectangle 6"/>
          <p:cNvSpPr/>
          <p:nvPr/>
        </p:nvSpPr>
        <p:spPr>
          <a:xfrm>
            <a:off x="7863840" y="1645920"/>
            <a:ext cx="3749039" cy="42062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1874519"/>
            <a:ext cx="3200399" cy="274320"/>
          </a:xfrm>
          <a:prstGeom prst="rect">
            <a:avLst/>
          </a:prstGeom>
          <a:noFill/>
        </p:spPr>
        <p:txBody>
          <a:bodyPr wrap="square" lIns="0" rIns="0" tIns="0" bIns="0" anchor="t">
            <a:spAutoFit/>
          </a:bodyPr>
          <a:lstStyle/>
          <a:p>
            <a:pPr algn="l"/>
            <a:r>
              <a:rPr sz="1200" b="1" i="0">
                <a:solidFill>
                  <a:srgbClr val="E8762C"/>
                </a:solidFill>
                <a:latin typeface="Arial"/>
              </a:rPr>
              <a:t>SO WHAT</a:t>
            </a:r>
          </a:p>
        </p:txBody>
      </p:sp>
      <p:sp>
        <p:nvSpPr>
          <p:cNvPr id="9" name="TextBox 8"/>
          <p:cNvSpPr txBox="1"/>
          <p:nvPr/>
        </p:nvSpPr>
        <p:spPr>
          <a:xfrm>
            <a:off x="8138160" y="2212848"/>
            <a:ext cx="3200399" cy="3474720"/>
          </a:xfrm>
          <a:prstGeom prst="rect">
            <a:avLst/>
          </a:prstGeom>
          <a:noFill/>
        </p:spPr>
        <p:txBody>
          <a:bodyPr wrap="square" lIns="0" rIns="0" tIns="0" bIns="0" anchor="t">
            <a:spAutoFit/>
          </a:bodyPr>
          <a:lstStyle/>
          <a:p>
            <a:pPr algn="l">
              <a:lnSpc>
                <a:spcPct val="110000"/>
              </a:lnSpc>
            </a:pPr>
            <a:r>
              <a:rPr sz="1600" b="0" i="0">
                <a:solidFill>
                  <a:srgbClr val="1B1F2A"/>
                </a:solidFill>
                <a:latin typeface="Arial"/>
              </a:rPr>
              <a:t>2,509 windows (50%) are worked by basic or intermediate crews. Pair them with experts on high-risk assets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LEVER 4: PM DISCIPLINE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Downtime falls steadily as PM compliance rises: 23 h to 7 h</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9 / 15</a:t>
            </a:r>
          </a:p>
        </p:txBody>
      </p:sp>
      <p:graphicFrame>
        <p:nvGraphicFramePr>
          <p:cNvPr id="6" name="Chart 5"/>
          <p:cNvGraphicFramePr>
            <a:graphicFrameLocks noGrp="1"/>
          </p:cNvGraphicFramePr>
          <p:nvPr/>
        </p:nvGraphicFramePr>
        <p:xfrm>
          <a:off x="548640" y="1554480"/>
          <a:ext cx="11064240" cy="4480560"/>
        </p:xfrm>
        <a:graphic>
          <a:graphicData uri="http://schemas.openxmlformats.org/drawingml/2006/chart">
            <c:chart xmlns:c="http://schemas.openxmlformats.org/drawingml/2006/chart" r:id="rId3"/>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WHAT THE LEVERS COULD BE WORTH</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Upper bound: up to a quarter of downtime is in play</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10 / 15</a:t>
            </a:r>
          </a:p>
        </p:txBody>
      </p:sp>
      <p:sp>
        <p:nvSpPr>
          <p:cNvPr id="6" name="Rounded Rectangle 5"/>
          <p:cNvSpPr/>
          <p:nvPr/>
        </p:nvSpPr>
        <p:spPr>
          <a:xfrm>
            <a:off x="548640" y="1737360"/>
            <a:ext cx="5394960" cy="30175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572000" cy="365760"/>
          </a:xfrm>
          <a:prstGeom prst="rect">
            <a:avLst/>
          </a:prstGeom>
          <a:noFill/>
        </p:spPr>
        <p:txBody>
          <a:bodyPr wrap="square" lIns="0" rIns="0" tIns="0" bIns="0" anchor="t">
            <a:spAutoFit/>
          </a:bodyPr>
          <a:lstStyle/>
          <a:p>
            <a:pPr algn="l"/>
            <a:r>
              <a:rPr sz="1300" b="1" i="0">
                <a:solidFill>
                  <a:srgbClr val="E8762C"/>
                </a:solidFill>
                <a:latin typeface="Arial"/>
              </a:rPr>
              <a:t>STRATEGY</a:t>
            </a:r>
          </a:p>
        </p:txBody>
      </p:sp>
      <p:sp>
        <p:nvSpPr>
          <p:cNvPr id="8" name="TextBox 7"/>
          <p:cNvSpPr txBox="1"/>
          <p:nvPr/>
        </p:nvSpPr>
        <p:spPr>
          <a:xfrm>
            <a:off x="914400" y="2377440"/>
            <a:ext cx="4572000" cy="914400"/>
          </a:xfrm>
          <a:prstGeom prst="rect">
            <a:avLst/>
          </a:prstGeom>
          <a:noFill/>
        </p:spPr>
        <p:txBody>
          <a:bodyPr wrap="square" lIns="0" rIns="0" tIns="0" bIns="0" anchor="t">
            <a:spAutoFit/>
          </a:bodyPr>
          <a:lstStyle/>
          <a:p>
            <a:pPr algn="l"/>
            <a:r>
              <a:rPr sz="4800" b="1" i="0">
                <a:solidFill>
                  <a:srgbClr val="FFFFFF"/>
                </a:solidFill>
                <a:latin typeface="Arial"/>
              </a:rPr>
              <a:t>8,621 h</a:t>
            </a:r>
          </a:p>
        </p:txBody>
      </p:sp>
      <p:sp>
        <p:nvSpPr>
          <p:cNvPr id="9" name="TextBox 8"/>
          <p:cNvSpPr txBox="1"/>
          <p:nvPr/>
        </p:nvSpPr>
        <p:spPr>
          <a:xfrm>
            <a:off x="914400" y="3429000"/>
            <a:ext cx="4663440" cy="1097280"/>
          </a:xfrm>
          <a:prstGeom prst="rect">
            <a:avLst/>
          </a:prstGeom>
          <a:noFill/>
        </p:spPr>
        <p:txBody>
          <a:bodyPr wrap="square" lIns="0" rIns="0" tIns="0" bIns="0" anchor="t">
            <a:spAutoFit/>
          </a:bodyPr>
          <a:lstStyle/>
          <a:p>
            <a:pPr algn="l">
              <a:lnSpc>
                <a:spcPct val="110000"/>
              </a:lnSpc>
            </a:pPr>
            <a:r>
              <a:rPr sz="1600" b="0" i="0">
                <a:solidFill>
                  <a:srgbClr val="C9D6EA"/>
                </a:solidFill>
                <a:latin typeface="Arial"/>
              </a:rPr>
              <a:t>if reactive windows ran at the preventive average (16% of downtime)</a:t>
            </a:r>
          </a:p>
        </p:txBody>
      </p:sp>
      <p:sp>
        <p:nvSpPr>
          <p:cNvPr id="10" name="Rounded Rectangle 9"/>
          <p:cNvSpPr/>
          <p:nvPr/>
        </p:nvSpPr>
        <p:spPr>
          <a:xfrm>
            <a:off x="6172200" y="1737360"/>
            <a:ext cx="5394960" cy="30175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965960"/>
            <a:ext cx="4572000" cy="365760"/>
          </a:xfrm>
          <a:prstGeom prst="rect">
            <a:avLst/>
          </a:prstGeom>
          <a:noFill/>
        </p:spPr>
        <p:txBody>
          <a:bodyPr wrap="square" lIns="0" rIns="0" tIns="0" bIns="0" anchor="t">
            <a:spAutoFit/>
          </a:bodyPr>
          <a:lstStyle/>
          <a:p>
            <a:pPr algn="l"/>
            <a:r>
              <a:rPr sz="1300" b="1" i="0">
                <a:solidFill>
                  <a:srgbClr val="E8762C"/>
                </a:solidFill>
                <a:latin typeface="Arial"/>
              </a:rPr>
              <a:t>SPARES</a:t>
            </a:r>
          </a:p>
        </p:txBody>
      </p:sp>
      <p:sp>
        <p:nvSpPr>
          <p:cNvPr id="12" name="TextBox 11"/>
          <p:cNvSpPr txBox="1"/>
          <p:nvPr/>
        </p:nvSpPr>
        <p:spPr>
          <a:xfrm>
            <a:off x="6537960" y="2377440"/>
            <a:ext cx="4572000" cy="914400"/>
          </a:xfrm>
          <a:prstGeom prst="rect">
            <a:avLst/>
          </a:prstGeom>
          <a:noFill/>
        </p:spPr>
        <p:txBody>
          <a:bodyPr wrap="square" lIns="0" rIns="0" tIns="0" bIns="0" anchor="t">
            <a:spAutoFit/>
          </a:bodyPr>
          <a:lstStyle/>
          <a:p>
            <a:pPr algn="l"/>
            <a:r>
              <a:rPr sz="4800" b="1" i="0">
                <a:solidFill>
                  <a:srgbClr val="FFFFFF"/>
                </a:solidFill>
                <a:latin typeface="Arial"/>
              </a:rPr>
              <a:t>5,800 h</a:t>
            </a:r>
          </a:p>
        </p:txBody>
      </p:sp>
      <p:sp>
        <p:nvSpPr>
          <p:cNvPr id="13" name="TextBox 12"/>
          <p:cNvSpPr txBox="1"/>
          <p:nvPr/>
        </p:nvSpPr>
        <p:spPr>
          <a:xfrm>
            <a:off x="6537960" y="3429000"/>
            <a:ext cx="4663440" cy="1097280"/>
          </a:xfrm>
          <a:prstGeom prst="rect">
            <a:avLst/>
          </a:prstGeom>
          <a:noFill/>
        </p:spPr>
        <p:txBody>
          <a:bodyPr wrap="square" lIns="0" rIns="0" tIns="0" bIns="0" anchor="t">
            <a:spAutoFit/>
          </a:bodyPr>
          <a:lstStyle/>
          <a:p>
            <a:pPr algn="l">
              <a:lnSpc>
                <a:spcPct val="110000"/>
              </a:lnSpc>
            </a:pPr>
            <a:r>
              <a:rPr sz="1600" b="0" i="0">
                <a:solidFill>
                  <a:srgbClr val="C9D6EA"/>
                </a:solidFill>
                <a:latin typeface="Arial"/>
              </a:rPr>
              <a:t>if shortage windows ran at the available-stock average (11%)</a:t>
            </a:r>
          </a:p>
        </p:txBody>
      </p:sp>
      <p:sp>
        <p:nvSpPr>
          <p:cNvPr id="14" name="TextBox 13"/>
          <p:cNvSpPr txBox="1"/>
          <p:nvPr/>
        </p:nvSpPr>
        <p:spPr>
          <a:xfrm>
            <a:off x="548640" y="5074920"/>
            <a:ext cx="11064240" cy="822960"/>
          </a:xfrm>
          <a:prstGeom prst="rect">
            <a:avLst/>
          </a:prstGeom>
          <a:noFill/>
        </p:spPr>
        <p:txBody>
          <a:bodyPr wrap="square" lIns="0" rIns="0" tIns="0" bIns="0" anchor="t">
            <a:spAutoFit/>
          </a:bodyPr>
          <a:lstStyle/>
          <a:p>
            <a:pPr algn="l"/>
            <a:r>
              <a:rPr sz="1500" b="1" i="0">
                <a:solidFill>
                  <a:srgbClr val="E8762C"/>
                </a:solidFill>
                <a:latin typeface="Arial"/>
              </a:rPr>
              <a:t>ESTIMATED, NOT MEASURED. </a:t>
            </a:r>
            <a:r>
              <a:rPr sz="1500" b="0" i="0">
                <a:solidFill>
                  <a:srgbClr val="4A4F5C"/>
                </a:solidFill>
                <a:latin typeface="Arial"/>
              </a:rPr>
              <a:t>Treat these as the ceiling a pilot would test, not as a forecast. The two overlap where reactive windows also lack parts.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D · THE ESCALATION GAP</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The escalation flag misses 829 of 960 high-risk windows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11 / 15</a:t>
            </a:r>
          </a:p>
        </p:txBody>
      </p:sp>
      <p:sp>
        <p:nvSpPr>
          <p:cNvPr id="6" name="TextBox 5"/>
          <p:cNvSpPr txBox="1"/>
          <p:nvPr/>
        </p:nvSpPr>
        <p:spPr>
          <a:xfrm>
            <a:off x="548640" y="1554480"/>
            <a:ext cx="6766560" cy="365760"/>
          </a:xfrm>
          <a:prstGeom prst="rect">
            <a:avLst/>
          </a:prstGeom>
          <a:noFill/>
        </p:spPr>
        <p:txBody>
          <a:bodyPr wrap="square" lIns="0" rIns="0" tIns="0" bIns="0" anchor="t">
            <a:spAutoFit/>
          </a:bodyPr>
          <a:lstStyle/>
          <a:p>
            <a:pPr algn="l"/>
            <a:r>
              <a:rPr sz="1600" b="1" i="0">
                <a:solidFill>
                  <a:srgbClr val="1B1F2A"/>
                </a:solidFill>
                <a:latin typeface="Arial"/>
              </a:rPr>
              <a:t>Flag received by the 500 largest-loss windows</a:t>
            </a:r>
          </a:p>
        </p:txBody>
      </p:sp>
      <p:graphicFrame>
        <p:nvGraphicFramePr>
          <p:cNvPr id="7" name="Chart 6"/>
          <p:cNvGraphicFramePr>
            <a:graphicFrameLocks noGrp="1"/>
          </p:cNvGraphicFramePr>
          <p:nvPr/>
        </p:nvGraphicFramePr>
        <p:xfrm>
          <a:off x="548640" y="1920240"/>
          <a:ext cx="6766560" cy="4023360"/>
        </p:xfrm>
        <a:graphic>
          <a:graphicData uri="http://schemas.openxmlformats.org/drawingml/2006/chart">
            <c:chart xmlns:c="http://schemas.openxmlformats.org/drawingml/2006/chart" r:id="rId3"/>
          </a:graphicData>
        </a:graphic>
      </p:graphicFrame>
      <p:sp>
        <p:nvSpPr>
          <p:cNvPr id="8" name="Rounded Rectangle 7"/>
          <p:cNvSpPr/>
          <p:nvPr/>
        </p:nvSpPr>
        <p:spPr>
          <a:xfrm>
            <a:off x="7680960" y="1645920"/>
            <a:ext cx="3931920" cy="2011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847088"/>
            <a:ext cx="3474720" cy="685800"/>
          </a:xfrm>
          <a:prstGeom prst="rect">
            <a:avLst/>
          </a:prstGeom>
          <a:noFill/>
        </p:spPr>
        <p:txBody>
          <a:bodyPr wrap="square" lIns="0" rIns="0" tIns="0" bIns="0" anchor="t">
            <a:spAutoFit/>
          </a:bodyPr>
          <a:lstStyle/>
          <a:p>
            <a:pPr algn="l"/>
            <a:r>
              <a:rPr sz="4400" b="1" i="0">
                <a:solidFill>
                  <a:srgbClr val="E8762C"/>
                </a:solidFill>
                <a:latin typeface="Arial"/>
              </a:rPr>
              <a:t>829</a:t>
            </a:r>
          </a:p>
        </p:txBody>
      </p:sp>
      <p:sp>
        <p:nvSpPr>
          <p:cNvPr id="10" name="TextBox 9"/>
          <p:cNvSpPr txBox="1"/>
          <p:nvPr/>
        </p:nvSpPr>
        <p:spPr>
          <a:xfrm>
            <a:off x="7909560" y="2545588"/>
            <a:ext cx="3474720" cy="855980"/>
          </a:xfrm>
          <a:prstGeom prst="rect">
            <a:avLst/>
          </a:prstGeom>
          <a:noFill/>
        </p:spPr>
        <p:txBody>
          <a:bodyPr wrap="square" lIns="0" rIns="0" tIns="0" bIns="0" anchor="t">
            <a:spAutoFit/>
          </a:bodyPr>
          <a:lstStyle/>
          <a:p>
            <a:pPr algn="l"/>
            <a:r>
              <a:rPr sz="1400" b="0" i="0">
                <a:solidFill>
                  <a:srgbClr val="FFFFFF"/>
                </a:solidFill>
                <a:latin typeface="Arial"/>
              </a:rPr>
              <a:t>high-risk windows flagged only P3 or P4</a:t>
            </a:r>
          </a:p>
        </p:txBody>
      </p:sp>
      <p:sp>
        <p:nvSpPr>
          <p:cNvPr id="11" name="Rounded Rectangle 10"/>
          <p:cNvSpPr/>
          <p:nvPr/>
        </p:nvSpPr>
        <p:spPr>
          <a:xfrm>
            <a:off x="7680960" y="3886200"/>
            <a:ext cx="3931920" cy="20116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4087368"/>
            <a:ext cx="3474720" cy="685800"/>
          </a:xfrm>
          <a:prstGeom prst="rect">
            <a:avLst/>
          </a:prstGeom>
          <a:noFill/>
        </p:spPr>
        <p:txBody>
          <a:bodyPr wrap="square" lIns="0" rIns="0" tIns="0" bIns="0" anchor="t">
            <a:spAutoFit/>
          </a:bodyPr>
          <a:lstStyle/>
          <a:p>
            <a:pPr algn="l"/>
            <a:r>
              <a:rPr sz="3600" b="1" i="0">
                <a:solidFill>
                  <a:srgbClr val="1B1F2A"/>
                </a:solidFill>
                <a:latin typeface="Arial"/>
              </a:rPr>
              <a:t>EGP 723M</a:t>
            </a:r>
          </a:p>
        </p:txBody>
      </p:sp>
      <p:sp>
        <p:nvSpPr>
          <p:cNvPr id="13" name="TextBox 12"/>
          <p:cNvSpPr txBox="1"/>
          <p:nvPr/>
        </p:nvSpPr>
        <p:spPr>
          <a:xfrm>
            <a:off x="7909560" y="4658868"/>
            <a:ext cx="3474720" cy="982980"/>
          </a:xfrm>
          <a:prstGeom prst="rect">
            <a:avLst/>
          </a:prstGeom>
          <a:noFill/>
        </p:spPr>
        <p:txBody>
          <a:bodyPr wrap="square" lIns="0" rIns="0" tIns="0" bIns="0" anchor="t">
            <a:spAutoFit/>
          </a:bodyPr>
          <a:lstStyle/>
          <a:p>
            <a:pPr algn="l"/>
            <a:r>
              <a:rPr sz="1400" b="0" i="0">
                <a:solidFill>
                  <a:srgbClr val="4A4F5C"/>
                </a:solidFill>
                <a:latin typeface="Arial"/>
              </a:rPr>
              <a:t>financial exposure sitting in that gap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D · THE PROPOSED RULE</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Add a second trigger: FP ≥ 50% on High or Critical assets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12 / 15</a:t>
            </a:r>
          </a:p>
        </p:txBody>
      </p:sp>
      <p:pic>
        <p:nvPicPr>
          <p:cNvPr id="6" name="Picture 5" descr="gap_by_site.png"/>
          <p:cNvPicPr>
            <a:picLocks noChangeAspect="1"/>
          </p:cNvPicPr>
          <p:nvPr/>
        </p:nvPicPr>
        <p:blipFill>
          <a:blip r:embed="rId3"/>
          <a:stretch>
            <a:fillRect/>
          </a:stretch>
        </p:blipFill>
        <p:spPr>
          <a:xfrm>
            <a:off x="548640" y="2561383"/>
            <a:ext cx="6583680" cy="2466753"/>
          </a:xfrm>
          <a:prstGeom prst="rect">
            <a:avLst/>
          </a:prstGeom>
        </p:spPr>
      </p:pic>
      <p:sp>
        <p:nvSpPr>
          <p:cNvPr id="7" name="Rounded Rectangle 6"/>
          <p:cNvSpPr/>
          <p:nvPr/>
        </p:nvSpPr>
        <p:spPr>
          <a:xfrm>
            <a:off x="7498079" y="155448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755648"/>
            <a:ext cx="3657600" cy="685800"/>
          </a:xfrm>
          <a:prstGeom prst="rect">
            <a:avLst/>
          </a:prstGeom>
          <a:noFill/>
        </p:spPr>
        <p:txBody>
          <a:bodyPr wrap="square" lIns="0" rIns="0" tIns="0" bIns="0" anchor="t">
            <a:spAutoFit/>
          </a:bodyPr>
          <a:lstStyle/>
          <a:p>
            <a:pPr algn="l"/>
            <a:r>
              <a:rPr sz="2800" b="1" i="0">
                <a:solidFill>
                  <a:srgbClr val="1B1F2A"/>
                </a:solidFill>
                <a:latin typeface="Arial"/>
              </a:rPr>
              <a:t>+433</a:t>
            </a:r>
          </a:p>
        </p:txBody>
      </p:sp>
      <p:sp>
        <p:nvSpPr>
          <p:cNvPr id="9" name="TextBox 8"/>
          <p:cNvSpPr txBox="1"/>
          <p:nvPr/>
        </p:nvSpPr>
        <p:spPr>
          <a:xfrm>
            <a:off x="7726679" y="2200148"/>
            <a:ext cx="3657600" cy="424179"/>
          </a:xfrm>
          <a:prstGeom prst="rect">
            <a:avLst/>
          </a:prstGeom>
          <a:noFill/>
        </p:spPr>
        <p:txBody>
          <a:bodyPr wrap="square" lIns="0" rIns="0" tIns="0" bIns="0" anchor="t">
            <a:spAutoFit/>
          </a:bodyPr>
          <a:lstStyle/>
          <a:p>
            <a:pPr algn="l"/>
            <a:r>
              <a:rPr sz="1400" b="0" i="0">
                <a:solidFill>
                  <a:srgbClr val="4A4F5C"/>
                </a:solidFill>
                <a:latin typeface="Arial"/>
              </a:rPr>
              <a:t>windows escalated by the rule</a:t>
            </a:r>
          </a:p>
        </p:txBody>
      </p:sp>
      <p:sp>
        <p:nvSpPr>
          <p:cNvPr id="10" name="Rounded Rectangle 9"/>
          <p:cNvSpPr/>
          <p:nvPr/>
        </p:nvSpPr>
        <p:spPr>
          <a:xfrm>
            <a:off x="7498079" y="306324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3264408"/>
            <a:ext cx="3657600" cy="685800"/>
          </a:xfrm>
          <a:prstGeom prst="rect">
            <a:avLst/>
          </a:prstGeom>
          <a:noFill/>
        </p:spPr>
        <p:txBody>
          <a:bodyPr wrap="square" lIns="0" rIns="0" tIns="0" bIns="0" anchor="t">
            <a:spAutoFit/>
          </a:bodyPr>
          <a:lstStyle/>
          <a:p>
            <a:pPr algn="l"/>
            <a:r>
              <a:rPr sz="2800" b="1" i="0">
                <a:solidFill>
                  <a:srgbClr val="1B1F2A"/>
                </a:solidFill>
                <a:latin typeface="Arial"/>
              </a:rPr>
              <a:t>EGP 434M</a:t>
            </a:r>
          </a:p>
        </p:txBody>
      </p:sp>
      <p:sp>
        <p:nvSpPr>
          <p:cNvPr id="12" name="TextBox 11"/>
          <p:cNvSpPr txBox="1"/>
          <p:nvPr/>
        </p:nvSpPr>
        <p:spPr>
          <a:xfrm>
            <a:off x="7726679" y="3708908"/>
            <a:ext cx="3657600" cy="424179"/>
          </a:xfrm>
          <a:prstGeom prst="rect">
            <a:avLst/>
          </a:prstGeom>
          <a:noFill/>
        </p:spPr>
        <p:txBody>
          <a:bodyPr wrap="square" lIns="0" rIns="0" tIns="0" bIns="0" anchor="t">
            <a:spAutoFit/>
          </a:bodyPr>
          <a:lstStyle/>
          <a:p>
            <a:pPr algn="l"/>
            <a:r>
              <a:rPr sz="1400" b="0" i="0">
                <a:solidFill>
                  <a:srgbClr val="4A4F5C"/>
                </a:solidFill>
                <a:latin typeface="Arial"/>
              </a:rPr>
              <a:t>exposure covered (60% of the gap)</a:t>
            </a:r>
          </a:p>
        </p:txBody>
      </p:sp>
      <p:sp>
        <p:nvSpPr>
          <p:cNvPr id="13" name="Rounded Rectangle 12"/>
          <p:cNvSpPr/>
          <p:nvPr/>
        </p:nvSpPr>
        <p:spPr>
          <a:xfrm>
            <a:off x="7498079" y="4572000"/>
            <a:ext cx="4114800" cy="13258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4773168"/>
            <a:ext cx="3657600" cy="685800"/>
          </a:xfrm>
          <a:prstGeom prst="rect">
            <a:avLst/>
          </a:prstGeom>
          <a:noFill/>
        </p:spPr>
        <p:txBody>
          <a:bodyPr wrap="square" lIns="0" rIns="0" tIns="0" bIns="0" anchor="t">
            <a:spAutoFit/>
          </a:bodyPr>
          <a:lstStyle/>
          <a:p>
            <a:pPr algn="l"/>
            <a:r>
              <a:rPr sz="2800" b="1" i="0">
                <a:solidFill>
                  <a:srgbClr val="1B1F2A"/>
                </a:solidFill>
                <a:latin typeface="Arial"/>
              </a:rPr>
              <a:t>134 → 567</a:t>
            </a:r>
          </a:p>
        </p:txBody>
      </p:sp>
      <p:sp>
        <p:nvSpPr>
          <p:cNvPr id="15" name="TextBox 14"/>
          <p:cNvSpPr txBox="1"/>
          <p:nvPr/>
        </p:nvSpPr>
        <p:spPr>
          <a:xfrm>
            <a:off x="7726679" y="5217667"/>
            <a:ext cx="3657600" cy="424179"/>
          </a:xfrm>
          <a:prstGeom prst="rect">
            <a:avLst/>
          </a:prstGeom>
          <a:noFill/>
        </p:spPr>
        <p:txBody>
          <a:bodyPr wrap="square" lIns="0" rIns="0" tIns="0" bIns="0" anchor="t">
            <a:spAutoFit/>
          </a:bodyPr>
          <a:lstStyle/>
          <a:p>
            <a:pPr algn="l"/>
            <a:r>
              <a:rPr sz="1400" b="0" i="0">
                <a:solidFill>
                  <a:srgbClr val="4A4F5C"/>
                </a:solidFill>
                <a:latin typeface="Arial"/>
              </a:rPr>
              <a:t>escalated windows: check capacity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CONTEXT</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What does not matter, and should not get budget on its own</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13 / 15</a:t>
            </a:r>
          </a:p>
        </p:txBody>
      </p:sp>
      <p:sp>
        <p:nvSpPr>
          <p:cNvPr id="6" name="Rounded Rectangle 5"/>
          <p:cNvSpPr/>
          <p:nvPr/>
        </p:nvSpPr>
        <p:spPr>
          <a:xfrm>
            <a:off x="548640"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Site</a:t>
            </a:r>
          </a:p>
        </p:txBody>
      </p:sp>
      <p:sp>
        <p:nvSpPr>
          <p:cNvPr id="8" name="TextBox 7"/>
          <p:cNvSpPr txBox="1"/>
          <p:nvPr/>
        </p:nvSpPr>
        <p:spPr>
          <a:xfrm>
            <a:off x="777240"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Real but small: explains 1.3% of loss variance. Heavy-industry sites lose about 1.5x per window, largely through the same levers.</a:t>
            </a:r>
          </a:p>
        </p:txBody>
      </p:sp>
      <p:sp>
        <p:nvSpPr>
          <p:cNvPr id="9" name="TextBox 8"/>
          <p:cNvSpPr txBox="1"/>
          <p:nvPr/>
        </p:nvSpPr>
        <p:spPr>
          <a:xfrm>
            <a:off x="777240"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Do not run a site-vs-site campaign</a:t>
            </a:r>
          </a:p>
        </p:txBody>
      </p:sp>
      <p:sp>
        <p:nvSpPr>
          <p:cNvPr id="10" name="Rounded Rectangle 9"/>
          <p:cNvSpPr/>
          <p:nvPr/>
        </p:nvSpPr>
        <p:spPr>
          <a:xfrm>
            <a:off x="3355848"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Manufacturer (OEM)</a:t>
            </a:r>
          </a:p>
        </p:txBody>
      </p:sp>
      <p:sp>
        <p:nvSpPr>
          <p:cNvPr id="12" name="TextBox 11"/>
          <p:cNvSpPr txBox="1"/>
          <p:nvPr/>
        </p:nvSpPr>
        <p:spPr>
          <a:xfrm>
            <a:off x="3584448"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No difference on downtime, loss or failure probability (p ≥ 0.57).</a:t>
            </a:r>
          </a:p>
        </p:txBody>
      </p:sp>
      <p:sp>
        <p:nvSpPr>
          <p:cNvPr id="13" name="TextBox 12"/>
          <p:cNvSpPr txBox="1"/>
          <p:nvPr/>
        </p:nvSpPr>
        <p:spPr>
          <a:xfrm>
            <a:off x="3584448"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No OEM switch on this evidence</a:t>
            </a:r>
          </a:p>
        </p:txBody>
      </p:sp>
      <p:sp>
        <p:nvSpPr>
          <p:cNvPr id="14" name="Rounded Rectangle 13"/>
          <p:cNvSpPr/>
          <p:nvPr/>
        </p:nvSpPr>
        <p:spPr>
          <a:xfrm>
            <a:off x="6163055"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5"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Operating shift</a:t>
            </a:r>
          </a:p>
        </p:txBody>
      </p:sp>
      <p:sp>
        <p:nvSpPr>
          <p:cNvPr id="16" name="TextBox 15"/>
          <p:cNvSpPr txBox="1"/>
          <p:nvPr/>
        </p:nvSpPr>
        <p:spPr>
          <a:xfrm>
            <a:off x="6391655"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No difference on any measure (downtime p = 0.49).</a:t>
            </a:r>
          </a:p>
        </p:txBody>
      </p:sp>
      <p:sp>
        <p:nvSpPr>
          <p:cNvPr id="17" name="TextBox 16"/>
          <p:cNvSpPr txBox="1"/>
          <p:nvPr/>
        </p:nvSpPr>
        <p:spPr>
          <a:xfrm>
            <a:off x="6391655"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No shift restructuring</a:t>
            </a:r>
          </a:p>
        </p:txBody>
      </p:sp>
      <p:sp>
        <p:nvSpPr>
          <p:cNvPr id="18" name="Rounded Rectangle 17"/>
          <p:cNvSpPr/>
          <p:nvPr/>
        </p:nvSpPr>
        <p:spPr>
          <a:xfrm>
            <a:off x="8970263" y="1645920"/>
            <a:ext cx="2606040" cy="43891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98863" y="1874520"/>
            <a:ext cx="2194560" cy="731520"/>
          </a:xfrm>
          <a:prstGeom prst="rect">
            <a:avLst/>
          </a:prstGeom>
          <a:noFill/>
        </p:spPr>
        <p:txBody>
          <a:bodyPr wrap="square" lIns="0" rIns="0" tIns="0" bIns="0" anchor="t">
            <a:spAutoFit/>
          </a:bodyPr>
          <a:lstStyle/>
          <a:p>
            <a:pPr algn="l"/>
            <a:r>
              <a:rPr sz="1900" b="1" i="0">
                <a:solidFill>
                  <a:srgbClr val="1B1F2A"/>
                </a:solidFill>
                <a:latin typeface="Arial"/>
              </a:rPr>
              <a:t>Calendar month</a:t>
            </a:r>
          </a:p>
        </p:txBody>
      </p:sp>
      <p:sp>
        <p:nvSpPr>
          <p:cNvPr id="20" name="TextBox 19"/>
          <p:cNvSpPr txBox="1"/>
          <p:nvPr/>
        </p:nvSpPr>
        <p:spPr>
          <a:xfrm>
            <a:off x="9198863" y="2697480"/>
            <a:ext cx="2194560" cy="2103120"/>
          </a:xfrm>
          <a:prstGeom prst="rect">
            <a:avLst/>
          </a:prstGeom>
          <a:noFill/>
        </p:spPr>
        <p:txBody>
          <a:bodyPr wrap="square" lIns="0" rIns="0" tIns="0" bIns="0" anchor="t">
            <a:spAutoFit/>
          </a:bodyPr>
          <a:lstStyle/>
          <a:p>
            <a:pPr algn="l">
              <a:lnSpc>
                <a:spcPct val="110000"/>
              </a:lnSpc>
            </a:pPr>
            <a:r>
              <a:rPr sz="1400" b="0" i="0">
                <a:solidFill>
                  <a:srgbClr val="4A4F5C"/>
                </a:solidFill>
                <a:latin typeface="Arial"/>
              </a:rPr>
              <a:t>Flat year, no momentum between months.</a:t>
            </a:r>
          </a:p>
        </p:txBody>
      </p:sp>
      <p:sp>
        <p:nvSpPr>
          <p:cNvPr id="21" name="TextBox 20"/>
          <p:cNvSpPr txBox="1"/>
          <p:nvPr/>
        </p:nvSpPr>
        <p:spPr>
          <a:xfrm>
            <a:off x="9198863" y="4983480"/>
            <a:ext cx="2194560" cy="914400"/>
          </a:xfrm>
          <a:prstGeom prst="rect">
            <a:avLst/>
          </a:prstGeom>
          <a:noFill/>
        </p:spPr>
        <p:txBody>
          <a:bodyPr wrap="square" lIns="0" rIns="0" tIns="0" bIns="0" anchor="t">
            <a:spAutoFit/>
          </a:bodyPr>
          <a:lstStyle/>
          <a:p>
            <a:pPr algn="l">
              <a:lnSpc>
                <a:spcPct val="105000"/>
              </a:lnSpc>
            </a:pPr>
            <a:r>
              <a:rPr sz="1400" b="1" i="0">
                <a:solidFill>
                  <a:srgbClr val="E8762C"/>
                </a:solidFill>
                <a:latin typeface="Arial"/>
              </a:rPr>
              <a:t>Plan by condition, not calendar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E8762C"/>
                </a:solidFill>
                <a:latin typeface="Arial"/>
              </a:rPr>
              <a:t>WHAT TO DO</a:t>
            </a:r>
          </a:p>
        </p:txBody>
      </p:sp>
      <p:sp>
        <p:nvSpPr>
          <p:cNvPr id="3" name="TextBox 2"/>
          <p:cNvSpPr txBox="1"/>
          <p:nvPr/>
        </p:nvSpPr>
        <p:spPr>
          <a:xfrm>
            <a:off x="548640" y="521208"/>
            <a:ext cx="11094415" cy="868680"/>
          </a:xfrm>
          <a:prstGeom prst="rect">
            <a:avLst/>
          </a:prstGeom>
          <a:noFill/>
        </p:spPr>
        <p:txBody>
          <a:bodyPr wrap="square" lIns="0" rIns="0" tIns="0" bIns="0" anchor="t">
            <a:spAutoFit/>
          </a:bodyPr>
          <a:lstStyle/>
          <a:p>
            <a:pPr algn="l"/>
            <a:r>
              <a:rPr sz="3000" b="1" i="0">
                <a:solidFill>
                  <a:srgbClr val="1B1F2A"/>
                </a:solidFill>
                <a:latin typeface="Arial"/>
              </a:rPr>
              <a:t>Seven recommendations</a:t>
            </a:r>
          </a:p>
        </p:txBody>
      </p:sp>
      <p:sp>
        <p:nvSpPr>
          <p:cNvPr id="4" name="TextBox 3"/>
          <p:cNvSpPr txBox="1"/>
          <p:nvPr/>
        </p:nvSpPr>
        <p:spPr>
          <a:xfrm>
            <a:off x="548640" y="6473952"/>
            <a:ext cx="8229600" cy="228600"/>
          </a:xfrm>
          <a:prstGeom prst="rect">
            <a:avLst/>
          </a:prstGeom>
          <a:noFill/>
        </p:spPr>
        <p:txBody>
          <a:bodyPr wrap="square" lIns="0" rIns="0" tIns="0" bIns="0" anchor="t">
            <a:spAutoFit/>
          </a:bodyPr>
          <a:lstStyle/>
          <a:p>
            <a:pPr algn="l"/>
            <a:r>
              <a:rPr sz="1000" b="0" i="0">
                <a:solidFill>
                  <a:srgbClr val="6B707C"/>
                </a:solidFill>
                <a:latin typeface="Arial"/>
              </a:rPr>
              <a:t>Source: Group_9230_Team1_PMARIS_Enterprise_Dataset.csv, 5,000 observation windows</a:t>
            </a:r>
          </a:p>
        </p:txBody>
      </p:sp>
      <p:sp>
        <p:nvSpPr>
          <p:cNvPr id="5" name="TextBox 4"/>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6B707C"/>
                </a:solidFill>
                <a:latin typeface="Arial"/>
              </a:rPr>
              <a:t>14 / 15</a:t>
            </a:r>
          </a:p>
        </p:txBody>
      </p:sp>
      <p:sp>
        <p:nvSpPr>
          <p:cNvPr id="6" name="Oval 5"/>
          <p:cNvSpPr/>
          <p:nvPr/>
        </p:nvSpPr>
        <p:spPr>
          <a:xfrm>
            <a:off x="548640" y="1645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1</a:t>
            </a:r>
          </a:p>
        </p:txBody>
      </p:sp>
      <p:sp>
        <p:nvSpPr>
          <p:cNvPr id="7" name="TextBox 6"/>
          <p:cNvSpPr txBox="1"/>
          <p:nvPr/>
        </p:nvSpPr>
        <p:spPr>
          <a:xfrm>
            <a:off x="1280160" y="1572768"/>
            <a:ext cx="4754880" cy="457200"/>
          </a:xfrm>
          <a:prstGeom prst="rect">
            <a:avLst/>
          </a:prstGeom>
          <a:noFill/>
        </p:spPr>
        <p:txBody>
          <a:bodyPr wrap="square" lIns="0" rIns="0" tIns="0" bIns="0" anchor="t">
            <a:spAutoFit/>
          </a:bodyPr>
          <a:lstStyle/>
          <a:p>
            <a:pPr algn="l"/>
            <a:r>
              <a:rPr sz="1700" b="1" i="0">
                <a:solidFill>
                  <a:srgbClr val="1B1F2A"/>
                </a:solidFill>
                <a:latin typeface="Arial"/>
              </a:rPr>
              <a:t>Leave reactive maintenance</a:t>
            </a:r>
          </a:p>
        </p:txBody>
      </p:sp>
      <p:sp>
        <p:nvSpPr>
          <p:cNvPr id="8" name="TextBox 7"/>
          <p:cNvSpPr txBox="1"/>
          <p:nvPr/>
        </p:nvSpPr>
        <p:spPr>
          <a:xfrm>
            <a:off x="1280160" y="2029968"/>
            <a:ext cx="4754880" cy="365760"/>
          </a:xfrm>
          <a:prstGeom prst="rect">
            <a:avLst/>
          </a:prstGeom>
          <a:noFill/>
        </p:spPr>
        <p:txBody>
          <a:bodyPr wrap="square" lIns="0" rIns="0" tIns="0" bIns="0" anchor="t">
            <a:spAutoFit/>
          </a:bodyPr>
          <a:lstStyle/>
          <a:p>
            <a:pPr algn="l"/>
            <a:r>
              <a:rPr sz="1400" b="0" i="0">
                <a:solidFill>
                  <a:srgbClr val="4A4F5C"/>
                </a:solidFill>
                <a:latin typeface="Arial"/>
              </a:rPr>
              <a:t>critical and high-criticality assets first</a:t>
            </a:r>
          </a:p>
        </p:txBody>
      </p:sp>
      <p:sp>
        <p:nvSpPr>
          <p:cNvPr id="9" name="Oval 8"/>
          <p:cNvSpPr/>
          <p:nvPr/>
        </p:nvSpPr>
        <p:spPr>
          <a:xfrm>
            <a:off x="6172200" y="1645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a:t>
            </a:r>
          </a:p>
        </p:txBody>
      </p:sp>
      <p:sp>
        <p:nvSpPr>
          <p:cNvPr id="10" name="TextBox 9"/>
          <p:cNvSpPr txBox="1"/>
          <p:nvPr/>
        </p:nvSpPr>
        <p:spPr>
          <a:xfrm>
            <a:off x="6903720" y="1572768"/>
            <a:ext cx="4754880" cy="457200"/>
          </a:xfrm>
          <a:prstGeom prst="rect">
            <a:avLst/>
          </a:prstGeom>
          <a:noFill/>
        </p:spPr>
        <p:txBody>
          <a:bodyPr wrap="square" lIns="0" rIns="0" tIns="0" bIns="0" anchor="t">
            <a:spAutoFit/>
          </a:bodyPr>
          <a:lstStyle/>
          <a:p>
            <a:pPr algn="l"/>
            <a:r>
              <a:rPr sz="1700" b="1" i="0">
                <a:solidFill>
                  <a:srgbClr val="1B1F2A"/>
                </a:solidFill>
                <a:latin typeface="Arial"/>
              </a:rPr>
              <a:t>Fund spare-parts availability</a:t>
            </a:r>
          </a:p>
        </p:txBody>
      </p:sp>
      <p:sp>
        <p:nvSpPr>
          <p:cNvPr id="11" name="TextBox 10"/>
          <p:cNvSpPr txBox="1"/>
          <p:nvPr/>
        </p:nvSpPr>
        <p:spPr>
          <a:xfrm>
            <a:off x="6903720" y="2029968"/>
            <a:ext cx="4754880" cy="365760"/>
          </a:xfrm>
          <a:prstGeom prst="rect">
            <a:avLst/>
          </a:prstGeom>
          <a:noFill/>
        </p:spPr>
        <p:txBody>
          <a:bodyPr wrap="square" lIns="0" rIns="0" tIns="0" bIns="0" anchor="t">
            <a:spAutoFit/>
          </a:bodyPr>
          <a:lstStyle/>
          <a:p>
            <a:pPr algn="l"/>
            <a:r>
              <a:rPr sz="1400" b="0" i="0">
                <a:solidFill>
                  <a:srgbClr val="4A4F5C"/>
                </a:solidFill>
                <a:latin typeface="Arial"/>
              </a:rPr>
              <a:t>for the classes that hit shortage</a:t>
            </a:r>
          </a:p>
        </p:txBody>
      </p:sp>
      <p:sp>
        <p:nvSpPr>
          <p:cNvPr id="12" name="Oval 11"/>
          <p:cNvSpPr/>
          <p:nvPr/>
        </p:nvSpPr>
        <p:spPr>
          <a:xfrm>
            <a:off x="548640" y="2788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3</a:t>
            </a:r>
          </a:p>
        </p:txBody>
      </p:sp>
      <p:sp>
        <p:nvSpPr>
          <p:cNvPr id="13" name="TextBox 12"/>
          <p:cNvSpPr txBox="1"/>
          <p:nvPr/>
        </p:nvSpPr>
        <p:spPr>
          <a:xfrm>
            <a:off x="1280160" y="2715768"/>
            <a:ext cx="4754880" cy="457200"/>
          </a:xfrm>
          <a:prstGeom prst="rect">
            <a:avLst/>
          </a:prstGeom>
          <a:noFill/>
        </p:spPr>
        <p:txBody>
          <a:bodyPr wrap="square" lIns="0" rIns="0" tIns="0" bIns="0" anchor="t">
            <a:spAutoFit/>
          </a:bodyPr>
          <a:lstStyle/>
          <a:p>
            <a:pPr algn="l"/>
            <a:r>
              <a:rPr sz="1700" b="1" i="0">
                <a:solidFill>
                  <a:srgbClr val="1B1F2A"/>
                </a:solidFill>
                <a:latin typeface="Arial"/>
              </a:rPr>
              <a:t>PM at 80%+, backlog under 14 days</a:t>
            </a:r>
          </a:p>
        </p:txBody>
      </p:sp>
      <p:sp>
        <p:nvSpPr>
          <p:cNvPr id="14" name="TextBox 13"/>
          <p:cNvSpPr txBox="1"/>
          <p:nvPr/>
        </p:nvSpPr>
        <p:spPr>
          <a:xfrm>
            <a:off x="1280160" y="3172968"/>
            <a:ext cx="4754880" cy="365760"/>
          </a:xfrm>
          <a:prstGeom prst="rect">
            <a:avLst/>
          </a:prstGeom>
          <a:noFill/>
        </p:spPr>
        <p:txBody>
          <a:bodyPr wrap="square" lIns="0" rIns="0" tIns="0" bIns="0" anchor="t">
            <a:spAutoFit/>
          </a:bodyPr>
          <a:lstStyle/>
          <a:p>
            <a:pPr algn="l"/>
            <a:r>
              <a:rPr sz="1400" b="0" i="0">
                <a:solidFill>
                  <a:srgbClr val="4A4F5C"/>
                </a:solidFill>
                <a:latin typeface="Arial"/>
              </a:rPr>
              <a:t>the operating targets</a:t>
            </a:r>
          </a:p>
        </p:txBody>
      </p:sp>
      <p:sp>
        <p:nvSpPr>
          <p:cNvPr id="15" name="Oval 14"/>
          <p:cNvSpPr/>
          <p:nvPr/>
        </p:nvSpPr>
        <p:spPr>
          <a:xfrm>
            <a:off x="6172200" y="2788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4</a:t>
            </a:r>
          </a:p>
        </p:txBody>
      </p:sp>
      <p:sp>
        <p:nvSpPr>
          <p:cNvPr id="16" name="TextBox 15"/>
          <p:cNvSpPr txBox="1"/>
          <p:nvPr/>
        </p:nvSpPr>
        <p:spPr>
          <a:xfrm>
            <a:off x="6903720" y="2715768"/>
            <a:ext cx="4754880" cy="457200"/>
          </a:xfrm>
          <a:prstGeom prst="rect">
            <a:avLst/>
          </a:prstGeom>
          <a:noFill/>
        </p:spPr>
        <p:txBody>
          <a:bodyPr wrap="square" lIns="0" rIns="0" tIns="0" bIns="0" anchor="t">
            <a:spAutoFit/>
          </a:bodyPr>
          <a:lstStyle/>
          <a:p>
            <a:pPr algn="l"/>
            <a:r>
              <a:rPr sz="1700" b="1" i="0">
                <a:solidFill>
                  <a:srgbClr val="1B1F2A"/>
                </a:solidFill>
                <a:latin typeface="Arial"/>
              </a:rPr>
              <a:t>Upskill basic and intermediate crews</a:t>
            </a:r>
          </a:p>
        </p:txBody>
      </p:sp>
      <p:sp>
        <p:nvSpPr>
          <p:cNvPr id="17" name="TextBox 16"/>
          <p:cNvSpPr txBox="1"/>
          <p:nvPr/>
        </p:nvSpPr>
        <p:spPr>
          <a:xfrm>
            <a:off x="6903720" y="3172968"/>
            <a:ext cx="4754880" cy="365760"/>
          </a:xfrm>
          <a:prstGeom prst="rect">
            <a:avLst/>
          </a:prstGeom>
          <a:noFill/>
        </p:spPr>
        <p:txBody>
          <a:bodyPr wrap="square" lIns="0" rIns="0" tIns="0" bIns="0" anchor="t">
            <a:spAutoFit/>
          </a:bodyPr>
          <a:lstStyle/>
          <a:p>
            <a:pPr algn="l"/>
            <a:r>
              <a:rPr sz="1400" b="0" i="0">
                <a:solidFill>
                  <a:srgbClr val="4A4F5C"/>
                </a:solidFill>
                <a:latin typeface="Arial"/>
              </a:rPr>
              <a:t>pair with experts on high-risk work</a:t>
            </a:r>
          </a:p>
        </p:txBody>
      </p:sp>
      <p:sp>
        <p:nvSpPr>
          <p:cNvPr id="18" name="Oval 17"/>
          <p:cNvSpPr/>
          <p:nvPr/>
        </p:nvSpPr>
        <p:spPr>
          <a:xfrm>
            <a:off x="548640" y="3931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5</a:t>
            </a:r>
          </a:p>
        </p:txBody>
      </p:sp>
      <p:sp>
        <p:nvSpPr>
          <p:cNvPr id="19" name="TextBox 18"/>
          <p:cNvSpPr txBox="1"/>
          <p:nvPr/>
        </p:nvSpPr>
        <p:spPr>
          <a:xfrm>
            <a:off x="1280160" y="3858768"/>
            <a:ext cx="4754880" cy="457200"/>
          </a:xfrm>
          <a:prstGeom prst="rect">
            <a:avLst/>
          </a:prstGeom>
          <a:noFill/>
        </p:spPr>
        <p:txBody>
          <a:bodyPr wrap="square" lIns="0" rIns="0" tIns="0" bIns="0" anchor="t">
            <a:spAutoFit/>
          </a:bodyPr>
          <a:lstStyle/>
          <a:p>
            <a:pPr algn="l"/>
            <a:r>
              <a:rPr sz="1700" b="1" i="0">
                <a:solidFill>
                  <a:srgbClr val="1B1F2A"/>
                </a:solidFill>
                <a:latin typeface="Arial"/>
              </a:rPr>
              <a:t>Add the second escalation trigger</a:t>
            </a:r>
          </a:p>
        </p:txBody>
      </p:sp>
      <p:sp>
        <p:nvSpPr>
          <p:cNvPr id="20" name="TextBox 19"/>
          <p:cNvSpPr txBox="1"/>
          <p:nvPr/>
        </p:nvSpPr>
        <p:spPr>
          <a:xfrm>
            <a:off x="1280160" y="4315968"/>
            <a:ext cx="4754880" cy="365760"/>
          </a:xfrm>
          <a:prstGeom prst="rect">
            <a:avLst/>
          </a:prstGeom>
          <a:noFill/>
        </p:spPr>
        <p:txBody>
          <a:bodyPr wrap="square" lIns="0" rIns="0" tIns="0" bIns="0" anchor="t">
            <a:spAutoFit/>
          </a:bodyPr>
          <a:lstStyle/>
          <a:p>
            <a:pPr algn="l"/>
            <a:r>
              <a:rPr sz="1400" b="0" i="0">
                <a:solidFill>
                  <a:srgbClr val="4A4F5C"/>
                </a:solidFill>
                <a:latin typeface="Arial"/>
              </a:rPr>
              <a:t>+433 windows, after a capacity check</a:t>
            </a:r>
          </a:p>
        </p:txBody>
      </p:sp>
      <p:sp>
        <p:nvSpPr>
          <p:cNvPr id="21" name="Oval 20"/>
          <p:cNvSpPr/>
          <p:nvPr/>
        </p:nvSpPr>
        <p:spPr>
          <a:xfrm>
            <a:off x="6172200" y="3931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6</a:t>
            </a:r>
          </a:p>
        </p:txBody>
      </p:sp>
      <p:sp>
        <p:nvSpPr>
          <p:cNvPr id="22" name="TextBox 21"/>
          <p:cNvSpPr txBox="1"/>
          <p:nvPr/>
        </p:nvSpPr>
        <p:spPr>
          <a:xfrm>
            <a:off x="6903720" y="3858768"/>
            <a:ext cx="4754880" cy="457200"/>
          </a:xfrm>
          <a:prstGeom prst="rect">
            <a:avLst/>
          </a:prstGeom>
          <a:noFill/>
        </p:spPr>
        <p:txBody>
          <a:bodyPr wrap="square" lIns="0" rIns="0" tIns="0" bIns="0" anchor="t">
            <a:spAutoFit/>
          </a:bodyPr>
          <a:lstStyle/>
          <a:p>
            <a:pPr algn="l"/>
            <a:r>
              <a:rPr sz="1700" b="1" i="0">
                <a:solidFill>
                  <a:srgbClr val="1B1F2A"/>
                </a:solidFill>
                <a:latin typeface="Arial"/>
              </a:rPr>
              <a:t>Pilot before scaling</a:t>
            </a:r>
          </a:p>
        </p:txBody>
      </p:sp>
      <p:sp>
        <p:nvSpPr>
          <p:cNvPr id="23" name="TextBox 22"/>
          <p:cNvSpPr txBox="1"/>
          <p:nvPr/>
        </p:nvSpPr>
        <p:spPr>
          <a:xfrm>
            <a:off x="6903720" y="4315968"/>
            <a:ext cx="4754880" cy="365760"/>
          </a:xfrm>
          <a:prstGeom prst="rect">
            <a:avLst/>
          </a:prstGeom>
          <a:noFill/>
        </p:spPr>
        <p:txBody>
          <a:bodyPr wrap="square" lIns="0" rIns="0" tIns="0" bIns="0" anchor="t">
            <a:spAutoFit/>
          </a:bodyPr>
          <a:lstStyle/>
          <a:p>
            <a:pPr algn="l"/>
            <a:r>
              <a:rPr sz="1400" b="0" i="0">
                <a:solidFill>
                  <a:srgbClr val="4A4F5C"/>
                </a:solidFill>
                <a:latin typeface="Arial"/>
              </a:rPr>
              <a:t>one site converted, one matched site as control</a:t>
            </a:r>
          </a:p>
        </p:txBody>
      </p:sp>
      <p:sp>
        <p:nvSpPr>
          <p:cNvPr id="24" name="Oval 23"/>
          <p:cNvSpPr/>
          <p:nvPr/>
        </p:nvSpPr>
        <p:spPr>
          <a:xfrm>
            <a:off x="548640" y="5074920"/>
            <a:ext cx="548640" cy="54864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7</a:t>
            </a:r>
          </a:p>
        </p:txBody>
      </p:sp>
      <p:sp>
        <p:nvSpPr>
          <p:cNvPr id="25" name="TextBox 24"/>
          <p:cNvSpPr txBox="1"/>
          <p:nvPr/>
        </p:nvSpPr>
        <p:spPr>
          <a:xfrm>
            <a:off x="1280160" y="5001768"/>
            <a:ext cx="4754880" cy="457200"/>
          </a:xfrm>
          <a:prstGeom prst="rect">
            <a:avLst/>
          </a:prstGeom>
          <a:noFill/>
        </p:spPr>
        <p:txBody>
          <a:bodyPr wrap="square" lIns="0" rIns="0" tIns="0" bIns="0" anchor="t">
            <a:spAutoFit/>
          </a:bodyPr>
          <a:lstStyle/>
          <a:p>
            <a:pPr algn="l"/>
            <a:r>
              <a:rPr sz="1700" b="1" i="0">
                <a:solidFill>
                  <a:srgbClr val="1B1F2A"/>
                </a:solidFill>
                <a:latin typeface="Arial"/>
              </a:rPr>
              <a:t>Fix the asset key in the next export</a:t>
            </a:r>
          </a:p>
        </p:txBody>
      </p:sp>
      <p:sp>
        <p:nvSpPr>
          <p:cNvPr id="26" name="TextBox 25"/>
          <p:cNvSpPr txBox="1"/>
          <p:nvPr/>
        </p:nvSpPr>
        <p:spPr>
          <a:xfrm>
            <a:off x="1280160" y="5458968"/>
            <a:ext cx="4754880" cy="365760"/>
          </a:xfrm>
          <a:prstGeom prst="rect">
            <a:avLst/>
          </a:prstGeom>
          <a:noFill/>
        </p:spPr>
        <p:txBody>
          <a:bodyPr wrap="square" lIns="0" rIns="0" tIns="0" bIns="0" anchor="t">
            <a:spAutoFit/>
          </a:bodyPr>
          <a:lstStyle/>
          <a:p>
            <a:pPr algn="l"/>
            <a:r>
              <a:rPr sz="1400" b="0" i="0">
                <a:solidFill>
                  <a:srgbClr val="4A4F5C"/>
                </a:solidFill>
                <a:latin typeface="Arial"/>
              </a:rPr>
              <a:t>unlocks per-asset history and replacement planning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502920"/>
            <a:ext cx="8229600" cy="320040"/>
          </a:xfrm>
          <a:prstGeom prst="rect">
            <a:avLst/>
          </a:prstGeom>
          <a:noFill/>
        </p:spPr>
        <p:txBody>
          <a:bodyPr wrap="square" lIns="0" rIns="0" tIns="0" bIns="0" anchor="t">
            <a:spAutoFit/>
          </a:bodyPr>
          <a:lstStyle/>
          <a:p>
            <a:pPr algn="l"/>
            <a:r>
              <a:rPr sz="1300" b="1" i="0">
                <a:solidFill>
                  <a:srgbClr val="E8762C"/>
                </a:solidFill>
                <a:latin typeface="Arial"/>
              </a:rPr>
              <a:t>DECISIONS NEEDED</a:t>
            </a:r>
          </a:p>
        </p:txBody>
      </p:sp>
      <p:sp>
        <p:nvSpPr>
          <p:cNvPr id="3" name="TextBox 2"/>
          <p:cNvSpPr txBox="1"/>
          <p:nvPr/>
        </p:nvSpPr>
        <p:spPr>
          <a:xfrm>
            <a:off x="548640" y="1097280"/>
            <a:ext cx="10972800" cy="914400"/>
          </a:xfrm>
          <a:prstGeom prst="rect">
            <a:avLst/>
          </a:prstGeom>
          <a:noFill/>
        </p:spPr>
        <p:txBody>
          <a:bodyPr wrap="square" lIns="0" rIns="0" tIns="0" bIns="0" anchor="t">
            <a:spAutoFit/>
          </a:bodyPr>
          <a:lstStyle/>
          <a:p>
            <a:pPr algn="l"/>
            <a:r>
              <a:rPr sz="4000" b="1" i="0">
                <a:solidFill>
                  <a:srgbClr val="FFFFFF"/>
                </a:solidFill>
                <a:latin typeface="Arial"/>
              </a:rPr>
              <a:t>Three decisions for this quarter</a:t>
            </a:r>
          </a:p>
        </p:txBody>
      </p:sp>
      <p:sp>
        <p:nvSpPr>
          <p:cNvPr id="4" name="Oval 3"/>
          <p:cNvSpPr/>
          <p:nvPr/>
        </p:nvSpPr>
        <p:spPr>
          <a:xfrm>
            <a:off x="548640" y="233172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5" name="TextBox 4"/>
          <p:cNvSpPr txBox="1"/>
          <p:nvPr/>
        </p:nvSpPr>
        <p:spPr>
          <a:xfrm>
            <a:off x="1463040" y="2313432"/>
            <a:ext cx="10058400" cy="457200"/>
          </a:xfrm>
          <a:prstGeom prst="rect">
            <a:avLst/>
          </a:prstGeom>
          <a:noFill/>
        </p:spPr>
        <p:txBody>
          <a:bodyPr wrap="square" lIns="0" rIns="0" tIns="0" bIns="0" anchor="t">
            <a:spAutoFit/>
          </a:bodyPr>
          <a:lstStyle/>
          <a:p>
            <a:pPr algn="l"/>
            <a:r>
              <a:rPr sz="2200" b="1" i="0">
                <a:solidFill>
                  <a:srgbClr val="FFFFFF"/>
                </a:solidFill>
                <a:latin typeface="Arial"/>
              </a:rPr>
              <a:t>Approve the reactive-to-planned pilot</a:t>
            </a:r>
          </a:p>
        </p:txBody>
      </p:sp>
      <p:sp>
        <p:nvSpPr>
          <p:cNvPr id="6" name="TextBox 5"/>
          <p:cNvSpPr txBox="1"/>
          <p:nvPr/>
        </p:nvSpPr>
        <p:spPr>
          <a:xfrm>
            <a:off x="1463040" y="2788920"/>
            <a:ext cx="10058400" cy="411480"/>
          </a:xfrm>
          <a:prstGeom prst="rect">
            <a:avLst/>
          </a:prstGeom>
          <a:noFill/>
        </p:spPr>
        <p:txBody>
          <a:bodyPr wrap="square" lIns="0" rIns="0" tIns="0" bIns="0" anchor="t">
            <a:spAutoFit/>
          </a:bodyPr>
          <a:lstStyle/>
          <a:p>
            <a:pPr algn="l"/>
            <a:r>
              <a:rPr sz="1500" b="0" i="0">
                <a:solidFill>
                  <a:srgbClr val="C9D6EA"/>
                </a:solidFill>
                <a:latin typeface="Arial"/>
              </a:rPr>
              <a:t>One site, one matched control, measured on the live dashboard</a:t>
            </a:r>
          </a:p>
        </p:txBody>
      </p:sp>
      <p:sp>
        <p:nvSpPr>
          <p:cNvPr id="7" name="Oval 6"/>
          <p:cNvSpPr/>
          <p:nvPr/>
        </p:nvSpPr>
        <p:spPr>
          <a:xfrm>
            <a:off x="548640" y="356616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8" name="TextBox 7"/>
          <p:cNvSpPr txBox="1"/>
          <p:nvPr/>
        </p:nvSpPr>
        <p:spPr>
          <a:xfrm>
            <a:off x="1463040" y="3547872"/>
            <a:ext cx="10058400" cy="457200"/>
          </a:xfrm>
          <a:prstGeom prst="rect">
            <a:avLst/>
          </a:prstGeom>
          <a:noFill/>
        </p:spPr>
        <p:txBody>
          <a:bodyPr wrap="square" lIns="0" rIns="0" tIns="0" bIns="0" anchor="t">
            <a:spAutoFit/>
          </a:bodyPr>
          <a:lstStyle/>
          <a:p>
            <a:pPr algn="l"/>
            <a:r>
              <a:rPr sz="2200" b="1" i="0">
                <a:solidFill>
                  <a:srgbClr val="FFFFFF"/>
                </a:solidFill>
                <a:latin typeface="Arial"/>
              </a:rPr>
              <a:t>Approve the second escalation trigger</a:t>
            </a:r>
          </a:p>
        </p:txBody>
      </p:sp>
      <p:sp>
        <p:nvSpPr>
          <p:cNvPr id="9" name="TextBox 8"/>
          <p:cNvSpPr txBox="1"/>
          <p:nvPr/>
        </p:nvSpPr>
        <p:spPr>
          <a:xfrm>
            <a:off x="1463040" y="4023360"/>
            <a:ext cx="10058400" cy="411480"/>
          </a:xfrm>
          <a:prstGeom prst="rect">
            <a:avLst/>
          </a:prstGeom>
          <a:noFill/>
        </p:spPr>
        <p:txBody>
          <a:bodyPr wrap="square" lIns="0" rIns="0" tIns="0" bIns="0" anchor="t">
            <a:spAutoFit/>
          </a:bodyPr>
          <a:lstStyle/>
          <a:p>
            <a:pPr algn="l"/>
            <a:r>
              <a:rPr sz="1500" b="0" i="0">
                <a:solidFill>
                  <a:srgbClr val="C9D6EA"/>
                </a:solidFill>
                <a:latin typeface="Arial"/>
              </a:rPr>
              <a:t>Subject to a capacity check for 567 escalated windows</a:t>
            </a:r>
          </a:p>
        </p:txBody>
      </p:sp>
      <p:sp>
        <p:nvSpPr>
          <p:cNvPr id="10" name="Oval 9"/>
          <p:cNvSpPr/>
          <p:nvPr/>
        </p:nvSpPr>
        <p:spPr>
          <a:xfrm>
            <a:off x="548640" y="4800600"/>
            <a:ext cx="640080" cy="640080"/>
          </a:xfrm>
          <a:prstGeom prst="ellipse">
            <a:avLst/>
          </a:prstGeom>
          <a:solidFill>
            <a:srgbClr val="E87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11" name="TextBox 10"/>
          <p:cNvSpPr txBox="1"/>
          <p:nvPr/>
        </p:nvSpPr>
        <p:spPr>
          <a:xfrm>
            <a:off x="1463040" y="4782312"/>
            <a:ext cx="10058400" cy="457200"/>
          </a:xfrm>
          <a:prstGeom prst="rect">
            <a:avLst/>
          </a:prstGeom>
          <a:noFill/>
        </p:spPr>
        <p:txBody>
          <a:bodyPr wrap="square" lIns="0" rIns="0" tIns="0" bIns="0" anchor="t">
            <a:spAutoFit/>
          </a:bodyPr>
          <a:lstStyle/>
          <a:p>
            <a:pPr algn="l"/>
            <a:r>
              <a:rPr sz="2200" b="1" i="0">
                <a:solidFill>
                  <a:srgbClr val="FFFFFF"/>
                </a:solidFill>
                <a:latin typeface="Arial"/>
              </a:rPr>
              <a:t>Request a fixed Asset_ID in the next export</a:t>
            </a:r>
          </a:p>
        </p:txBody>
      </p:sp>
      <p:sp>
        <p:nvSpPr>
          <p:cNvPr id="12" name="TextBox 11"/>
          <p:cNvSpPr txBox="1"/>
          <p:nvPr/>
        </p:nvSpPr>
        <p:spPr>
          <a:xfrm>
            <a:off x="1463040" y="5257800"/>
            <a:ext cx="10058400" cy="411480"/>
          </a:xfrm>
          <a:prstGeom prst="rect">
            <a:avLst/>
          </a:prstGeom>
          <a:noFill/>
        </p:spPr>
        <p:txBody>
          <a:bodyPr wrap="square" lIns="0" rIns="0" tIns="0" bIns="0" anchor="t">
            <a:spAutoFit/>
          </a:bodyPr>
          <a:lstStyle/>
          <a:p>
            <a:pPr algn="l"/>
            <a:r>
              <a:rPr sz="1500" b="0" i="0">
                <a:solidFill>
                  <a:srgbClr val="C9D6EA"/>
                </a:solidFill>
                <a:latin typeface="Arial"/>
              </a:rPr>
              <a:t>So the next review can plan replacement per asset</a:t>
            </a:r>
          </a:p>
        </p:txBody>
      </p:sp>
      <p:sp>
        <p:nvSpPr>
          <p:cNvPr id="13" name="TextBox 12"/>
          <p:cNvSpPr txBox="1"/>
          <p:nvPr/>
        </p:nvSpPr>
        <p:spPr>
          <a:xfrm>
            <a:off x="548640" y="6473952"/>
            <a:ext cx="10058400" cy="228600"/>
          </a:xfrm>
          <a:prstGeom prst="rect">
            <a:avLst/>
          </a:prstGeom>
          <a:noFill/>
        </p:spPr>
        <p:txBody>
          <a:bodyPr wrap="square" lIns="0" rIns="0" tIns="0" bIns="0" anchor="t">
            <a:spAutoFit/>
          </a:bodyPr>
          <a:lstStyle/>
          <a:p>
            <a:pPr algn="l"/>
            <a:r>
              <a:rPr sz="1000" b="0" i="0">
                <a:solidFill>
                  <a:srgbClr val="C9D6EA"/>
                </a:solidFill>
                <a:latin typeface="Arial"/>
              </a:rPr>
              <a:t>Analysis: 02_Analysis/analyze_pmaris.py · Dashboard: 03_Dashboard · Report: PMARIS_Reliability_Assessment.pdf</a:t>
            </a:r>
          </a:p>
        </p:txBody>
      </p:sp>
      <p:sp>
        <p:nvSpPr>
          <p:cNvPr id="14" name="TextBox 13"/>
          <p:cNvSpPr txBox="1"/>
          <p:nvPr/>
        </p:nvSpPr>
        <p:spPr>
          <a:xfrm>
            <a:off x="10271455" y="6473952"/>
            <a:ext cx="1371600" cy="228600"/>
          </a:xfrm>
          <a:prstGeom prst="rect">
            <a:avLst/>
          </a:prstGeom>
          <a:noFill/>
        </p:spPr>
        <p:txBody>
          <a:bodyPr wrap="square" lIns="0" rIns="0" tIns="0" bIns="0" anchor="t">
            <a:spAutoFit/>
          </a:bodyPr>
          <a:lstStyle/>
          <a:p>
            <a:pPr algn="r"/>
            <a:r>
              <a:rPr sz="1000" b="0" i="0">
                <a:solidFill>
                  <a:srgbClr val="C9D6EA"/>
                </a:solidFill>
                <a:latin typeface="Aria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PMARIS Asset Reliability: Executive Presentation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